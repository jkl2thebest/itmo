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theme/themeOverride4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theme/themeOverride5.xml" ContentType="application/vnd.openxmlformats-officedocument.themeOverride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theme/themeOverride6.xml" ContentType="application/vnd.openxmlformats-officedocument.themeOverride+xml"/>
  <Override PartName="/ppt/charts/chart7.xml" ContentType="application/vnd.openxmlformats-officedocument.drawingml.chart+xml"/>
  <Override PartName="/ppt/theme/themeOverride7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8.xml" ContentType="application/vnd.openxmlformats-officedocument.drawingml.chart+xml"/>
  <Override PartName="/ppt/theme/themeOverride8.xml" ContentType="application/vnd.openxmlformats-officedocument.themeOverride+xml"/>
  <Override PartName="/ppt/notesSlides/notesSlide11.xml" ContentType="application/vnd.openxmlformats-officedocument.presentationml.notesSlide+xml"/>
  <Override PartName="/ppt/charts/chart9.xml" ContentType="application/vnd.openxmlformats-officedocument.drawingml.chart+xml"/>
  <Override PartName="/ppt/theme/themeOverride9.xml" ContentType="application/vnd.openxmlformats-officedocument.themeOverr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0" r:id="rId1"/>
    <p:sldMasterId id="2147483895" r:id="rId2"/>
  </p:sldMasterIdLst>
  <p:notesMasterIdLst>
    <p:notesMasterId r:id="rId22"/>
  </p:notesMasterIdLst>
  <p:handoutMasterIdLst>
    <p:handoutMasterId r:id="rId23"/>
  </p:handoutMasterIdLst>
  <p:sldIdLst>
    <p:sldId id="265" r:id="rId3"/>
    <p:sldId id="381" r:id="rId4"/>
    <p:sldId id="382" r:id="rId5"/>
    <p:sldId id="383" r:id="rId6"/>
    <p:sldId id="384" r:id="rId7"/>
    <p:sldId id="413" r:id="rId8"/>
    <p:sldId id="415" r:id="rId9"/>
    <p:sldId id="420" r:id="rId10"/>
    <p:sldId id="416" r:id="rId11"/>
    <p:sldId id="421" r:id="rId12"/>
    <p:sldId id="417" r:id="rId13"/>
    <p:sldId id="432" r:id="rId14"/>
    <p:sldId id="434" r:id="rId15"/>
    <p:sldId id="433" r:id="rId16"/>
    <p:sldId id="435" r:id="rId17"/>
    <p:sldId id="436" r:id="rId18"/>
    <p:sldId id="438" r:id="rId19"/>
    <p:sldId id="422" r:id="rId20"/>
    <p:sldId id="412" r:id="rId2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595315-6059-63B0-9BE8-AAFD11894995}" name="Елена Иванченко" initials="ЕИ" userId="7f7d7db965285a96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Самолетов" initials="С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CCFFFF"/>
    <a:srgbClr val="CCECFF"/>
    <a:srgbClr val="BFFF00"/>
    <a:srgbClr val="FFFFCC"/>
    <a:srgbClr val="99FFCC"/>
    <a:srgbClr val="2DD4FB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0867" autoAdjust="0"/>
    <p:restoredTop sz="83193" autoAdjust="0"/>
  </p:normalViewPr>
  <p:slideViewPr>
    <p:cSldViewPr snapToGrid="0" snapToObjects="1" showGuides="1">
      <p:cViewPr varScale="1">
        <p:scale>
          <a:sx n="121" d="100"/>
          <a:sy n="121" d="100"/>
        </p:scale>
        <p:origin x="834" y="102"/>
      </p:cViewPr>
      <p:guideLst>
        <p:guide orient="horz" pos="1611"/>
        <p:guide pos="2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Relationship Id="rId77" Type="http://schemas.microsoft.com/office/2018/10/relationships/authors" Target="author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.xlsx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oleObject" Target="&#1050;&#1085;&#1080;&#1075;&#1072;1" TargetMode="External"/><Relationship Id="rId1" Type="http://schemas.openxmlformats.org/officeDocument/2006/relationships/themeOverride" Target="../theme/themeOverride2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oleObject" Target="&#1050;&#1085;&#1080;&#1075;&#1072;1" TargetMode="External"/><Relationship Id="rId1" Type="http://schemas.openxmlformats.org/officeDocument/2006/relationships/themeOverride" Target="../theme/themeOverride3.xm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themeOverride" Target="../theme/themeOverride4.xm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.xlsx"/><Relationship Id="rId1" Type="http://schemas.openxmlformats.org/officeDocument/2006/relationships/themeOverride" Target="../theme/themeOverride5.xml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oleObject" Target="&#1050;&#1085;&#1080;&#1075;&#1072;1" TargetMode="External"/><Relationship Id="rId1" Type="http://schemas.openxmlformats.org/officeDocument/2006/relationships/themeOverride" Target="../theme/themeOverride6.xml"/></Relationships>
</file>

<file path=ppt/charts/_rels/chart7.xml.rels><?xml version="1.0" encoding="UTF-8" standalone="yes"?>
<Relationships xmlns="http://schemas.openxmlformats.org/package/2006/relationships"><Relationship Id="rId2" Type="http://schemas.openxmlformats.org/officeDocument/2006/relationships/oleObject" Target="&#1050;&#1085;&#1080;&#1075;&#1072;1" TargetMode="External"/><Relationship Id="rId1" Type="http://schemas.openxmlformats.org/officeDocument/2006/relationships/themeOverride" Target="../theme/themeOverride7.xml"/></Relationships>
</file>

<file path=ppt/charts/_rels/chart8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.xlsx"/><Relationship Id="rId1" Type="http://schemas.openxmlformats.org/officeDocument/2006/relationships/themeOverride" Target="../theme/themeOverride8.xml"/></Relationships>
</file>

<file path=ppt/charts/_rels/chart9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4.xlsx"/><Relationship Id="rId1" Type="http://schemas.openxmlformats.org/officeDocument/2006/relationships/themeOverride" Target="../theme/themeOverrid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19"/>
    </mc:Choice>
    <mc:Fallback>
      <c:style val="19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Лист1!$C$3:$C$8</c:f>
              <c:strCache>
                <c:ptCount val="1"/>
                <c:pt idx="0">
                  <c:v>172 176 180 184 188 192</c:v>
                </c:pt>
              </c:strCache>
            </c:strRef>
          </c:tx>
          <c:invertIfNegative val="0"/>
          <c:cat>
            <c:numRef>
              <c:f>Лист1!$C$3:$C$8</c:f>
              <c:numCache>
                <c:formatCode>0</c:formatCode>
                <c:ptCount val="6"/>
                <c:pt idx="0">
                  <c:v>172</c:v>
                </c:pt>
                <c:pt idx="1">
                  <c:v>176</c:v>
                </c:pt>
                <c:pt idx="2">
                  <c:v>180</c:v>
                </c:pt>
                <c:pt idx="3">
                  <c:v>184</c:v>
                </c:pt>
                <c:pt idx="4">
                  <c:v>188</c:v>
                </c:pt>
                <c:pt idx="5">
                  <c:v>192</c:v>
                </c:pt>
              </c:numCache>
            </c:numRef>
          </c:cat>
          <c:val>
            <c:numRef>
              <c:f>Лист1!$G$3:$G$8</c:f>
              <c:numCache>
                <c:formatCode>0.00</c:formatCode>
                <c:ptCount val="6"/>
                <c:pt idx="0">
                  <c:v>0.12</c:v>
                </c:pt>
                <c:pt idx="1">
                  <c:v>0.34</c:v>
                </c:pt>
                <c:pt idx="2">
                  <c:v>0.74</c:v>
                </c:pt>
                <c:pt idx="3">
                  <c:v>0.9</c:v>
                </c:pt>
                <c:pt idx="4">
                  <c:v>0.98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7A-48D5-8384-6604BF6D03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0880768"/>
        <c:axId val="211345792"/>
      </c:barChart>
      <c:catAx>
        <c:axId val="210880768"/>
        <c:scaling>
          <c:orientation val="minMax"/>
        </c:scaling>
        <c:delete val="0"/>
        <c:axPos val="b"/>
        <c:majorGridlines/>
        <c:title>
          <c:tx>
            <c:rich>
              <a:bodyPr anchor="ctr" anchorCtr="0"/>
              <a:lstStyle/>
              <a:p>
                <a:pPr>
                  <a:defRPr/>
                </a:pPr>
                <a:r>
                  <a:rPr lang="en-US" sz="1400" b="0" i="1"/>
                  <a:t>x</a:t>
                </a:r>
                <a:endParaRPr lang="ru-RU" sz="1400" b="0" i="1"/>
              </a:p>
            </c:rich>
          </c:tx>
          <c:layout>
            <c:manualLayout>
              <c:xMode val="edge"/>
              <c:yMode val="edge"/>
              <c:x val="0.94969575678040241"/>
              <c:y val="0.79125000000000001"/>
            </c:manualLayout>
          </c:layout>
          <c:overlay val="0"/>
        </c:title>
        <c:numFmt formatCode="0" sourceLinked="1"/>
        <c:majorTickMark val="out"/>
        <c:minorTickMark val="none"/>
        <c:tickLblPos val="nextTo"/>
        <c:crossAx val="211345792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211345792"/>
        <c:scaling>
          <c:orientation val="minMax"/>
          <c:max val="1"/>
          <c:min val="0"/>
        </c:scaling>
        <c:delete val="0"/>
        <c:axPos val="l"/>
        <c:majorGridlines/>
        <c:title>
          <c:tx>
            <c:rich>
              <a:bodyPr rot="0" vert="horz" anchor="t" anchorCtr="0"/>
              <a:lstStyle/>
              <a:p>
                <a:pPr>
                  <a:defRPr sz="1400" b="0" i="1"/>
                </a:pPr>
                <a:r>
                  <a:rPr lang="en-US" sz="1400" b="0" i="1"/>
                  <a:t>F</a:t>
                </a:r>
                <a:endParaRPr lang="ru-RU" sz="1400" b="0" i="1"/>
              </a:p>
            </c:rich>
          </c:tx>
          <c:layout>
            <c:manualLayout>
              <c:xMode val="edge"/>
              <c:yMode val="edge"/>
              <c:x val="2.2222222222222223E-2"/>
              <c:y val="4.3307086614173115E-3"/>
            </c:manualLayout>
          </c:layout>
          <c:overlay val="0"/>
        </c:title>
        <c:numFmt formatCode="0.0" sourceLinked="0"/>
        <c:majorTickMark val="out"/>
        <c:minorTickMark val="none"/>
        <c:tickLblPos val="nextTo"/>
        <c:crossAx val="210880768"/>
        <c:crosses val="autoZero"/>
        <c:crossBetween val="between"/>
        <c:majorUnit val="0.1"/>
      </c:valAx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21"/>
    </mc:Choice>
    <mc:Fallback>
      <c:style val="21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Лист1!$C$3:$C$8</c:f>
              <c:strCache>
                <c:ptCount val="1"/>
                <c:pt idx="0">
                  <c:v>172 176 180 184 188 192</c:v>
                </c:pt>
              </c:strCache>
            </c:strRef>
          </c:tx>
          <c:invertIfNegative val="0"/>
          <c:cat>
            <c:numRef>
              <c:f>Лист1!$C$3:$C$8</c:f>
              <c:numCache>
                <c:formatCode>0</c:formatCode>
                <c:ptCount val="6"/>
                <c:pt idx="0">
                  <c:v>172</c:v>
                </c:pt>
                <c:pt idx="1">
                  <c:v>176</c:v>
                </c:pt>
                <c:pt idx="2">
                  <c:v>180</c:v>
                </c:pt>
                <c:pt idx="3">
                  <c:v>184</c:v>
                </c:pt>
                <c:pt idx="4">
                  <c:v>188</c:v>
                </c:pt>
                <c:pt idx="5">
                  <c:v>192</c:v>
                </c:pt>
              </c:numCache>
            </c:numRef>
          </c:cat>
          <c:val>
            <c:numRef>
              <c:f>Лист1!$I$3:$I$8</c:f>
              <c:numCache>
                <c:formatCode>0.00</c:formatCode>
                <c:ptCount val="6"/>
                <c:pt idx="0">
                  <c:v>0.03</c:v>
                </c:pt>
                <c:pt idx="1">
                  <c:v>0.05</c:v>
                </c:pt>
                <c:pt idx="2">
                  <c:v>0.1</c:v>
                </c:pt>
                <c:pt idx="3">
                  <c:v>0.04</c:v>
                </c:pt>
                <c:pt idx="4">
                  <c:v>0.02</c:v>
                </c:pt>
                <c:pt idx="5">
                  <c:v>5.0000000000000001E-3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95-4C0D-ADE6-EF90AC7193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1947520"/>
        <c:axId val="211949440"/>
      </c:barChart>
      <c:catAx>
        <c:axId val="211947520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400" b="0" i="1"/>
                </a:pPr>
                <a:r>
                  <a:rPr lang="en-US" sz="1400" b="0" i="1"/>
                  <a:t>x</a:t>
                </a:r>
                <a:endParaRPr lang="ru-RU" sz="1400" b="0" i="1"/>
              </a:p>
            </c:rich>
          </c:tx>
          <c:layout>
            <c:manualLayout>
              <c:xMode val="edge"/>
              <c:yMode val="edge"/>
              <c:x val="0.95095253718285211"/>
              <c:y val="0.79125000000000001"/>
            </c:manualLayout>
          </c:layout>
          <c:overlay val="0"/>
        </c:title>
        <c:numFmt formatCode="0" sourceLinked="1"/>
        <c:majorTickMark val="out"/>
        <c:minorTickMark val="none"/>
        <c:tickLblPos val="nextTo"/>
        <c:crossAx val="211949440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211949440"/>
        <c:scaling>
          <c:orientation val="minMax"/>
          <c:max val="0.12000000000000001"/>
          <c:min val="0"/>
        </c:scaling>
        <c:delete val="0"/>
        <c:axPos val="l"/>
        <c:majorGridlines/>
        <c:title>
          <c:tx>
            <c:rich>
              <a:bodyPr rot="0" vert="horz"/>
              <a:lstStyle/>
              <a:p>
                <a:pPr>
                  <a:defRPr sz="1400" b="0" i="1"/>
                </a:pPr>
                <a:r>
                  <a:rPr lang="en-US" sz="1400" b="0" i="1"/>
                  <a:t>f</a:t>
                </a:r>
                <a:endParaRPr lang="ru-RU" sz="1400" b="0" i="1"/>
              </a:p>
            </c:rich>
          </c:tx>
          <c:layout>
            <c:manualLayout>
              <c:xMode val="edge"/>
              <c:yMode val="edge"/>
              <c:x val="2.7777777777777776E-2"/>
              <c:y val="1.1008675998833492E-2"/>
            </c:manualLayout>
          </c:layout>
          <c:overlay val="0"/>
        </c:title>
        <c:numFmt formatCode="0.00" sourceLinked="1"/>
        <c:majorTickMark val="out"/>
        <c:minorTickMark val="none"/>
        <c:tickLblPos val="nextTo"/>
        <c:crossAx val="211947520"/>
        <c:crosses val="autoZero"/>
        <c:crossBetween val="between"/>
      </c:valAx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21"/>
    </mc:Choice>
    <mc:Fallback>
      <c:style val="21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Лист1!$C$3:$C$8</c:f>
              <c:strCache>
                <c:ptCount val="1"/>
                <c:pt idx="0">
                  <c:v>172 176 180 184 188 192</c:v>
                </c:pt>
              </c:strCache>
            </c:strRef>
          </c:tx>
          <c:xVal>
            <c:numRef>
              <c:f>Лист1!$C$3:$C$8</c:f>
              <c:numCache>
                <c:formatCode>0</c:formatCode>
                <c:ptCount val="6"/>
                <c:pt idx="0">
                  <c:v>172</c:v>
                </c:pt>
                <c:pt idx="1">
                  <c:v>176</c:v>
                </c:pt>
                <c:pt idx="2">
                  <c:v>180</c:v>
                </c:pt>
                <c:pt idx="3">
                  <c:v>184</c:v>
                </c:pt>
                <c:pt idx="4">
                  <c:v>188</c:v>
                </c:pt>
                <c:pt idx="5">
                  <c:v>192</c:v>
                </c:pt>
              </c:numCache>
            </c:numRef>
          </c:xVal>
          <c:yVal>
            <c:numRef>
              <c:f>Лист1!$I$3:$I$8</c:f>
              <c:numCache>
                <c:formatCode>0.00</c:formatCode>
                <c:ptCount val="6"/>
                <c:pt idx="0">
                  <c:v>0.03</c:v>
                </c:pt>
                <c:pt idx="1">
                  <c:v>0.05</c:v>
                </c:pt>
                <c:pt idx="2">
                  <c:v>0.1</c:v>
                </c:pt>
                <c:pt idx="3">
                  <c:v>0.04</c:v>
                </c:pt>
                <c:pt idx="4">
                  <c:v>0.02</c:v>
                </c:pt>
                <c:pt idx="5">
                  <c:v>5.0000000000000001E-3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9AC-452F-95EC-335940CB46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1977728"/>
        <c:axId val="211979648"/>
      </c:scatterChart>
      <c:valAx>
        <c:axId val="211977728"/>
        <c:scaling>
          <c:orientation val="minMax"/>
          <c:max val="194"/>
          <c:min val="17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400" b="0" i="1"/>
                </a:pPr>
                <a:r>
                  <a:rPr lang="en-US" sz="1400" b="0" i="1"/>
                  <a:t>x</a:t>
                </a:r>
                <a:endParaRPr lang="ru-RU" sz="1400" b="0" i="1"/>
              </a:p>
            </c:rich>
          </c:tx>
          <c:layout>
            <c:manualLayout>
              <c:xMode val="edge"/>
              <c:yMode val="edge"/>
              <c:x val="0.92496653543307106"/>
              <c:y val="0.86532407407407408"/>
            </c:manualLayout>
          </c:layout>
          <c:overlay val="0"/>
        </c:title>
        <c:numFmt formatCode="0" sourceLinked="1"/>
        <c:majorTickMark val="out"/>
        <c:minorTickMark val="none"/>
        <c:tickLblPos val="nextTo"/>
        <c:crossAx val="211979648"/>
        <c:crosses val="autoZero"/>
        <c:crossBetween val="midCat"/>
        <c:majorUnit val="2"/>
        <c:minorUnit val="1"/>
      </c:valAx>
      <c:valAx>
        <c:axId val="211979648"/>
        <c:scaling>
          <c:orientation val="minMax"/>
          <c:max val="0.12000000000000001"/>
          <c:min val="0"/>
        </c:scaling>
        <c:delete val="0"/>
        <c:axPos val="l"/>
        <c:majorGridlines/>
        <c:title>
          <c:tx>
            <c:rich>
              <a:bodyPr rot="0" vert="horz"/>
              <a:lstStyle/>
              <a:p>
                <a:pPr>
                  <a:defRPr sz="1400" b="0" i="1"/>
                </a:pPr>
                <a:r>
                  <a:rPr lang="en-US" sz="1400" b="0" i="1"/>
                  <a:t>f</a:t>
                </a:r>
                <a:endParaRPr lang="ru-RU" sz="1400" b="0" i="1"/>
              </a:p>
            </c:rich>
          </c:tx>
          <c:layout>
            <c:manualLayout>
              <c:xMode val="edge"/>
              <c:yMode val="edge"/>
              <c:x val="2.7777777777777776E-2"/>
              <c:y val="8.9603382910469417E-3"/>
            </c:manualLayout>
          </c:layout>
          <c:overlay val="0"/>
        </c:title>
        <c:numFmt formatCode="0.00" sourceLinked="1"/>
        <c:majorTickMark val="out"/>
        <c:minorTickMark val="none"/>
        <c:tickLblPos val="nextTo"/>
        <c:crossAx val="211977728"/>
        <c:crosses val="autoZero"/>
        <c:crossBetween val="midCat"/>
      </c:valAx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19"/>
    </mc:Choice>
    <mc:Fallback>
      <c:style val="19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Лист1!$E$4:$E$9</c:f>
              <c:strCache>
                <c:ptCount val="1"/>
                <c:pt idx="0">
                  <c:v>172 176 180 184 188 192</c:v>
                </c:pt>
              </c:strCache>
            </c:strRef>
          </c:tx>
          <c:dPt>
            <c:idx val="2"/>
            <c:marker>
              <c:symbol val="diamond"/>
              <c:size val="7"/>
            </c:marker>
            <c:bubble3D val="0"/>
            <c:extLst>
              <c:ext xmlns:c16="http://schemas.microsoft.com/office/drawing/2014/chart" uri="{C3380CC4-5D6E-409C-BE32-E72D297353CC}">
                <c16:uniqueId val="{00000000-BB99-472E-8D0D-3C650270AE5D}"/>
              </c:ext>
            </c:extLst>
          </c:dPt>
          <c:xVal>
            <c:numRef>
              <c:f>Лист1!$A$3:$A$9</c:f>
              <c:numCache>
                <c:formatCode>General</c:formatCode>
                <c:ptCount val="7"/>
                <c:pt idx="0">
                  <c:v>170</c:v>
                </c:pt>
                <c:pt idx="1">
                  <c:v>174</c:v>
                </c:pt>
                <c:pt idx="2">
                  <c:v>178</c:v>
                </c:pt>
                <c:pt idx="3">
                  <c:v>182</c:v>
                </c:pt>
                <c:pt idx="4">
                  <c:v>186</c:v>
                </c:pt>
                <c:pt idx="5">
                  <c:v>190</c:v>
                </c:pt>
                <c:pt idx="6">
                  <c:v>194</c:v>
                </c:pt>
              </c:numCache>
            </c:numRef>
          </c:xVal>
          <c:yVal>
            <c:numRef>
              <c:f>Лист1!$I$3:$I$9</c:f>
              <c:numCache>
                <c:formatCode>0.00</c:formatCode>
                <c:ptCount val="7"/>
                <c:pt idx="0">
                  <c:v>0</c:v>
                </c:pt>
                <c:pt idx="1">
                  <c:v>0.12</c:v>
                </c:pt>
                <c:pt idx="2">
                  <c:v>0.33999999999999997</c:v>
                </c:pt>
                <c:pt idx="3">
                  <c:v>0.74</c:v>
                </c:pt>
                <c:pt idx="4">
                  <c:v>0.9</c:v>
                </c:pt>
                <c:pt idx="5">
                  <c:v>0.98</c:v>
                </c:pt>
                <c:pt idx="6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BB99-472E-8D0D-3C650270AE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2487168"/>
        <c:axId val="212497536"/>
      </c:scatterChart>
      <c:valAx>
        <c:axId val="212487168"/>
        <c:scaling>
          <c:orientation val="minMax"/>
          <c:max val="194"/>
          <c:min val="17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400" b="0" i="1"/>
                </a:pPr>
                <a:r>
                  <a:rPr lang="en-US" sz="1400" b="0" i="1"/>
                  <a:t>x</a:t>
                </a:r>
                <a:endParaRPr lang="ru-RU" sz="1400" b="0" i="1"/>
              </a:p>
            </c:rich>
          </c:tx>
          <c:layout>
            <c:manualLayout>
              <c:xMode val="edge"/>
              <c:yMode val="edge"/>
              <c:x val="0.93079986876640419"/>
              <c:y val="0.85606481481481478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crossAx val="212497536"/>
        <c:crosses val="autoZero"/>
        <c:crossBetween val="midCat"/>
        <c:majorUnit val="2"/>
        <c:minorUnit val="1"/>
      </c:valAx>
      <c:valAx>
        <c:axId val="212497536"/>
        <c:scaling>
          <c:orientation val="minMax"/>
          <c:max val="1"/>
          <c:min val="0"/>
        </c:scaling>
        <c:delete val="0"/>
        <c:axPos val="l"/>
        <c:majorGridlines/>
        <c:title>
          <c:tx>
            <c:rich>
              <a:bodyPr rot="0" vert="horz"/>
              <a:lstStyle/>
              <a:p>
                <a:pPr>
                  <a:defRPr sz="1400" b="0" i="1"/>
                </a:pPr>
                <a:r>
                  <a:rPr lang="en-US" sz="1400" b="0" i="1"/>
                  <a:t>F</a:t>
                </a:r>
                <a:endParaRPr lang="ru-RU" sz="1400" b="0" i="1"/>
              </a:p>
            </c:rich>
          </c:tx>
          <c:layout>
            <c:manualLayout>
              <c:xMode val="edge"/>
              <c:yMode val="edge"/>
              <c:x val="3.0555555555555555E-2"/>
              <c:y val="1.7494167395742325E-3"/>
            </c:manualLayout>
          </c:layout>
          <c:overlay val="0"/>
        </c:title>
        <c:numFmt formatCode="0.0" sourceLinked="0"/>
        <c:majorTickMark val="out"/>
        <c:minorTickMark val="none"/>
        <c:tickLblPos val="nextTo"/>
        <c:crossAx val="212487168"/>
        <c:crosses val="autoZero"/>
        <c:crossBetween val="midCat"/>
        <c:majorUnit val="0.1"/>
      </c:valAx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19"/>
    </mc:Choice>
    <mc:Fallback>
      <c:style val="19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Лист1!$E$4:$E$9</c:f>
              <c:strCache>
                <c:ptCount val="1"/>
                <c:pt idx="0">
                  <c:v>172 176 180 184 188 192</c:v>
                </c:pt>
              </c:strCache>
            </c:strRef>
          </c:tx>
          <c:dPt>
            <c:idx val="2"/>
            <c:marker>
              <c:symbol val="diamond"/>
              <c:size val="7"/>
            </c:marker>
            <c:bubble3D val="0"/>
            <c:extLst>
              <c:ext xmlns:c16="http://schemas.microsoft.com/office/drawing/2014/chart" uri="{C3380CC4-5D6E-409C-BE32-E72D297353CC}">
                <c16:uniqueId val="{00000000-65F5-4A9D-B7C8-6D15843CE853}"/>
              </c:ext>
            </c:extLst>
          </c:dPt>
          <c:xVal>
            <c:numRef>
              <c:f>Лист1!$A$3:$A$9</c:f>
              <c:numCache>
                <c:formatCode>General</c:formatCode>
                <c:ptCount val="7"/>
                <c:pt idx="0">
                  <c:v>170</c:v>
                </c:pt>
                <c:pt idx="1">
                  <c:v>174</c:v>
                </c:pt>
                <c:pt idx="2">
                  <c:v>178</c:v>
                </c:pt>
                <c:pt idx="3">
                  <c:v>182</c:v>
                </c:pt>
                <c:pt idx="4">
                  <c:v>186</c:v>
                </c:pt>
                <c:pt idx="5">
                  <c:v>190</c:v>
                </c:pt>
                <c:pt idx="6">
                  <c:v>194</c:v>
                </c:pt>
              </c:numCache>
            </c:numRef>
          </c:xVal>
          <c:yVal>
            <c:numRef>
              <c:f>Лист1!$I$3:$I$9</c:f>
              <c:numCache>
                <c:formatCode>0.00</c:formatCode>
                <c:ptCount val="7"/>
                <c:pt idx="0">
                  <c:v>0</c:v>
                </c:pt>
                <c:pt idx="1">
                  <c:v>0.12</c:v>
                </c:pt>
                <c:pt idx="2">
                  <c:v>0.33999999999999997</c:v>
                </c:pt>
                <c:pt idx="3">
                  <c:v>0.74</c:v>
                </c:pt>
                <c:pt idx="4">
                  <c:v>0.9</c:v>
                </c:pt>
                <c:pt idx="5">
                  <c:v>0.98</c:v>
                </c:pt>
                <c:pt idx="6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5F5-4A9D-B7C8-6D15843CE8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8531456"/>
        <c:axId val="211191296"/>
      </c:scatterChart>
      <c:valAx>
        <c:axId val="168531456"/>
        <c:scaling>
          <c:orientation val="minMax"/>
          <c:max val="194"/>
          <c:min val="17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400" b="0" i="1"/>
                </a:pPr>
                <a:r>
                  <a:rPr lang="en-US" sz="1400" b="0" i="1"/>
                  <a:t>x</a:t>
                </a:r>
                <a:endParaRPr lang="ru-RU" sz="1400" b="0" i="1"/>
              </a:p>
            </c:rich>
          </c:tx>
          <c:layout>
            <c:manualLayout>
              <c:xMode val="edge"/>
              <c:yMode val="edge"/>
              <c:x val="0.93079986876640419"/>
              <c:y val="0.85606481481481478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crossAx val="211191296"/>
        <c:crosses val="autoZero"/>
        <c:crossBetween val="midCat"/>
        <c:majorUnit val="2"/>
        <c:minorUnit val="1"/>
      </c:valAx>
      <c:valAx>
        <c:axId val="211191296"/>
        <c:scaling>
          <c:orientation val="minMax"/>
          <c:max val="1"/>
          <c:min val="0"/>
        </c:scaling>
        <c:delete val="0"/>
        <c:axPos val="l"/>
        <c:majorGridlines/>
        <c:title>
          <c:tx>
            <c:rich>
              <a:bodyPr rot="0" vert="horz"/>
              <a:lstStyle/>
              <a:p>
                <a:pPr>
                  <a:defRPr sz="1400" b="0" i="1"/>
                </a:pPr>
                <a:r>
                  <a:rPr lang="en-US" sz="1400" b="0" i="1"/>
                  <a:t>F</a:t>
                </a:r>
                <a:endParaRPr lang="ru-RU" sz="1400" b="0" i="1"/>
              </a:p>
            </c:rich>
          </c:tx>
          <c:layout>
            <c:manualLayout>
              <c:xMode val="edge"/>
              <c:yMode val="edge"/>
              <c:x val="3.0555555555555555E-2"/>
              <c:y val="1.7494167395742325E-3"/>
            </c:manualLayout>
          </c:layout>
          <c:overlay val="0"/>
        </c:title>
        <c:numFmt formatCode="0.0" sourceLinked="0"/>
        <c:majorTickMark val="out"/>
        <c:minorTickMark val="none"/>
        <c:tickLblPos val="nextTo"/>
        <c:crossAx val="168531456"/>
        <c:crosses val="autoZero"/>
        <c:crossBetween val="midCat"/>
        <c:majorUnit val="0.1"/>
      </c:valAx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21"/>
    </mc:Choice>
    <mc:Fallback>
      <c:style val="21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Лист1!$C$3:$C$8</c:f>
              <c:strCache>
                <c:ptCount val="1"/>
                <c:pt idx="0">
                  <c:v>172 176 180 184 188 192</c:v>
                </c:pt>
              </c:strCache>
            </c:strRef>
          </c:tx>
          <c:invertIfNegative val="0"/>
          <c:cat>
            <c:numRef>
              <c:f>Лист1!$C$3:$C$8</c:f>
              <c:numCache>
                <c:formatCode>0</c:formatCode>
                <c:ptCount val="6"/>
                <c:pt idx="0">
                  <c:v>172</c:v>
                </c:pt>
                <c:pt idx="1">
                  <c:v>176</c:v>
                </c:pt>
                <c:pt idx="2">
                  <c:v>180</c:v>
                </c:pt>
                <c:pt idx="3">
                  <c:v>184</c:v>
                </c:pt>
                <c:pt idx="4">
                  <c:v>188</c:v>
                </c:pt>
                <c:pt idx="5">
                  <c:v>192</c:v>
                </c:pt>
              </c:numCache>
            </c:numRef>
          </c:cat>
          <c:val>
            <c:numRef>
              <c:f>Лист1!$I$3:$I$8</c:f>
              <c:numCache>
                <c:formatCode>0.00</c:formatCode>
                <c:ptCount val="6"/>
                <c:pt idx="0">
                  <c:v>0.03</c:v>
                </c:pt>
                <c:pt idx="1">
                  <c:v>0.05</c:v>
                </c:pt>
                <c:pt idx="2">
                  <c:v>0.1</c:v>
                </c:pt>
                <c:pt idx="3">
                  <c:v>0.04</c:v>
                </c:pt>
                <c:pt idx="4">
                  <c:v>0.02</c:v>
                </c:pt>
                <c:pt idx="5">
                  <c:v>5.0000000000000001E-3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66-439D-AF01-03F2DCE1F7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2532608"/>
        <c:axId val="212227584"/>
      </c:barChart>
      <c:catAx>
        <c:axId val="212532608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400" b="0" i="1"/>
                </a:pPr>
                <a:r>
                  <a:rPr lang="en-US" sz="1400" b="0" i="1"/>
                  <a:t>x</a:t>
                </a:r>
                <a:endParaRPr lang="ru-RU" sz="1400" b="0" i="1"/>
              </a:p>
            </c:rich>
          </c:tx>
          <c:layout>
            <c:manualLayout>
              <c:xMode val="edge"/>
              <c:yMode val="edge"/>
              <c:x val="0.95095253718285211"/>
              <c:y val="0.79125000000000001"/>
            </c:manualLayout>
          </c:layout>
          <c:overlay val="0"/>
        </c:title>
        <c:numFmt formatCode="0" sourceLinked="1"/>
        <c:majorTickMark val="out"/>
        <c:minorTickMark val="none"/>
        <c:tickLblPos val="nextTo"/>
        <c:crossAx val="212227584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212227584"/>
        <c:scaling>
          <c:orientation val="minMax"/>
          <c:max val="0.12000000000000001"/>
          <c:min val="0"/>
        </c:scaling>
        <c:delete val="0"/>
        <c:axPos val="l"/>
        <c:majorGridlines/>
        <c:title>
          <c:tx>
            <c:rich>
              <a:bodyPr rot="0" vert="horz"/>
              <a:lstStyle/>
              <a:p>
                <a:pPr>
                  <a:defRPr sz="1400" b="0" i="1"/>
                </a:pPr>
                <a:r>
                  <a:rPr lang="en-US" sz="1400" b="0" i="1"/>
                  <a:t>f</a:t>
                </a:r>
                <a:endParaRPr lang="ru-RU" sz="1400" b="0" i="1"/>
              </a:p>
            </c:rich>
          </c:tx>
          <c:layout>
            <c:manualLayout>
              <c:xMode val="edge"/>
              <c:yMode val="edge"/>
              <c:x val="2.7777777777777776E-2"/>
              <c:y val="1.1008675998833492E-2"/>
            </c:manualLayout>
          </c:layout>
          <c:overlay val="0"/>
        </c:title>
        <c:numFmt formatCode="0.00" sourceLinked="1"/>
        <c:majorTickMark val="out"/>
        <c:minorTickMark val="none"/>
        <c:tickLblPos val="nextTo"/>
        <c:crossAx val="212532608"/>
        <c:crosses val="autoZero"/>
        <c:crossBetween val="between"/>
      </c:valAx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21"/>
    </mc:Choice>
    <mc:Fallback>
      <c:style val="21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Лист1!$C$3:$C$8</c:f>
              <c:strCache>
                <c:ptCount val="1"/>
                <c:pt idx="0">
                  <c:v>172 176 180 184 188 192</c:v>
                </c:pt>
              </c:strCache>
            </c:strRef>
          </c:tx>
          <c:xVal>
            <c:numRef>
              <c:f>Лист1!$C$3:$C$8</c:f>
              <c:numCache>
                <c:formatCode>0</c:formatCode>
                <c:ptCount val="6"/>
                <c:pt idx="0">
                  <c:v>172</c:v>
                </c:pt>
                <c:pt idx="1">
                  <c:v>176</c:v>
                </c:pt>
                <c:pt idx="2">
                  <c:v>180</c:v>
                </c:pt>
                <c:pt idx="3">
                  <c:v>184</c:v>
                </c:pt>
                <c:pt idx="4">
                  <c:v>188</c:v>
                </c:pt>
                <c:pt idx="5">
                  <c:v>192</c:v>
                </c:pt>
              </c:numCache>
            </c:numRef>
          </c:xVal>
          <c:yVal>
            <c:numRef>
              <c:f>Лист1!$I$3:$I$8</c:f>
              <c:numCache>
                <c:formatCode>0.00</c:formatCode>
                <c:ptCount val="6"/>
                <c:pt idx="0">
                  <c:v>0.03</c:v>
                </c:pt>
                <c:pt idx="1">
                  <c:v>0.05</c:v>
                </c:pt>
                <c:pt idx="2">
                  <c:v>0.1</c:v>
                </c:pt>
                <c:pt idx="3">
                  <c:v>0.04</c:v>
                </c:pt>
                <c:pt idx="4">
                  <c:v>0.02</c:v>
                </c:pt>
                <c:pt idx="5">
                  <c:v>5.0000000000000001E-3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4A4-4A1F-859B-602EDE4C3B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2407424"/>
        <c:axId val="212409344"/>
      </c:scatterChart>
      <c:valAx>
        <c:axId val="212407424"/>
        <c:scaling>
          <c:orientation val="minMax"/>
          <c:max val="194"/>
          <c:min val="17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400" b="0" i="1"/>
                </a:pPr>
                <a:r>
                  <a:rPr lang="en-US" sz="1400" b="0" i="1"/>
                  <a:t>x</a:t>
                </a:r>
                <a:endParaRPr lang="ru-RU" sz="1400" b="0" i="1"/>
              </a:p>
            </c:rich>
          </c:tx>
          <c:layout>
            <c:manualLayout>
              <c:xMode val="edge"/>
              <c:yMode val="edge"/>
              <c:x val="0.92496653543307106"/>
              <c:y val="0.86532407407407408"/>
            </c:manualLayout>
          </c:layout>
          <c:overlay val="0"/>
        </c:title>
        <c:numFmt formatCode="0" sourceLinked="1"/>
        <c:majorTickMark val="out"/>
        <c:minorTickMark val="none"/>
        <c:tickLblPos val="nextTo"/>
        <c:crossAx val="212409344"/>
        <c:crosses val="autoZero"/>
        <c:crossBetween val="midCat"/>
        <c:majorUnit val="2"/>
        <c:minorUnit val="1"/>
      </c:valAx>
      <c:valAx>
        <c:axId val="212409344"/>
        <c:scaling>
          <c:orientation val="minMax"/>
          <c:max val="0.12000000000000001"/>
          <c:min val="0"/>
        </c:scaling>
        <c:delete val="0"/>
        <c:axPos val="l"/>
        <c:majorGridlines/>
        <c:title>
          <c:tx>
            <c:rich>
              <a:bodyPr rot="0" vert="horz"/>
              <a:lstStyle/>
              <a:p>
                <a:pPr>
                  <a:defRPr sz="1400" b="0" i="1"/>
                </a:pPr>
                <a:r>
                  <a:rPr lang="en-US" sz="1400" b="0" i="1"/>
                  <a:t>f</a:t>
                </a:r>
                <a:endParaRPr lang="ru-RU" sz="1400" b="0" i="1"/>
              </a:p>
            </c:rich>
          </c:tx>
          <c:layout>
            <c:manualLayout>
              <c:xMode val="edge"/>
              <c:yMode val="edge"/>
              <c:x val="2.7777777777777776E-2"/>
              <c:y val="8.9603382910469417E-3"/>
            </c:manualLayout>
          </c:layout>
          <c:overlay val="0"/>
        </c:title>
        <c:numFmt formatCode="0.00" sourceLinked="1"/>
        <c:majorTickMark val="out"/>
        <c:minorTickMark val="none"/>
        <c:tickLblPos val="nextTo"/>
        <c:crossAx val="212407424"/>
        <c:crosses val="autoZero"/>
        <c:crossBetween val="midCat"/>
      </c:valAx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21"/>
    </mc:Choice>
    <mc:Fallback>
      <c:style val="21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Лист1!$F$4:$F$9</c:f>
              <c:strCache>
                <c:ptCount val="1"/>
                <c:pt idx="0">
                  <c:v>172 176 180 184 188 192</c:v>
                </c:pt>
              </c:strCache>
            </c:strRef>
          </c:tx>
          <c:marker>
            <c:symbol val="none"/>
          </c:marker>
          <c:xVal>
            <c:numRef>
              <c:f>Лист1!$F$4:$F$9</c:f>
              <c:numCache>
                <c:formatCode>0</c:formatCode>
                <c:ptCount val="6"/>
                <c:pt idx="0">
                  <c:v>172</c:v>
                </c:pt>
                <c:pt idx="1">
                  <c:v>176</c:v>
                </c:pt>
                <c:pt idx="2">
                  <c:v>180</c:v>
                </c:pt>
                <c:pt idx="3">
                  <c:v>184</c:v>
                </c:pt>
                <c:pt idx="4">
                  <c:v>188</c:v>
                </c:pt>
                <c:pt idx="5">
                  <c:v>192</c:v>
                </c:pt>
              </c:numCache>
            </c:numRef>
          </c:xVal>
          <c:yVal>
            <c:numRef>
              <c:f>Лист1!$L$4:$L$9</c:f>
              <c:numCache>
                <c:formatCode>0.000</c:formatCode>
                <c:ptCount val="6"/>
                <c:pt idx="0">
                  <c:v>0.03</c:v>
                </c:pt>
                <c:pt idx="1">
                  <c:v>5.5E-2</c:v>
                </c:pt>
                <c:pt idx="2">
                  <c:v>0.1</c:v>
                </c:pt>
                <c:pt idx="3">
                  <c:v>0.04</c:v>
                </c:pt>
                <c:pt idx="4">
                  <c:v>0.02</c:v>
                </c:pt>
                <c:pt idx="5">
                  <c:v>5.0000000000000001E-3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DB85-4A05-91A7-32F2B177B45F}"/>
            </c:ext>
          </c:extLst>
        </c:ser>
        <c:ser>
          <c:idx val="1"/>
          <c:order val="1"/>
          <c:spPr>
            <a:ln>
              <a:solidFill>
                <a:srgbClr val="FF0000"/>
              </a:solidFill>
            </a:ln>
          </c:spPr>
          <c:marker>
            <c:symbol val="none"/>
          </c:marker>
          <c:xVal>
            <c:numRef>
              <c:f>Лист1!$B$3:$B$9</c:f>
              <c:numCache>
                <c:formatCode>General</c:formatCode>
                <c:ptCount val="7"/>
                <c:pt idx="0">
                  <c:v>170</c:v>
                </c:pt>
                <c:pt idx="1">
                  <c:v>174</c:v>
                </c:pt>
                <c:pt idx="2">
                  <c:v>178</c:v>
                </c:pt>
                <c:pt idx="3">
                  <c:v>182</c:v>
                </c:pt>
                <c:pt idx="4">
                  <c:v>186</c:v>
                </c:pt>
                <c:pt idx="5">
                  <c:v>190</c:v>
                </c:pt>
                <c:pt idx="6">
                  <c:v>194</c:v>
                </c:pt>
              </c:numCache>
            </c:numRef>
          </c:xVal>
          <c:yVal>
            <c:numRef>
              <c:f>Лист1!$AA$14:$AA$20</c:f>
              <c:numCache>
                <c:formatCode>0.000</c:formatCode>
                <c:ptCount val="7"/>
                <c:pt idx="0">
                  <c:v>1.0188786613535016E-2</c:v>
                </c:pt>
                <c:pt idx="1">
                  <c:v>4.0909351744878766E-2</c:v>
                </c:pt>
                <c:pt idx="2">
                  <c:v>7.9633458388514794E-2</c:v>
                </c:pt>
                <c:pt idx="3">
                  <c:v>7.5152149178051797E-2</c:v>
                </c:pt>
                <c:pt idx="4">
                  <c:v>3.4384291604486611E-2</c:v>
                </c:pt>
                <c:pt idx="5">
                  <c:v>7.6269624143634977E-3</c:v>
                </c:pt>
                <c:pt idx="6">
                  <c:v>8.2019285106188077E-4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DB85-4A05-91A7-32F2B177B4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72072704"/>
        <c:axId val="272074624"/>
      </c:scatterChart>
      <c:valAx>
        <c:axId val="272072704"/>
        <c:scaling>
          <c:orientation val="minMax"/>
          <c:max val="194"/>
          <c:min val="17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400" b="0" i="1"/>
                </a:pPr>
                <a:r>
                  <a:rPr lang="en-US" sz="1400" b="0" i="1"/>
                  <a:t>x</a:t>
                </a:r>
                <a:endParaRPr lang="ru-RU" sz="1400" b="0" i="1"/>
              </a:p>
            </c:rich>
          </c:tx>
          <c:layout>
            <c:manualLayout>
              <c:xMode val="edge"/>
              <c:yMode val="edge"/>
              <c:x val="0.92496653543307106"/>
              <c:y val="0.86532407407407408"/>
            </c:manualLayout>
          </c:layout>
          <c:overlay val="0"/>
        </c:title>
        <c:numFmt formatCode="0" sourceLinked="1"/>
        <c:majorTickMark val="out"/>
        <c:minorTickMark val="none"/>
        <c:tickLblPos val="nextTo"/>
        <c:crossAx val="272074624"/>
        <c:crosses val="autoZero"/>
        <c:crossBetween val="midCat"/>
        <c:majorUnit val="2"/>
        <c:minorUnit val="1"/>
      </c:valAx>
      <c:valAx>
        <c:axId val="272074624"/>
        <c:scaling>
          <c:orientation val="minMax"/>
          <c:max val="0.12000000000000001"/>
          <c:min val="0"/>
        </c:scaling>
        <c:delete val="0"/>
        <c:axPos val="l"/>
        <c:majorGridlines/>
        <c:title>
          <c:tx>
            <c:rich>
              <a:bodyPr rot="0" vert="horz"/>
              <a:lstStyle/>
              <a:p>
                <a:pPr>
                  <a:defRPr sz="1400" b="0" i="1"/>
                </a:pPr>
                <a:r>
                  <a:rPr lang="en-US" sz="1400" b="0" i="1"/>
                  <a:t>f</a:t>
                </a:r>
                <a:endParaRPr lang="ru-RU" sz="1400" b="0" i="1"/>
              </a:p>
            </c:rich>
          </c:tx>
          <c:layout>
            <c:manualLayout>
              <c:xMode val="edge"/>
              <c:yMode val="edge"/>
              <c:x val="2.7777777777777776E-2"/>
              <c:y val="8.9603382910469417E-3"/>
            </c:manualLayout>
          </c:layout>
          <c:overlay val="0"/>
        </c:title>
        <c:numFmt formatCode="0.000" sourceLinked="1"/>
        <c:majorTickMark val="out"/>
        <c:minorTickMark val="none"/>
        <c:tickLblPos val="nextTo"/>
        <c:crossAx val="272072704"/>
        <c:crosses val="autoZero"/>
        <c:crossBetween val="midCat"/>
      </c:valAx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19"/>
    </mc:Choice>
    <mc:Fallback>
      <c:style val="19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Лист1!$F$4:$F$9</c:f>
              <c:strCache>
                <c:ptCount val="1"/>
                <c:pt idx="0">
                  <c:v>172 176 180 184 188 192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0-2ED5-4C17-9B21-2983A533589F}"/>
              </c:ext>
            </c:extLst>
          </c:dPt>
          <c:xVal>
            <c:numRef>
              <c:f>Лист1!$B$3:$B$9</c:f>
              <c:numCache>
                <c:formatCode>General</c:formatCode>
                <c:ptCount val="7"/>
                <c:pt idx="0">
                  <c:v>170</c:v>
                </c:pt>
                <c:pt idx="1">
                  <c:v>174</c:v>
                </c:pt>
                <c:pt idx="2">
                  <c:v>178</c:v>
                </c:pt>
                <c:pt idx="3">
                  <c:v>182</c:v>
                </c:pt>
                <c:pt idx="4">
                  <c:v>186</c:v>
                </c:pt>
                <c:pt idx="5">
                  <c:v>190</c:v>
                </c:pt>
                <c:pt idx="6">
                  <c:v>194</c:v>
                </c:pt>
              </c:numCache>
            </c:numRef>
          </c:xVal>
          <c:yVal>
            <c:numRef>
              <c:f>Лист1!$J$3:$J$9</c:f>
              <c:numCache>
                <c:formatCode>0.00</c:formatCode>
                <c:ptCount val="7"/>
                <c:pt idx="0">
                  <c:v>0</c:v>
                </c:pt>
                <c:pt idx="1">
                  <c:v>0.12</c:v>
                </c:pt>
                <c:pt idx="2">
                  <c:v>0.33999999999999997</c:v>
                </c:pt>
                <c:pt idx="3">
                  <c:v>0.74</c:v>
                </c:pt>
                <c:pt idx="4">
                  <c:v>0.9</c:v>
                </c:pt>
                <c:pt idx="5">
                  <c:v>0.98</c:v>
                </c:pt>
                <c:pt idx="6">
                  <c:v>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2ED5-4C17-9B21-2983A533589F}"/>
            </c:ext>
          </c:extLst>
        </c:ser>
        <c:ser>
          <c:idx val="1"/>
          <c:order val="1"/>
          <c:spPr>
            <a:ln>
              <a:solidFill>
                <a:srgbClr val="FF0000"/>
              </a:solidFill>
            </a:ln>
          </c:spPr>
          <c:marker>
            <c:symbol val="none"/>
          </c:marker>
          <c:xVal>
            <c:numRef>
              <c:f>Лист1!$V$14:$V$20</c:f>
              <c:numCache>
                <c:formatCode>General</c:formatCode>
                <c:ptCount val="7"/>
                <c:pt idx="0">
                  <c:v>170</c:v>
                </c:pt>
                <c:pt idx="1">
                  <c:v>174</c:v>
                </c:pt>
                <c:pt idx="2">
                  <c:v>178</c:v>
                </c:pt>
                <c:pt idx="3">
                  <c:v>182</c:v>
                </c:pt>
                <c:pt idx="4">
                  <c:v>186</c:v>
                </c:pt>
                <c:pt idx="5">
                  <c:v>190</c:v>
                </c:pt>
                <c:pt idx="6">
                  <c:v>194</c:v>
                </c:pt>
              </c:numCache>
            </c:numRef>
          </c:xVal>
          <c:yVal>
            <c:numRef>
              <c:f>Лист1!$Z$14:$Z$20</c:f>
              <c:numCache>
                <c:formatCode>0.00</c:formatCode>
                <c:ptCount val="7"/>
                <c:pt idx="0">
                  <c:v>1.974101479181203E-2</c:v>
                </c:pt>
                <c:pt idx="1">
                  <c:v>0.11347587523789777</c:v>
                </c:pt>
                <c:pt idx="2">
                  <c:v>0.36040770471466876</c:v>
                </c:pt>
                <c:pt idx="3">
                  <c:v>0.68917382251885928</c:v>
                </c:pt>
                <c:pt idx="4">
                  <c:v>0.91058868629824485</c:v>
                </c:pt>
                <c:pt idx="5">
                  <c:v>0.98592781490427983</c:v>
                </c:pt>
                <c:pt idx="6">
                  <c:v>0.99884102852381063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2ED5-4C17-9B21-2983A53358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75671296"/>
        <c:axId val="275698048"/>
      </c:scatterChart>
      <c:valAx>
        <c:axId val="275671296"/>
        <c:scaling>
          <c:orientation val="minMax"/>
          <c:max val="194"/>
          <c:min val="17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400" b="0" i="1"/>
                </a:pPr>
                <a:r>
                  <a:rPr lang="en-US" sz="1400" b="0" i="1"/>
                  <a:t>x</a:t>
                </a:r>
                <a:endParaRPr lang="ru-RU" sz="1400" b="0" i="1"/>
              </a:p>
            </c:rich>
          </c:tx>
          <c:layout>
            <c:manualLayout>
              <c:xMode val="edge"/>
              <c:yMode val="edge"/>
              <c:x val="0.93079986876640419"/>
              <c:y val="0.85606481481481478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crossAx val="275698048"/>
        <c:crosses val="autoZero"/>
        <c:crossBetween val="midCat"/>
        <c:majorUnit val="2"/>
        <c:minorUnit val="1"/>
      </c:valAx>
      <c:valAx>
        <c:axId val="275698048"/>
        <c:scaling>
          <c:orientation val="minMax"/>
          <c:max val="1"/>
          <c:min val="0"/>
        </c:scaling>
        <c:delete val="0"/>
        <c:axPos val="l"/>
        <c:majorGridlines/>
        <c:title>
          <c:tx>
            <c:rich>
              <a:bodyPr rot="0" vert="horz"/>
              <a:lstStyle/>
              <a:p>
                <a:pPr>
                  <a:defRPr sz="1400" b="0" i="1"/>
                </a:pPr>
                <a:r>
                  <a:rPr lang="en-US" sz="1400" b="0" i="1"/>
                  <a:t>F</a:t>
                </a:r>
                <a:endParaRPr lang="ru-RU" sz="1400" b="0" i="1"/>
              </a:p>
            </c:rich>
          </c:tx>
          <c:layout>
            <c:manualLayout>
              <c:xMode val="edge"/>
              <c:yMode val="edge"/>
              <c:x val="3.0555555555555555E-2"/>
              <c:y val="1.7494167395742325E-3"/>
            </c:manualLayout>
          </c:layout>
          <c:overlay val="0"/>
        </c:title>
        <c:numFmt formatCode="0.0" sourceLinked="0"/>
        <c:majorTickMark val="out"/>
        <c:minorTickMark val="none"/>
        <c:tickLblPos val="nextTo"/>
        <c:crossAx val="275671296"/>
        <c:crosses val="autoZero"/>
        <c:crossBetween val="midCat"/>
        <c:majorUnit val="0.1"/>
      </c:valAx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2975-4CFD-C441-A244-B7FD9A9579C2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60DC-725D-2A44-9F89-74FE668A9C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254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D1C8-470D-774F-8B40-381C3059BD4A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711C-DB87-6342-8123-FE7E39EB00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73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859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859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8599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859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8599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8599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8599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8599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8599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8599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38599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8809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5587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3746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8094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9089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859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83B35-4D64-24CD-46E0-32E9FC276C40}"/>
              </a:ext>
            </a:extLst>
          </p:cNvPr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EFD47-67FA-CC9C-A247-DDA306E69DC7}"/>
              </a:ext>
            </a:extLst>
          </p:cNvPr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74B261-5474-8217-1C1F-DF8DF956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A92729-C745-7CCF-6847-2DF14BA713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aseline="0"/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0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0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99776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push dir="u"/>
      </p:transition>
    </mc:Choice>
    <mc:Fallback xmlns="">
      <p:transition>
        <p:push dir="u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4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20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09715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push dir="u"/>
      </p:transition>
    </mc:Choice>
    <mc:Fallback xmlns="">
      <p:transition>
        <p:push dir="u"/>
      </p:transition>
    </mc:Fallback>
  </mc:AlternateContent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DC7664A4-1431-5B79-D831-F6220EA436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9A5E5274-1C05-A7BB-B9D5-BE8CD4A5E9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5FC28AB9-3129-9DBE-782C-D2B113A5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12C4E9B1-800A-20F6-E4F7-84C6B3BE94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C1609-7E48-B73D-CDA4-19FD56B5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329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push dir="u"/>
      </p:transition>
    </mc:Choice>
    <mc:Fallback xmlns="">
      <p:transition>
        <p:push dir="u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6F42A0-92A9-ED41-A4B6-1B839857D4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</p:spTree>
    <p:extLst>
      <p:ext uri="{BB962C8B-B14F-4D97-AF65-F5344CB8AC3E}">
        <p14:creationId xmlns:p14="http://schemas.microsoft.com/office/powerpoint/2010/main" val="439475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push dir="u"/>
      </p:transition>
    </mc:Choice>
    <mc:Fallback xmlns="">
      <p:transition>
        <p:push dir="u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0393FA-3ECC-3158-E15E-58890F60B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3DB0C6-E4DE-9A4B-998D-34852F1B3E9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4034559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push dir="u"/>
      </p:transition>
    </mc:Choice>
    <mc:Fallback xmlns="">
      <p:transition>
        <p:push dir="u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414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push dir="u"/>
      </p:transition>
    </mc:Choice>
    <mc:Fallback xmlns="">
      <p:transition>
        <p:push dir="u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36D9692A-5DC0-3DF1-F516-70164F11C5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C2C41F40-A63A-48C4-01DC-A4A13BB7B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5B27C-CA4C-7381-3F84-F0595A76C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2AA24315-FE73-04A8-D530-E746EC0C20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69578C56-72EB-AE17-C6D4-CE1E8FBA30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018934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push dir="u"/>
      </p:transition>
    </mc:Choice>
    <mc:Fallback xmlns="">
      <p:transition>
        <p:push dir="u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AE2ED3E-3221-72A5-8340-4E08819C8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19B43694-08A8-116E-FA12-468591D136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E75CB8B0-7394-87DF-B065-6F242AB2D0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993366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push dir="u"/>
      </p:transition>
    </mc:Choice>
    <mc:Fallback xmlns="">
      <p:transition>
        <p:push dir="u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98E654-ABDC-7E78-775E-43A2D6214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D71CC7-EEA6-E9D0-68AD-36562CCF607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2540818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push dir="u"/>
      </p:transition>
    </mc:Choice>
    <mc:Fallback xmlns="">
      <p:transition>
        <p:push dir="u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360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push dir="u"/>
      </p:transition>
    </mc:Choice>
    <mc:Fallback xmlns="">
      <p:transition>
        <p:push dir="u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3706F3BB-2486-D68F-6966-44BBD62CEC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49722966-1EC6-6348-3A3A-25A27C8E50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D2BFFE86-F97D-E925-927B-0F6BBD2D6E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ADAF316B-52C6-704E-CB38-0E76498CD5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88714-60F8-FF59-CB87-38F52214F9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260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push dir="u"/>
      </p:transition>
    </mc:Choice>
    <mc:Fallback xmlns="">
      <p:transition>
        <p:push dir="u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8C44632-7642-B672-30DB-BEE8EBC23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AF7BB137-1C7F-56D5-5D41-70ED6DEA4C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9C7E817-A2F7-D228-2EB2-8CC2710635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2927035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push dir="u"/>
      </p:transition>
    </mc:Choice>
    <mc:Fallback xmlns="">
      <p:transition>
        <p:push dir="u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1F5CFB9-FFF2-E218-2283-FA3AC247B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CCADC5-135D-DC69-A40F-E7939EE42C8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3110273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push dir="u"/>
      </p:transition>
    </mc:Choice>
    <mc:Fallback xmlns="">
      <p:transition>
        <p:push dir="u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5FAEC5-3811-8889-0016-6EA3B2AC41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CAC739FE-CC7A-A005-60BE-713B90BFE7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5" name="Текст 13">
            <a:extLst>
              <a:ext uri="{FF2B5EF4-FFF2-40B4-BE49-F238E27FC236}">
                <a16:creationId xmlns:a16="http://schemas.microsoft.com/office/drawing/2014/main" id="{0280BF47-780B-2175-23F6-FDC24D601F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7">
            <a:extLst>
              <a:ext uri="{FF2B5EF4-FFF2-40B4-BE49-F238E27FC236}">
                <a16:creationId xmlns:a16="http://schemas.microsoft.com/office/drawing/2014/main" id="{E58E80D7-3F9A-CA73-1A7E-C864B8F1B1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BF0BE89B-425E-821E-10AB-56C164DAED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206293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push dir="u"/>
      </p:transition>
    </mc:Choice>
    <mc:Fallback xmlns="">
      <p:transition>
        <p:push dir="u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F282CACE-D64E-E390-8227-23E049D60A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D893D5-8CB5-3E29-008C-CC0E0591AE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6E126262-C015-9DD6-F87F-1B632AE744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736321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push dir="u"/>
      </p:transition>
    </mc:Choice>
    <mc:Fallback xmlns="">
      <p:transition>
        <p:push dir="u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6" name="Рисунок 2">
            <a:extLst>
              <a:ext uri="{FF2B5EF4-FFF2-40B4-BE49-F238E27FC236}">
                <a16:creationId xmlns:a16="http://schemas.microsoft.com/office/drawing/2014/main" id="{E0DDF7E5-74E5-85B7-0EAB-6118F548A9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7936B987-FE27-33B7-4612-FDB9F2B35C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5528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push dir="u"/>
      </p:transition>
    </mc:Choice>
    <mc:Fallback xmlns="">
      <p:transition>
        <p:push dir="u"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6">
            <a:extLst>
              <a:ext uri="{FF2B5EF4-FFF2-40B4-BE49-F238E27FC236}">
                <a16:creationId xmlns:a16="http://schemas.microsoft.com/office/drawing/2014/main" id="{604BBFFB-7572-35FA-4787-0F445C5632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BFD2DD0-1A50-CC19-1239-4EE4F12EA9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73A9D63A-5180-ED0A-F619-007A1570C1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75CB2-AC7B-1521-E0C8-0618DBE0F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59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push dir="u"/>
      </p:transition>
    </mc:Choice>
    <mc:Fallback xmlns="">
      <p:transition>
        <p:push dir="u"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4827D-CE53-9591-037D-C963F1C74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AE50A46-F4A6-68CE-7C12-AA2301388718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2AB405F-D2C7-9CD0-F8A2-C5B08DACE9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20D20C24-934F-4A5C-CF04-B479AF2D0D5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2D750E3A-97C5-5CBE-A3C9-0F2565E569E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3842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push dir="u"/>
      </p:transition>
    </mc:Choice>
    <mc:Fallback xmlns="">
      <p:transition>
        <p:push dir="u"/>
      </p:transition>
    </mc:Fallback>
  </mc:AlternateContent>
  <p:hf sldNum="0"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33143" y="949330"/>
            <a:ext cx="2895600" cy="3895724"/>
          </a:xfrm>
        </p:spPr>
        <p:txBody>
          <a:bodyPr>
            <a:normAutofit/>
          </a:bodyPr>
          <a:lstStyle>
            <a:lvl1pPr marL="0" indent="0">
              <a:buNone/>
              <a:defRPr sz="1400" b="0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F1233E17-1183-B76E-8FDC-B4E51177D9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D225B0AE-7C4E-EA08-3FB1-DC344CD724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8F0CB042-A157-2892-A9F3-8F41034FBC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B7890194-FBA6-DE42-AD42-307D6F999BE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27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push dir="u"/>
      </p:transition>
    </mc:Choice>
    <mc:Fallback xmlns="">
      <p:transition>
        <p:push dir="u"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6AE54EB-260E-9A56-307F-307DC6AE32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Ключевая фраза слайда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20DDEE97-30A5-E948-6E23-28FB2BCF96F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AAC08422-7D47-2B7E-7D28-680BC07B364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D0F3CB7-1C07-A606-10E8-3541ED42DF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AFE5227E-AF6F-5CD4-3762-3B690A4EFAC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F1DACFFD-7F12-BA1F-C994-00039280C0A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1818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push dir="u"/>
      </p:transition>
    </mc:Choice>
    <mc:Fallback xmlns="">
      <p:transition>
        <p:push dir="u"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822C9-93DB-8981-8DE8-9669C842C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ABC6181E-5380-5398-36BA-70EAD01E6B6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6C8F21F1-75B3-D8F1-2DB5-6F70F86F1DB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276AF22E-2A7E-F9AB-5142-9D689D32BAC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4381B90F-578B-03FE-3E62-01B123DDCA0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0352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78F39546-2C38-A484-9527-E82840466A9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62CF135A-DC57-BFA7-737D-7E89CABB270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3" name="Рисунок 2">
            <a:extLst>
              <a:ext uri="{FF2B5EF4-FFF2-40B4-BE49-F238E27FC236}">
                <a16:creationId xmlns:a16="http://schemas.microsoft.com/office/drawing/2014/main" id="{F2DF9285-C300-85F5-A106-92A286165DE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24" name="Рисунок 2">
            <a:extLst>
              <a:ext uri="{FF2B5EF4-FFF2-40B4-BE49-F238E27FC236}">
                <a16:creationId xmlns:a16="http://schemas.microsoft.com/office/drawing/2014/main" id="{3E7EB42F-DA19-C666-2E68-46C62D12946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id="{8819B960-AE2A-9E43-B370-CD1D6A1ACE8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7186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push dir="u"/>
      </p:transition>
    </mc:Choice>
    <mc:Fallback xmlns="">
      <p:transition>
        <p:push dir="u"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83B35-4D64-24CD-46E0-32E9FC276C40}"/>
              </a:ext>
            </a:extLst>
          </p:cNvPr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EFD47-67FA-CC9C-A247-DDA306E69DC7}"/>
              </a:ext>
            </a:extLst>
          </p:cNvPr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74B261-5474-8217-1C1F-DF8DF956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A92729-C745-7CCF-6847-2DF14BA713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aseline="0"/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0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0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23616492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4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20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2765537270"/>
      </p:ext>
    </p:extLst>
  </p:cSld>
  <p:clrMapOvr>
    <a:masterClrMapping/>
  </p:clrMapOvr>
  <p:hf sldNum="0"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DC7664A4-1431-5B79-D831-F6220EA436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9A5E5274-1C05-A7BB-B9D5-BE8CD4A5E9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5FC28AB9-3129-9DBE-782C-D2B113A5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12C4E9B1-800A-20F6-E4F7-84C6B3BE94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C1609-7E48-B73D-CDA4-19FD56B5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27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6F42A0-92A9-ED41-A4B6-1B839857D4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</p:spTree>
    <p:extLst>
      <p:ext uri="{BB962C8B-B14F-4D97-AF65-F5344CB8AC3E}">
        <p14:creationId xmlns:p14="http://schemas.microsoft.com/office/powerpoint/2010/main" val="22165151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0393FA-3ECC-3158-E15E-58890F60B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3DB0C6-E4DE-9A4B-998D-34852F1B3E9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32186333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4839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36D9692A-5DC0-3DF1-F516-70164F11C5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C2C41F40-A63A-48C4-01DC-A4A13BB7B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5B27C-CA4C-7381-3F84-F0595A76C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2AA24315-FE73-04A8-D530-E746EC0C20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69578C56-72EB-AE17-C6D4-CE1E8FBA30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2344534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AE2ED3E-3221-72A5-8340-4E08819C8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19B43694-08A8-116E-FA12-468591D136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E75CB8B0-7394-87DF-B065-6F242AB2D0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42423965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98E654-ABDC-7E78-775E-43A2D6214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D71CC7-EEA6-E9D0-68AD-36562CCF607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721079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12012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3706F3BB-2486-D68F-6966-44BBD62CEC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49722966-1EC6-6348-3A3A-25A27C8E50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D2BFFE86-F97D-E925-927B-0F6BBD2D6E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ADAF316B-52C6-704E-CB38-0E76498CD5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88714-60F8-FF59-CB87-38F52214F9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26881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8C44632-7642-B672-30DB-BEE8EBC23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AF7BB137-1C7F-56D5-5D41-70ED6DEA4C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9C7E817-A2F7-D228-2EB2-8CC2710635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23558287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1F5CFB9-FFF2-E218-2283-FA3AC247B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CCADC5-135D-DC69-A40F-E7939EE42C8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149911632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Финал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4">
            <a:extLst>
              <a:ext uri="{FF2B5EF4-FFF2-40B4-BE49-F238E27FC236}">
                <a16:creationId xmlns:a16="http://schemas.microsoft.com/office/drawing/2014/main" id="{164235EB-093A-2BDE-8127-460B61C5B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конец списка.</a:t>
            </a:r>
          </a:p>
          <a:p>
            <a:pPr lvl="0"/>
            <a:endParaRPr lang="ru-RU" dirty="0"/>
          </a:p>
          <a:p>
            <a:pPr lvl="0"/>
            <a:endParaRPr lang="ru-R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D6E8F6-2854-A3A1-FCCA-4BC7B8C56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90915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5FAEC5-3811-8889-0016-6EA3B2AC41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CAC739FE-CC7A-A005-60BE-713B90BFE7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5" name="Текст 13">
            <a:extLst>
              <a:ext uri="{FF2B5EF4-FFF2-40B4-BE49-F238E27FC236}">
                <a16:creationId xmlns:a16="http://schemas.microsoft.com/office/drawing/2014/main" id="{0280BF47-780B-2175-23F6-FDC24D601F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7">
            <a:extLst>
              <a:ext uri="{FF2B5EF4-FFF2-40B4-BE49-F238E27FC236}">
                <a16:creationId xmlns:a16="http://schemas.microsoft.com/office/drawing/2014/main" id="{E58E80D7-3F9A-CA73-1A7E-C864B8F1B1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BF0BE89B-425E-821E-10AB-56C164DAED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7871091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F282CACE-D64E-E390-8227-23E049D60A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D893D5-8CB5-3E29-008C-CC0E0591AE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6E126262-C015-9DD6-F87F-1B632AE744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244066386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6" name="Рисунок 2">
            <a:extLst>
              <a:ext uri="{FF2B5EF4-FFF2-40B4-BE49-F238E27FC236}">
                <a16:creationId xmlns:a16="http://schemas.microsoft.com/office/drawing/2014/main" id="{E0DDF7E5-74E5-85B7-0EAB-6118F548A9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7936B987-FE27-33B7-4612-FDB9F2B35C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668756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6">
            <a:extLst>
              <a:ext uri="{FF2B5EF4-FFF2-40B4-BE49-F238E27FC236}">
                <a16:creationId xmlns:a16="http://schemas.microsoft.com/office/drawing/2014/main" id="{604BBFFB-7572-35FA-4787-0F445C5632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BFD2DD0-1A50-CC19-1239-4EE4F12EA9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73A9D63A-5180-ED0A-F619-007A1570C1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75CB2-AC7B-1521-E0C8-0618DBE0F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4404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4827D-CE53-9591-037D-C963F1C74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AE50A46-F4A6-68CE-7C12-AA2301388718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2AB405F-D2C7-9CD0-F8A2-C5B08DACE9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20D20C24-934F-4A5C-CF04-B479AF2D0D5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2D750E3A-97C5-5CBE-A3C9-0F2565E569E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9404528"/>
      </p:ext>
    </p:extLst>
  </p:cSld>
  <p:clrMapOvr>
    <a:masterClrMapping/>
  </p:clrMapOvr>
  <p:hf sldNum="0" hd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33143" y="949330"/>
            <a:ext cx="2895600" cy="3895724"/>
          </a:xfrm>
        </p:spPr>
        <p:txBody>
          <a:bodyPr>
            <a:normAutofit/>
          </a:bodyPr>
          <a:lstStyle>
            <a:lvl1pPr marL="0" indent="0">
              <a:buNone/>
              <a:defRPr sz="1400" b="0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F1233E17-1183-B76E-8FDC-B4E51177D9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D225B0AE-7C4E-EA08-3FB1-DC344CD724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8F0CB042-A157-2892-A9F3-8F41034FBC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B7890194-FBA6-DE42-AD42-307D6F999BE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70702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6AE54EB-260E-9A56-307F-307DC6AE32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Ключевая фраза слайда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20DDEE97-30A5-E948-6E23-28FB2BCF96F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AAC08422-7D47-2B7E-7D28-680BC07B364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D0F3CB7-1C07-A606-10E8-3541ED42DF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AFE5227E-AF6F-5CD4-3762-3B690A4EFAC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F1DACFFD-7F12-BA1F-C994-00039280C0A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461767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822C9-93DB-8981-8DE8-9669C842C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ABC6181E-5380-5398-36BA-70EAD01E6B6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6C8F21F1-75B3-D8F1-2DB5-6F70F86F1DB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276AF22E-2A7E-F9AB-5142-9D689D32BAC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4381B90F-578B-03FE-3E62-01B123DDCA0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0352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78F39546-2C38-A484-9527-E82840466A9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62CF135A-DC57-BFA7-737D-7E89CABB270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3" name="Рисунок 2">
            <a:extLst>
              <a:ext uri="{FF2B5EF4-FFF2-40B4-BE49-F238E27FC236}">
                <a16:creationId xmlns:a16="http://schemas.microsoft.com/office/drawing/2014/main" id="{F2DF9285-C300-85F5-A106-92A286165DE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24" name="Рисунок 2">
            <a:extLst>
              <a:ext uri="{FF2B5EF4-FFF2-40B4-BE49-F238E27FC236}">
                <a16:creationId xmlns:a16="http://schemas.microsoft.com/office/drawing/2014/main" id="{3E7EB42F-DA19-C666-2E68-46C62D12946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id="{8819B960-AE2A-9E43-B370-CD1D6A1ACE8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3474836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42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0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Relationship Id="rId22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4D3E97-5D7A-1D29-BA55-742D76C1C8C4}"/>
              </a:ext>
            </a:extLst>
          </p:cNvPr>
          <p:cNvSpPr txBox="1"/>
          <p:nvPr userDrawn="1"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7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2" r:id="rId2"/>
    <p:sldLayoutId id="2147483885" r:id="rId3"/>
    <p:sldLayoutId id="2147483877" r:id="rId4"/>
    <p:sldLayoutId id="2147483891" r:id="rId5"/>
    <p:sldLayoutId id="2147483883" r:id="rId6"/>
    <p:sldLayoutId id="2147483873" r:id="rId7"/>
    <p:sldLayoutId id="2147483888" r:id="rId8"/>
    <p:sldLayoutId id="2147483892" r:id="rId9"/>
    <p:sldLayoutId id="2147483874" r:id="rId10"/>
    <p:sldLayoutId id="2147483886" r:id="rId11"/>
    <p:sldLayoutId id="2147483889" r:id="rId12"/>
    <p:sldLayoutId id="2147483893" r:id="rId13"/>
    <p:sldLayoutId id="2147483887" r:id="rId14"/>
    <p:sldLayoutId id="2147483890" r:id="rId15"/>
    <p:sldLayoutId id="2147483880" r:id="rId16"/>
    <p:sldLayoutId id="2147483894" r:id="rId17"/>
    <p:sldLayoutId id="2147483875" r:id="rId18"/>
    <p:sldLayoutId id="2147483881" r:id="rId19"/>
    <p:sldLayoutId id="2147483882" r:id="rId20"/>
    <p:sldLayoutId id="2147483706" r:id="rId21"/>
  </p:sldLayoutIdLst>
  <mc:AlternateContent xmlns:mc="http://schemas.openxmlformats.org/markup-compatibility/2006" xmlns:p14="http://schemas.microsoft.com/office/powerpoint/2010/main">
    <mc:Choice Requires="p14">
      <p:transition p14:dur="10">
        <p:push dir="u"/>
      </p:transition>
    </mc:Choice>
    <mc:Fallback xmlns="">
      <p:transition>
        <p:push dir="u"/>
      </p:transition>
    </mc:Fallback>
  </mc:AlternateConten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ALS Gorizont Bold Expanded" panose="00000805000000000000" pitchFamily="50" charset="0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4D3E97-5D7A-1D29-BA55-742D76C1C8C4}"/>
              </a:ext>
            </a:extLst>
          </p:cNvPr>
          <p:cNvSpPr txBox="1"/>
          <p:nvPr userDrawn="1"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017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  <p:sldLayoutId id="2147483907" r:id="rId12"/>
    <p:sldLayoutId id="2147483908" r:id="rId13"/>
    <p:sldLayoutId id="2147483909" r:id="rId14"/>
    <p:sldLayoutId id="2147483910" r:id="rId15"/>
    <p:sldLayoutId id="2147483911" r:id="rId16"/>
    <p:sldLayoutId id="2147483912" r:id="rId17"/>
    <p:sldLayoutId id="2147483913" r:id="rId18"/>
    <p:sldLayoutId id="2147483914" r:id="rId19"/>
    <p:sldLayoutId id="2147483915" r:id="rId20"/>
    <p:sldLayoutId id="2147483916" r:id="rId21"/>
    <p:sldLayoutId id="2147483917" r:id="rId22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ALS Gorizont Bold Expanded" panose="00000805000000000000" pitchFamily="50" charset="0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4" Type="http://schemas.openxmlformats.org/officeDocument/2006/relationships/chart" Target="../charts/char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11" Type="http://schemas.openxmlformats.org/officeDocument/2006/relationships/image" Target="../media/image40.png"/><Relationship Id="rId10" Type="http://schemas.openxmlformats.org/officeDocument/2006/relationships/chart" Target="../charts/chart9.xml"/><Relationship Id="rId4" Type="http://schemas.openxmlformats.org/officeDocument/2006/relationships/image" Target="../media/image38.png"/><Relationship Id="rId9" Type="http://schemas.openxmlformats.org/officeDocument/2006/relationships/image" Target="../media/image3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4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5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46.jpeg"/><Relationship Id="rId4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3573" y="1860626"/>
            <a:ext cx="8629170" cy="2834319"/>
          </a:xfrm>
        </p:spPr>
        <p:txBody>
          <a:bodyPr>
            <a:no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+mn-lt"/>
              </a:rPr>
              <a:t>Статистические методы в инженерных исследованиях</a:t>
            </a:r>
            <a:br>
              <a:rPr lang="ru-RU" sz="2400" b="0" dirty="0">
                <a:solidFill>
                  <a:schemeClr val="bg1"/>
                </a:solidFill>
                <a:latin typeface="+mn-lt"/>
              </a:rPr>
            </a:br>
            <a:br>
              <a:rPr lang="ru-RU" sz="2800" b="0" dirty="0">
                <a:solidFill>
                  <a:schemeClr val="bg1"/>
                </a:solidFill>
                <a:latin typeface="+mn-lt"/>
              </a:rPr>
            </a:br>
            <a:r>
              <a:rPr lang="ru-RU" sz="2400" b="0" dirty="0">
                <a:solidFill>
                  <a:schemeClr val="bg1"/>
                </a:solidFill>
                <a:latin typeface="+mn-lt"/>
              </a:rPr>
              <a:t>Лабораторная работа 1</a:t>
            </a:r>
            <a:br>
              <a:rPr lang="ru-RU" sz="2400" b="0" dirty="0">
                <a:solidFill>
                  <a:schemeClr val="bg1"/>
                </a:solidFill>
                <a:latin typeface="+mn-lt"/>
              </a:rPr>
            </a:br>
            <a:r>
              <a:rPr lang="ru-RU" sz="2400" b="0" dirty="0">
                <a:solidFill>
                  <a:schemeClr val="bg1"/>
                </a:solidFill>
                <a:latin typeface="+mn-lt"/>
              </a:rPr>
              <a:t>Первичная обработка экспериментальных данных.</a:t>
            </a:r>
            <a:br>
              <a:rPr lang="ru-RU" sz="2400" b="0" dirty="0">
                <a:solidFill>
                  <a:schemeClr val="bg1"/>
                </a:solidFill>
                <a:latin typeface="+mn-lt"/>
              </a:rPr>
            </a:br>
            <a:r>
              <a:rPr lang="ru-RU" sz="2400" b="0" dirty="0">
                <a:solidFill>
                  <a:schemeClr val="bg1"/>
                </a:solidFill>
                <a:latin typeface="+mn-lt"/>
              </a:rPr>
              <a:t>Статистический анализ экспериментальных данных</a:t>
            </a:r>
          </a:p>
        </p:txBody>
      </p:sp>
    </p:spTree>
    <p:extLst>
      <p:ext uri="{BB962C8B-B14F-4D97-AF65-F5344CB8AC3E}">
        <p14:creationId xmlns:p14="http://schemas.microsoft.com/office/powerpoint/2010/main" val="87172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push dir="u"/>
      </p:transition>
    </mc:Choice>
    <mc:Fallback xmlns="">
      <p:transition>
        <p:push dir="u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680957" y="20626"/>
            <a:ext cx="433137" cy="276999"/>
          </a:xfrm>
          <a:prstGeom prst="rect">
            <a:avLst/>
          </a:prstGeom>
          <a:solidFill>
            <a:srgbClr val="CC00CC"/>
          </a:solidFill>
          <a:ln>
            <a:solidFill>
              <a:srgbClr val="CC00CC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2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9381" y="868297"/>
            <a:ext cx="8658144" cy="2416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ru-RU" b="1" dirty="0">
                <a:solidFill>
                  <a:srgbClr val="0070C0"/>
                </a:solidFill>
              </a:rPr>
              <a:t>Цель лабораторной работы:</a:t>
            </a:r>
            <a:r>
              <a:rPr lang="ru-RU" dirty="0"/>
              <a:t> Получить умения и отработать навыки оценивания параметров эмпирических распределений по выборке экспериментальных данных.</a:t>
            </a:r>
          </a:p>
          <a:p>
            <a:pPr algn="just">
              <a:spcBef>
                <a:spcPts val="600"/>
              </a:spcBef>
            </a:pPr>
            <a:endParaRPr lang="ru-RU" b="1" dirty="0"/>
          </a:p>
          <a:p>
            <a:pPr algn="just">
              <a:spcBef>
                <a:spcPts val="600"/>
              </a:spcBef>
            </a:pPr>
            <a:r>
              <a:rPr lang="ru-RU" b="1" dirty="0">
                <a:solidFill>
                  <a:srgbClr val="0070C0"/>
                </a:solidFill>
              </a:rPr>
              <a:t>Задачи лабораторной работы:</a:t>
            </a:r>
          </a:p>
          <a:p>
            <a:pPr marL="342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ru-RU" dirty="0"/>
              <a:t>Провести серию экспериментов (измерений).</a:t>
            </a:r>
          </a:p>
          <a:p>
            <a:pPr marL="342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ru-RU" dirty="0"/>
              <a:t>Обработать результаты измерений для идентификации закона распределения.</a:t>
            </a:r>
          </a:p>
          <a:p>
            <a:pPr marL="342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ru-RU" dirty="0"/>
              <a:t>Оформить отчет по лабораторной работе.</a:t>
            </a:r>
          </a:p>
        </p:txBody>
      </p:sp>
    </p:spTree>
    <p:extLst>
      <p:ext uri="{BB962C8B-B14F-4D97-AF65-F5344CB8AC3E}">
        <p14:creationId xmlns:p14="http://schemas.microsoft.com/office/powerpoint/2010/main" val="3273500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push dir="u"/>
      </p:transition>
    </mc:Choice>
    <mc:Fallback xmlns="">
      <p:transition>
        <p:push dir="u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680957" y="20626"/>
            <a:ext cx="433137" cy="276999"/>
          </a:xfrm>
          <a:prstGeom prst="rect">
            <a:avLst/>
          </a:prstGeom>
          <a:solidFill>
            <a:srgbClr val="CC00CC"/>
          </a:solidFill>
          <a:ln>
            <a:solidFill>
              <a:srgbClr val="CC00CC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2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9381" y="297625"/>
            <a:ext cx="6023106" cy="512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600"/>
              </a:lnSpc>
            </a:pPr>
            <a:r>
              <a:rPr lang="ru-RU" sz="1600" b="1" dirty="0">
                <a:solidFill>
                  <a:srgbClr val="0070C0"/>
                </a:solidFill>
              </a:rPr>
              <a:t>Пример 1. Обработка результатов измерений</a:t>
            </a:r>
            <a:endParaRPr lang="en-US" sz="1600" b="1" dirty="0">
              <a:solidFill>
                <a:srgbClr val="0070C0"/>
              </a:solidFill>
            </a:endParaRPr>
          </a:p>
          <a:p>
            <a:pPr algn="just">
              <a:lnSpc>
                <a:spcPts val="1600"/>
              </a:lnSpc>
            </a:pPr>
            <a:r>
              <a:rPr lang="ru-RU" sz="1600" b="1" dirty="0">
                <a:solidFill>
                  <a:srgbClr val="0070C0"/>
                </a:solidFill>
              </a:rPr>
              <a:t>для идентификации закона распределения</a:t>
            </a:r>
            <a:endParaRPr lang="ru-RU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Таблица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4299358"/>
                  </p:ext>
                </p:extLst>
              </p:nvPr>
            </p:nvGraphicFramePr>
            <p:xfrm>
              <a:off x="300853" y="1942108"/>
              <a:ext cx="3888000" cy="24964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192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190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Таблица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4299358"/>
                  </p:ext>
                </p:extLst>
              </p:nvPr>
            </p:nvGraphicFramePr>
            <p:xfrm>
              <a:off x="300853" y="1942108"/>
              <a:ext cx="3888000" cy="241134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417600"/>
                    <a:gridCol w="360000"/>
                    <a:gridCol w="417600"/>
                    <a:gridCol w="360000"/>
                    <a:gridCol w="417600"/>
                    <a:gridCol w="360000"/>
                    <a:gridCol w="417600"/>
                    <a:gridCol w="360000"/>
                    <a:gridCol w="417600"/>
                  </a:tblGrid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  <a:endParaRPr lang="ru-RU" sz="12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85507" t="-18919" r="-740580" b="-9945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  <a:endParaRPr lang="ru-RU" sz="12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75000" t="-18919" r="-564706" b="-9945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  <a:endParaRPr lang="ru-RU" sz="12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455072" t="-18919" r="-371014" b="-9945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  <a:endParaRPr lang="ru-RU" sz="12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650000" t="-18919" r="-189706" b="-9945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  <a:endParaRPr lang="ru-RU" sz="12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824638" t="-18919" r="-1449" b="-994595"/>
                          </a:stretch>
                        </a:blipFill>
                      </a:tcPr>
                    </a:tc>
                  </a:tr>
                  <a:tr h="218440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  <a:tr h="218440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  <a:tr h="218440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  <a:tr h="218440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  <a:tr h="218440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  <a:tr h="218440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  <a:tr h="218440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192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  <a:tr h="218440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  <a:tr h="218440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  <a:tr h="218440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190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39380" y="1111703"/>
                <a:ext cx="8658145" cy="50270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600"/>
                  </a:lnSpc>
                  <a:spcBef>
                    <a:spcPts val="1200"/>
                  </a:spcBef>
                </a:pPr>
                <a:r>
                  <a:rPr lang="ru-RU" sz="1400" b="1" dirty="0"/>
                  <a:t>Дано: </a:t>
                </a:r>
                <a:r>
                  <a:rPr lang="ru-RU" sz="1400" dirty="0"/>
                  <a:t>В результате проведения</a:t>
                </a:r>
                <a:r>
                  <a:rPr lang="en-US" sz="1400" dirty="0"/>
                  <a:t> </a:t>
                </a:r>
                <a:r>
                  <a:rPr lang="ru-RU" sz="1400" dirty="0"/>
                  <a:t>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/>
                      </a:rPr>
                      <m:t>𝑛</m:t>
                    </m:r>
                    <m:r>
                      <a:rPr lang="en-US" sz="1400" b="0" i="1" smtClean="0">
                        <a:latin typeface="Cambria Math"/>
                      </a:rPr>
                      <m:t>=50</m:t>
                    </m:r>
                  </m:oMath>
                </a14:m>
                <a:r>
                  <a:rPr lang="ru-RU" sz="1400" dirty="0"/>
                  <a:t> </a:t>
                </a:r>
                <a:r>
                  <a:rPr lang="en-US" sz="1400" dirty="0"/>
                  <a:t> </a:t>
                </a:r>
                <a:r>
                  <a:rPr lang="ru-RU" sz="1400" dirty="0"/>
                  <a:t>измерений были получены экспериментальные данные, представленные в таблице 3.1. 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380" y="1111703"/>
                <a:ext cx="8658145" cy="502702"/>
              </a:xfrm>
              <a:prstGeom prst="rect">
                <a:avLst/>
              </a:prstGeom>
              <a:blipFill rotWithShape="1">
                <a:blip r:embed="rId4"/>
                <a:stretch>
                  <a:fillRect l="-141" t="-2410" b="-108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4863993" y="1803796"/>
            <a:ext cx="3972646" cy="224676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400" b="1" dirty="0"/>
              <a:t>Выполнить:</a:t>
            </a:r>
            <a:r>
              <a:rPr lang="ru-RU" sz="1400" dirty="0"/>
              <a:t> Обработать результаты измерений,</a:t>
            </a:r>
          </a:p>
          <a:p>
            <a:pPr>
              <a:lnSpc>
                <a:spcPts val="1600"/>
              </a:lnSpc>
            </a:pPr>
            <a:r>
              <a:rPr lang="ru-RU" sz="1400" dirty="0"/>
              <a:t>в том числе:</a:t>
            </a:r>
          </a:p>
          <a:p>
            <a:pPr marL="342900" indent="-342900" algn="just">
              <a:lnSpc>
                <a:spcPts val="1600"/>
              </a:lnSpc>
              <a:spcBef>
                <a:spcPts val="600"/>
              </a:spcBef>
              <a:buFont typeface="+mj-lt"/>
              <a:buAutoNum type="arabicPeriod"/>
            </a:pPr>
            <a:r>
              <a:rPr lang="ru-RU" sz="1400" dirty="0"/>
              <a:t>Определить значения характеристик эмпирического распределения.</a:t>
            </a:r>
          </a:p>
          <a:p>
            <a:pPr marL="342900" indent="-342900" algn="just">
              <a:lnSpc>
                <a:spcPts val="1600"/>
              </a:lnSpc>
              <a:spcBef>
                <a:spcPts val="600"/>
              </a:spcBef>
              <a:buFont typeface="+mj-lt"/>
              <a:buAutoNum type="arabicPeriod"/>
            </a:pPr>
            <a:r>
              <a:rPr lang="ru-RU" sz="1400" dirty="0"/>
              <a:t>Осуществить выбор теоретического закона распределения.</a:t>
            </a:r>
          </a:p>
          <a:p>
            <a:pPr marL="342900" indent="-342900" algn="just">
              <a:lnSpc>
                <a:spcPts val="1600"/>
              </a:lnSpc>
              <a:spcBef>
                <a:spcPts val="600"/>
              </a:spcBef>
              <a:buFont typeface="+mj-lt"/>
              <a:buAutoNum type="arabicPeriod"/>
            </a:pPr>
            <a:r>
              <a:rPr lang="ru-RU" sz="1400" dirty="0"/>
              <a:t>Провести проверку гипотезы о соответствии эмпирического распределения выбранному теоретическому закону распределения.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940" y="1614405"/>
            <a:ext cx="3972646" cy="2975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400" dirty="0"/>
              <a:t>Таблица 3.1.</a:t>
            </a:r>
          </a:p>
        </p:txBody>
      </p:sp>
    </p:spTree>
    <p:extLst>
      <p:ext uri="{BB962C8B-B14F-4D97-AF65-F5344CB8AC3E}">
        <p14:creationId xmlns:p14="http://schemas.microsoft.com/office/powerpoint/2010/main" val="3240201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push dir="u"/>
      </p:transition>
    </mc:Choice>
    <mc:Fallback xmlns="">
      <p:transition>
        <p:push dir="u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680957" y="20626"/>
            <a:ext cx="433137" cy="276999"/>
          </a:xfrm>
          <a:prstGeom prst="rect">
            <a:avLst/>
          </a:prstGeom>
          <a:solidFill>
            <a:srgbClr val="CC00CC"/>
          </a:solidFill>
          <a:ln>
            <a:solidFill>
              <a:srgbClr val="CC00CC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2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3573" y="983556"/>
            <a:ext cx="8643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/>
              <a:t>1. Сформировать упорядоченную статистическую выборку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Таблица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7558913"/>
                  </p:ext>
                </p:extLst>
              </p:nvPr>
            </p:nvGraphicFramePr>
            <p:xfrm>
              <a:off x="300853" y="1942108"/>
              <a:ext cx="3888000" cy="24964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192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190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Таблица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7558913"/>
                  </p:ext>
                </p:extLst>
              </p:nvPr>
            </p:nvGraphicFramePr>
            <p:xfrm>
              <a:off x="300853" y="1942108"/>
              <a:ext cx="3888000" cy="2402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417600"/>
                    <a:gridCol w="360000"/>
                    <a:gridCol w="417600"/>
                    <a:gridCol w="360000"/>
                    <a:gridCol w="417600"/>
                    <a:gridCol w="360000"/>
                    <a:gridCol w="417600"/>
                    <a:gridCol w="360000"/>
                    <a:gridCol w="417600"/>
                  </a:tblGrid>
                  <a:tr h="2184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  <a:endParaRPr lang="ru-RU" sz="12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85507" t="-19444" r="-740580" b="-10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  <a:endParaRPr lang="ru-RU" sz="12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75000" t="-19444" r="-564706" b="-10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  <a:endParaRPr lang="ru-RU" sz="12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455072" t="-19444" r="-371014" b="-10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  <a:endParaRPr lang="ru-RU" sz="12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650000" t="-19444" r="-189706" b="-10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  <a:endParaRPr lang="ru-RU" sz="12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824638" t="-19444" r="-1449" b="-1022222"/>
                          </a:stretch>
                        </a:blipFill>
                      </a:tcPr>
                    </a:tc>
                  </a:tr>
                  <a:tr h="218440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  <a:tr h="218440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  <a:tr h="218440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  <a:tr h="218440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  <a:tr h="218440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  <a:tr h="218440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  <a:tr h="218440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192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  <a:tr h="218440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  <a:tr h="218440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  <a:tr h="218440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190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Таблица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4508538"/>
                  </p:ext>
                </p:extLst>
              </p:nvPr>
            </p:nvGraphicFramePr>
            <p:xfrm>
              <a:off x="5009525" y="1942108"/>
              <a:ext cx="3888000" cy="24964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r>
                            <a:rPr lang="ru-RU" sz="1200" b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</a:t>
                          </a: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</a:t>
                          </a:r>
                          <a:r>
                            <a:rPr lang="ru-RU" sz="1200" b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r>
                            <a:rPr lang="ru-RU" sz="1200" b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</a:t>
                          </a:r>
                          <a:r>
                            <a:rPr lang="ru-RU" sz="1200" b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</a:t>
                          </a:r>
                          <a:r>
                            <a:rPr lang="ru-RU" sz="1200" b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r>
                            <a:rPr lang="ru-RU" sz="1200" b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r>
                            <a:rPr lang="ru-RU" sz="1200" b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r>
                            <a:rPr lang="ru-RU" sz="1200" b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190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192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Таблица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4508538"/>
                  </p:ext>
                </p:extLst>
              </p:nvPr>
            </p:nvGraphicFramePr>
            <p:xfrm>
              <a:off x="5009525" y="1942108"/>
              <a:ext cx="3888000" cy="24964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6957" t="-18919" r="-743478" b="-10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2464" t="-18919" r="-557971" b="-10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64706" t="-18919" r="-379412" b="-10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52941" t="-18919" r="-191176" b="-10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27536" t="-18919" r="-2899" b="-10324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r>
                            <a:rPr lang="ru-RU" sz="1200" b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</a:t>
                          </a: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</a:t>
                          </a:r>
                          <a:r>
                            <a:rPr lang="ru-RU" sz="1200" b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r>
                            <a:rPr lang="ru-RU" sz="1200" b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</a:t>
                          </a:r>
                          <a:r>
                            <a:rPr lang="ru-RU" sz="1200" b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</a:t>
                          </a:r>
                          <a:r>
                            <a:rPr lang="ru-RU" sz="1200" b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r>
                            <a:rPr lang="ru-RU" sz="1200" b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r>
                            <a:rPr lang="ru-RU" sz="1200" b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r>
                            <a:rPr lang="ru-RU" sz="1200" b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190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000"/>
                            </a:lnSpc>
                          </a:pP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192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/>
          <p:cNvSpPr txBox="1"/>
          <p:nvPr/>
        </p:nvSpPr>
        <p:spPr>
          <a:xfrm>
            <a:off x="266940" y="1614405"/>
            <a:ext cx="3972646" cy="2975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400" dirty="0"/>
              <a:t>Таблица 4.1.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68286" y="1606198"/>
            <a:ext cx="3972646" cy="2975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400" dirty="0"/>
              <a:t>Таблица 4.2.</a:t>
            </a:r>
          </a:p>
        </p:txBody>
      </p:sp>
      <p:sp>
        <p:nvSpPr>
          <p:cNvPr id="11" name="Стрелка вправо 10"/>
          <p:cNvSpPr/>
          <p:nvPr/>
        </p:nvSpPr>
        <p:spPr>
          <a:xfrm>
            <a:off x="4295375" y="2935301"/>
            <a:ext cx="657543" cy="57630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9620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push dir="u"/>
      </p:transition>
    </mc:Choice>
    <mc:Fallback xmlns="">
      <p:transition>
        <p:push dir="u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680957" y="20626"/>
            <a:ext cx="433137" cy="276999"/>
          </a:xfrm>
          <a:prstGeom prst="rect">
            <a:avLst/>
          </a:prstGeom>
          <a:solidFill>
            <a:srgbClr val="CC00CC"/>
          </a:solidFill>
          <a:ln>
            <a:solidFill>
              <a:srgbClr val="CC00CC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200" b="1" dirty="0">
                <a:solidFill>
                  <a:schemeClr val="bg1"/>
                </a:solidFill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68941" y="607040"/>
                <a:ext cx="8698326" cy="25930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ts val="1400"/>
                  </a:lnSpc>
                  <a:spcBef>
                    <a:spcPts val="300"/>
                  </a:spcBef>
                </a:pPr>
                <a:r>
                  <a:rPr lang="ru-RU" sz="1400" b="1" dirty="0"/>
                  <a:t>2. Провести построение </a:t>
                </a:r>
                <a:r>
                  <a:rPr lang="ru-RU" sz="1400" b="1" dirty="0" err="1"/>
                  <a:t>кумуляты</a:t>
                </a:r>
                <a:r>
                  <a:rPr lang="ru-RU" sz="1400" b="1" dirty="0"/>
                  <a:t> и гистограммы относительных частот</a:t>
                </a:r>
              </a:p>
              <a:p>
                <a:pPr algn="just">
                  <a:lnSpc>
                    <a:spcPts val="1400"/>
                  </a:lnSpc>
                  <a:spcBef>
                    <a:spcPts val="300"/>
                  </a:spcBef>
                </a:pPr>
                <a:r>
                  <a:rPr lang="ru-RU" sz="1400" dirty="0"/>
                  <a:t>2.1. Найти наибольшее и наименьшее значение исходных данных: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1400" b="0" i="1" smtClean="0">
                            <a:latin typeface="Cambria Math"/>
                          </a:rPr>
                          <m:t>𝑚𝑖𝑛</m:t>
                        </m:r>
                      </m:sub>
                    </m:sSub>
                    <m:r>
                      <a:rPr lang="en-US" sz="1400" b="0" i="1" smtClean="0">
                        <a:latin typeface="Cambria Math"/>
                      </a:rPr>
                      <m:t>=170</m:t>
                    </m:r>
                    <m:r>
                      <a:rPr lang="en-US" sz="1400" b="0" i="0" smtClean="0">
                        <a:latin typeface="Cambria Math"/>
                      </a:rPr>
                      <m:t>; 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1400" b="0" i="1" smtClean="0">
                            <a:latin typeface="Cambria Math"/>
                          </a:rPr>
                          <m:t>𝑚𝑎𝑥</m:t>
                        </m:r>
                      </m:sub>
                    </m:sSub>
                    <m:r>
                      <a:rPr lang="en-US" sz="1400" b="0" i="1" smtClean="0">
                        <a:latin typeface="Cambria Math"/>
                      </a:rPr>
                      <m:t>=192</m:t>
                    </m:r>
                  </m:oMath>
                </a14:m>
                <a:r>
                  <a:rPr lang="ru-RU" sz="1400" dirty="0"/>
                  <a:t>.</a:t>
                </a:r>
                <a:endParaRPr lang="en-US" sz="1400" dirty="0"/>
              </a:p>
              <a:p>
                <a:pPr algn="just">
                  <a:lnSpc>
                    <a:spcPts val="1400"/>
                  </a:lnSpc>
                  <a:spcBef>
                    <a:spcPts val="300"/>
                  </a:spcBef>
                </a:pPr>
                <a:r>
                  <a:rPr lang="en-US" sz="1400" dirty="0"/>
                  <a:t>2</a:t>
                </a:r>
                <a:r>
                  <a:rPr lang="ru-RU" sz="1400" dirty="0"/>
                  <a:t>.</a:t>
                </a:r>
                <a:r>
                  <a:rPr lang="en-US" sz="1400" dirty="0"/>
                  <a:t>2</a:t>
                </a:r>
                <a:r>
                  <a:rPr lang="ru-RU" sz="1400" dirty="0"/>
                  <a:t>. Определить размах варьирования выборки: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𝑹</m:t>
                        </m:r>
                        <m:r>
                          <a:rPr lang="en-US" sz="14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𝒎</m:t>
                        </m:r>
                        <m:r>
                          <a:rPr lang="en-US" sz="14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𝒂𝒙</m:t>
                        </m:r>
                      </m:sub>
                    </m:sSub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1400" b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sz="1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𝒎𝒂𝒙</m:t>
                        </m:r>
                      </m:sub>
                    </m:sSub>
                  </m:oMath>
                </a14:m>
                <a:r>
                  <a:rPr lang="en-US" sz="1400" b="1" dirty="0">
                    <a:solidFill>
                      <a:srgbClr val="0070C0"/>
                    </a:solidFill>
                  </a:rPr>
                  <a:t>           </a:t>
                </a:r>
                <a:r>
                  <a:rPr lang="en-US" sz="1400" b="1" dirty="0">
                    <a:solidFill>
                      <a:schemeClr val="tx1"/>
                    </a:solidFill>
                  </a:rPr>
                  <a:t>                    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/>
                      </a:rPr>
                      <m:t>𝑅</m:t>
                    </m:r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/>
                      </a:rPr>
                      <m:t>192−170=22</m:t>
                    </m:r>
                    <m:r>
                      <a:rPr lang="ru-RU" sz="1400" b="0" i="1" smtClean="0">
                        <a:solidFill>
                          <a:schemeClr val="tx1"/>
                        </a:solidFill>
                        <a:latin typeface="Cambria Math"/>
                      </a:rPr>
                      <m:t>.</m:t>
                    </m:r>
                  </m:oMath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 algn="just">
                  <a:lnSpc>
                    <a:spcPts val="1400"/>
                  </a:lnSpc>
                  <a:spcBef>
                    <a:spcPts val="300"/>
                  </a:spcBef>
                </a:pPr>
                <a:r>
                  <a:rPr lang="en-US" sz="1400" dirty="0"/>
                  <a:t>2</a:t>
                </a:r>
                <a:r>
                  <a:rPr lang="ru-RU" sz="1400" dirty="0"/>
                  <a:t>.3. Определить количество интервалов группирования: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/>
                      </a:rPr>
                      <m:t>𝟑</m:t>
                    </m:r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/>
                      </a:rPr>
                      <m:t>𝟑</m:t>
                    </m:r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/>
                      </a:rPr>
                      <m:t>𝒍𝒈𝒏</m:t>
                    </m:r>
                  </m:oMath>
                </a14:m>
                <a:r>
                  <a:rPr lang="en-US" sz="1400" b="1" dirty="0">
                    <a:solidFill>
                      <a:srgbClr val="0070C0"/>
                    </a:solidFill>
                  </a:rPr>
                  <a:t>                    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/>
                      </a:rPr>
                      <m:t>𝑘</m:t>
                    </m:r>
                    <m:r>
                      <a:rPr lang="en-US" sz="1400" i="1">
                        <a:latin typeface="Cambria Math"/>
                      </a:rPr>
                      <m:t>=1+3,3</m:t>
                    </m:r>
                    <m:r>
                      <a:rPr lang="en-US" sz="1400" b="0" i="1" smtClean="0">
                        <a:latin typeface="Cambria Math"/>
                      </a:rPr>
                      <m:t>𝑙𝑔</m:t>
                    </m:r>
                    <m:r>
                      <a:rPr lang="en-US" sz="1400" b="0" i="1" smtClean="0">
                        <a:latin typeface="Cambria Math"/>
                      </a:rPr>
                      <m:t>50=6,6</m:t>
                    </m:r>
                  </m:oMath>
                </a14:m>
                <a:r>
                  <a:rPr lang="ru-RU" sz="1400" dirty="0"/>
                  <a:t>.</a:t>
                </a:r>
              </a:p>
              <a:p>
                <a:pPr algn="just">
                  <a:lnSpc>
                    <a:spcPts val="1400"/>
                  </a:lnSpc>
                  <a:spcBef>
                    <a:spcPts val="300"/>
                  </a:spcBef>
                </a:pPr>
                <a:r>
                  <a:rPr lang="ru-RU" sz="1400" i="1" dirty="0"/>
                  <a:t>Принимаем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</a:rPr>
                      <m:t>𝒌</m:t>
                    </m:r>
                    <m:r>
                      <a:rPr lang="en-US" sz="1400" b="1" i="1" smtClean="0">
                        <a:latin typeface="Cambria Math"/>
                      </a:rPr>
                      <m:t>=</m:t>
                    </m:r>
                    <m:r>
                      <a:rPr lang="en-US" sz="1400" b="1" i="1" smtClean="0">
                        <a:latin typeface="Cambria Math"/>
                      </a:rPr>
                      <m:t>𝟔</m:t>
                    </m:r>
                    <m:r>
                      <a:rPr lang="ru-RU" sz="1400" b="0" i="1" smtClean="0">
                        <a:latin typeface="Cambria Math"/>
                      </a:rPr>
                      <m:t>.</m:t>
                    </m:r>
                  </m:oMath>
                </a14:m>
                <a:endParaRPr lang="ru-RU" sz="1400" i="1" dirty="0"/>
              </a:p>
              <a:p>
                <a:pPr algn="just">
                  <a:lnSpc>
                    <a:spcPts val="1400"/>
                  </a:lnSpc>
                  <a:spcBef>
                    <a:spcPts val="300"/>
                  </a:spcBef>
                </a:pPr>
                <a:r>
                  <a:rPr lang="ru-RU" sz="1400" dirty="0"/>
                  <a:t>2.4. Определить величину интервала группирования: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∆</m:t>
                    </m:r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sz="1400" b="1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1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𝑹</m:t>
                        </m:r>
                      </m:num>
                      <m:den>
                        <m:r>
                          <a:rPr lang="en-US" sz="14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</m:den>
                    </m:f>
                  </m:oMath>
                </a14:m>
                <a:r>
                  <a:rPr lang="en-US" sz="1400" b="1" dirty="0">
                    <a:solidFill>
                      <a:srgbClr val="0070C0"/>
                    </a:solidFill>
                  </a:rPr>
                  <a:t>                                   </a:t>
                </a:r>
                <a14:m>
                  <m:oMath xmlns:m="http://schemas.openxmlformats.org/officeDocument/2006/math">
                    <m:r>
                      <a:rPr lang="en-US" sz="1400" b="1" i="0" smtClean="0">
                        <a:latin typeface="Cambria Math"/>
                      </a:rPr>
                      <m:t>   </m:t>
                    </m:r>
                    <m:r>
                      <a:rPr lang="en-US" sz="1400" i="1" smtClean="0">
                        <a:latin typeface="Cambria Math"/>
                        <a:ea typeface="Cambria Math"/>
                      </a:rPr>
                      <m:t>∆</m:t>
                    </m:r>
                    <m:r>
                      <a:rPr lang="en-US" sz="1400" b="0" i="1" smtClean="0">
                        <a:latin typeface="Cambria Math"/>
                        <a:ea typeface="Cambria Math"/>
                      </a:rPr>
                      <m:t>𝑥</m:t>
                    </m:r>
                    <m:r>
                      <a:rPr lang="en-US" sz="1400" i="1">
                        <a:latin typeface="Cambria Math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latin typeface="Cambria Math"/>
                          </a:rPr>
                          <m:t>22</m:t>
                        </m:r>
                      </m:num>
                      <m:den>
                        <m:r>
                          <a:rPr lang="en-US" sz="1400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US" sz="1400" i="1">
                        <a:latin typeface="Cambria Math"/>
                      </a:rPr>
                      <m:t>=</m:t>
                    </m:r>
                    <m:r>
                      <a:rPr lang="en-US" sz="1400" b="0" i="1" smtClean="0">
                        <a:latin typeface="Cambria Math"/>
                      </a:rPr>
                      <m:t>3</m:t>
                    </m:r>
                    <m:r>
                      <a:rPr lang="en-US" sz="1400" i="1">
                        <a:latin typeface="Cambria Math"/>
                      </a:rPr>
                      <m:t>,6</m:t>
                    </m:r>
                    <m:r>
                      <a:rPr lang="ru-RU" sz="1400" b="0" i="0" smtClean="0">
                        <a:latin typeface="Cambria Math"/>
                      </a:rPr>
                      <m:t>.</m:t>
                    </m:r>
                  </m:oMath>
                </a14:m>
                <a:endParaRPr lang="ru-RU" sz="1400" b="0" dirty="0"/>
              </a:p>
              <a:p>
                <a:pPr algn="just">
                  <a:lnSpc>
                    <a:spcPts val="1400"/>
                  </a:lnSpc>
                  <a:spcBef>
                    <a:spcPts val="300"/>
                  </a:spcBef>
                </a:pPr>
                <a:r>
                  <a:rPr lang="ru-RU" sz="1400" i="1" dirty="0"/>
                  <a:t>Принимаем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  <a:ea typeface="Cambria Math"/>
                      </a:rPr>
                      <m:t>∆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sz="1400" b="1" i="1">
                        <a:latin typeface="Cambria Math"/>
                      </a:rPr>
                      <m:t>=</m:t>
                    </m:r>
                    <m:r>
                      <a:rPr lang="en-US" sz="1400" b="1" i="1" smtClean="0">
                        <a:latin typeface="Cambria Math"/>
                      </a:rPr>
                      <m:t>𝟒</m:t>
                    </m:r>
                    <m:r>
                      <a:rPr lang="ru-RU" sz="1400" i="1">
                        <a:latin typeface="Cambria Math"/>
                      </a:rPr>
                      <m:t>.</m:t>
                    </m:r>
                  </m:oMath>
                </a14:m>
                <a:endParaRPr lang="ru-RU" sz="1400" i="1" dirty="0"/>
              </a:p>
              <a:p>
                <a:pPr algn="just">
                  <a:lnSpc>
                    <a:spcPts val="1400"/>
                  </a:lnSpc>
                  <a:spcBef>
                    <a:spcPts val="300"/>
                  </a:spcBef>
                </a:pPr>
                <a:r>
                  <a:rPr lang="ru-RU" sz="1400" dirty="0"/>
                  <a:t>2.5. Определить центр распределения выборки: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ru-RU" sz="14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Ц</m:t>
                        </m:r>
                      </m:sub>
                    </m:sSub>
                    <m:r>
                      <a:rPr lang="ru-RU" sz="1400" b="1" i="1" smtClean="0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f>
                      <m:fPr>
                        <m:type m:val="lin"/>
                        <m:ctrlPr>
                          <a:rPr lang="ru-RU" sz="1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ru-RU" sz="14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00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𝒎𝒂𝒙</m:t>
                            </m:r>
                          </m:sub>
                        </m:sSub>
                        <m:r>
                          <a:rPr lang="en-US" sz="14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sz="14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00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𝒎𝒊𝒏</m:t>
                            </m:r>
                          </m:sub>
                        </m:sSub>
                        <m:r>
                          <a:rPr lang="en-US" sz="14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)</m:t>
                        </m:r>
                      </m:num>
                      <m:den>
                        <m:r>
                          <a:rPr lang="en-US" sz="14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sz="1400" dirty="0"/>
                  <a:t>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 sz="1400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Ц</m:t>
                        </m:r>
                      </m:sub>
                    </m:sSub>
                    <m:r>
                      <a:rPr lang="ru-RU" sz="1400" b="0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f>
                      <m:fPr>
                        <m:type m:val="lin"/>
                        <m:ctrlPr>
                          <a:rPr lang="ru-RU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(192+170)</m:t>
                        </m:r>
                      </m:num>
                      <m:den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2=181.</m:t>
                        </m:r>
                      </m:den>
                    </m:f>
                  </m:oMath>
                </a14:m>
                <a:endParaRPr lang="en-US" sz="1400" i="1" dirty="0"/>
              </a:p>
              <a:p>
                <a:pPr algn="just">
                  <a:lnSpc>
                    <a:spcPts val="1400"/>
                  </a:lnSpc>
                  <a:spcBef>
                    <a:spcPts val="300"/>
                  </a:spcBef>
                </a:pPr>
                <a:r>
                  <a:rPr lang="en-US" sz="1400" dirty="0"/>
                  <a:t>2</a:t>
                </a:r>
                <a:r>
                  <a:rPr lang="ru-RU" sz="1400" dirty="0"/>
                  <a:t>.6. Провести расчет значений границ и середины интервалов, частот, относительных и накопленных частот, функции распределения (накопленных относительных частот), плотности частот и распределения частот (относительных частот).</a:t>
                </a:r>
                <a:r>
                  <a:rPr lang="en-US" sz="1400" dirty="0"/>
                  <a:t> </a:t>
                </a:r>
                <a:endParaRPr lang="ru-RU" sz="1400" dirty="0"/>
              </a:p>
              <a:p>
                <a:pPr algn="just">
                  <a:lnSpc>
                    <a:spcPts val="1400"/>
                  </a:lnSpc>
                  <a:spcBef>
                    <a:spcPts val="300"/>
                  </a:spcBef>
                </a:pPr>
                <a:r>
                  <a:rPr lang="ru-RU" sz="1400" dirty="0"/>
                  <a:t>Таблица 5.1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41" y="607040"/>
                <a:ext cx="8698326" cy="2593018"/>
              </a:xfrm>
              <a:prstGeom prst="rect">
                <a:avLst/>
              </a:prstGeom>
              <a:blipFill rotWithShape="1">
                <a:blip r:embed="rId3"/>
                <a:stretch>
                  <a:fillRect l="-140" t="-1412" r="-280" b="-16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Таблица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7003218"/>
                  </p:ext>
                </p:extLst>
              </p:nvPr>
            </p:nvGraphicFramePr>
            <p:xfrm>
              <a:off x="268936" y="3196798"/>
              <a:ext cx="8628589" cy="18499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151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725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0671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7608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17565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10650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329338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075764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1044442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</a:tblGrid>
                  <a:tr h="46708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0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Границы интервалов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ts val="1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0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Середины интервалов</a:t>
                          </a:r>
                          <a:r>
                            <a:rPr lang="en-US" sz="10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ru-RU" sz="1000" b="1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000" b="1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000" b="1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𝑗</m:t>
                                  </m:r>
                                </m:sub>
                                <m:sup/>
                              </m:sSubSup>
                            </m:oMath>
                          </a14:m>
                          <a:endParaRPr lang="ru-RU" sz="10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0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Частоты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𝑗</m:t>
                                  </m:r>
                                </m:sub>
                              </m:sSub>
                            </m:oMath>
                          </a14:m>
                          <a:endParaRPr lang="ru-RU" sz="10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000" b="0" i="1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Относительные частоты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0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=</m:t>
                              </m:r>
                              <m:f>
                                <m:fPr>
                                  <m:type m:val="lin"/>
                                  <m:ctrlP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1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𝑗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</m:den>
                              </m:f>
                            </m:oMath>
                          </a14:m>
                          <a:endParaRPr lang="ru-RU" sz="10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ts val="1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0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Накопленные частоты</a:t>
                          </a:r>
                          <a:endParaRPr lang="en-US" sz="10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  <a:p>
                          <a:pPr marL="0" marR="0" indent="0" algn="ctr" defTabSz="457200" rtl="0" eaLnBrk="1" fontAlgn="auto" latinLnBrk="0" hangingPunct="1">
                            <a:lnSpc>
                              <a:spcPts val="1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ru-RU" sz="1000" b="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000" b="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000" b="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1000" b="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𝛴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sz="10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 </a:t>
                          </a:r>
                          <a:endParaRPr lang="ru-RU" sz="10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000" b="0" i="0" u="none" strike="noStrike" kern="1200" baseline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Значения функции распределения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0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=</m:t>
                              </m:r>
                              <m:f>
                                <m:fPr>
                                  <m:type m:val="lin"/>
                                  <m:ctrlP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ru-RU" sz="1000" b="1" i="1" kern="12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000" b="0" i="1" kern="12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/>
                                          <a:ea typeface="+mn-ea"/>
                                          <a:cs typeface="+mn-cs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1000" b="1" i="1" kern="12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/>
                                          <a:ea typeface="+mn-ea"/>
                                          <a:cs typeface="+mn-cs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sz="1000" b="1" i="1" kern="12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/>
                                          <a:ea typeface="+mn-ea"/>
                                          <a:cs typeface="+mn-cs"/>
                                        </a:rPr>
                                        <m:t>𝛴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</m:den>
                              </m:f>
                            </m:oMath>
                          </a14:m>
                          <a:endParaRPr lang="ru-RU" sz="10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0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Плотность частот</a:t>
                          </a:r>
                          <a:endParaRPr lang="en-US" sz="10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∆</m:t>
                                    </m:r>
                                    <m: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𝑥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ru-RU" sz="10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0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Плотность распределения</a:t>
                          </a:r>
                        </a:p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∆</m:t>
                                    </m:r>
                                    <m: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𝑥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ru-RU" sz="10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170-174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0,12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6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0,12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,50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0,03</a:t>
                          </a:r>
                          <a:r>
                            <a:rPr lang="en-US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174-178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0,22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0,34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2,75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0,050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178-182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0,40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37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0,74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5,00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0,100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182-186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0,16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45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0,90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2,00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0,040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186-190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0,08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49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0,98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1,00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0,020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190-194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192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0,02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50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1,00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0,25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0,005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Таблица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7003218"/>
                  </p:ext>
                </p:extLst>
              </p:nvPr>
            </p:nvGraphicFramePr>
            <p:xfrm>
              <a:off x="268936" y="3196798"/>
              <a:ext cx="8628589" cy="184661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1512"/>
                    <a:gridCol w="872571"/>
                    <a:gridCol w="906716"/>
                    <a:gridCol w="776088"/>
                    <a:gridCol w="1175657"/>
                    <a:gridCol w="1106501"/>
                    <a:gridCol w="1329338"/>
                    <a:gridCol w="1075764"/>
                    <a:gridCol w="1044442"/>
                  </a:tblGrid>
                  <a:tr h="4851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0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Границы интервалов</a:t>
                          </a:r>
                          <a:endParaRPr lang="ru-RU" sz="10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33557" t="-2500" r="-716779" b="-28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74016" t="-2500" r="-740945" b="-28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46114" t="-2500" r="-387565" b="-28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67033" t="-2500" r="-310989" b="-28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89908" t="-2500" r="-159633" b="-28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603390" t="-2500" r="-96610" b="-28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728070" t="-2500" b="-283750"/>
                          </a:stretch>
                        </a:blipFill>
                      </a:tcPr>
                    </a:tc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170-174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172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6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0,12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6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0,12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,50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0,03</a:t>
                          </a:r>
                          <a:r>
                            <a:rPr lang="en-US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174-178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176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11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0,22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0,34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2,75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0,050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178-182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180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20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0,40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37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0,74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5,00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0,100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182-186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184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0,16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45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0,90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2,00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0,040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186-190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188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0,08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49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0,98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1,00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0,020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6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190-194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192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0,02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50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1,00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0,25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0,005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80212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push dir="u"/>
      </p:transition>
    </mc:Choice>
    <mc:Fallback xmlns="">
      <p:transition>
        <p:push dir="u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680957" y="20626"/>
            <a:ext cx="433137" cy="276999"/>
          </a:xfrm>
          <a:prstGeom prst="rect">
            <a:avLst/>
          </a:prstGeom>
          <a:solidFill>
            <a:srgbClr val="CC00CC"/>
          </a:solidFill>
          <a:ln>
            <a:solidFill>
              <a:srgbClr val="CC00CC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200" b="1" dirty="0">
                <a:solidFill>
                  <a:schemeClr val="bg1"/>
                </a:solidFill>
              </a:rPr>
              <a:t>6</a:t>
            </a:r>
          </a:p>
        </p:txBody>
      </p:sp>
      <p:graphicFrame>
        <p:nvGraphicFramePr>
          <p:cNvPr id="6" name="Диаграмма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9625893"/>
              </p:ext>
            </p:extLst>
          </p:nvPr>
        </p:nvGraphicFramePr>
        <p:xfrm>
          <a:off x="265100" y="693005"/>
          <a:ext cx="3792070" cy="21808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Диаграмма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5469187"/>
              </p:ext>
            </p:extLst>
          </p:nvPr>
        </p:nvGraphicFramePr>
        <p:xfrm>
          <a:off x="4833258" y="732026"/>
          <a:ext cx="3757492" cy="21418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Диаграмма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8816997"/>
              </p:ext>
            </p:extLst>
          </p:nvPr>
        </p:nvGraphicFramePr>
        <p:xfrm>
          <a:off x="4833258" y="2675484"/>
          <a:ext cx="3911171" cy="21905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65100" y="4748733"/>
            <a:ext cx="86324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Рисунок 6.1</a:t>
            </a:r>
          </a:p>
        </p:txBody>
      </p:sp>
      <p:graphicFrame>
        <p:nvGraphicFramePr>
          <p:cNvPr id="10" name="Диаграмма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0694422"/>
              </p:ext>
            </p:extLst>
          </p:nvPr>
        </p:nvGraphicFramePr>
        <p:xfrm>
          <a:off x="265100" y="2589520"/>
          <a:ext cx="3930382" cy="23131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4054875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push dir="u"/>
      </p:transition>
    </mc:Choice>
    <mc:Fallback xmlns="">
      <p:transition>
        <p:push dir="u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680957" y="20626"/>
            <a:ext cx="433137" cy="276999"/>
          </a:xfrm>
          <a:prstGeom prst="rect">
            <a:avLst/>
          </a:prstGeom>
          <a:solidFill>
            <a:srgbClr val="CC00CC"/>
          </a:solidFill>
          <a:ln>
            <a:solidFill>
              <a:srgbClr val="CC00CC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200" b="1" dirty="0">
                <a:solidFill>
                  <a:schemeClr val="bg1"/>
                </a:solidFill>
              </a:rPr>
              <a:t>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38205" y="768403"/>
                <a:ext cx="8659320" cy="41703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ts val="1400"/>
                  </a:lnSpc>
                  <a:spcBef>
                    <a:spcPts val="600"/>
                  </a:spcBef>
                  <a:buAutoNum type="arabicPeriod" startAt="3"/>
                </a:pPr>
                <a:r>
                  <a:rPr lang="ru-RU" sz="1400" b="1" dirty="0"/>
                  <a:t>Определить числовые характеристики эмпирического распределения</a:t>
                </a:r>
              </a:p>
              <a:p>
                <a:pPr>
                  <a:lnSpc>
                    <a:spcPts val="1400"/>
                  </a:lnSpc>
                  <a:spcBef>
                    <a:spcPts val="1200"/>
                  </a:spcBef>
                </a:pPr>
                <a:r>
                  <a:rPr lang="ru-RU" sz="1400" dirty="0"/>
                  <a:t>3.1.	Определить математическое ожидание: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𝑴</m:t>
                        </m:r>
                      </m:e>
                      <m:sub>
                        <m:r>
                          <a:rPr lang="ru-RU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sub>
                    </m:sSub>
                    <m:r>
                      <a:rPr lang="ru-RU" sz="1400" b="1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acc>
                      <m:accPr>
                        <m:chr m:val="̅"/>
                        <m:ctrlPr>
                          <a:rPr lang="ru-RU" sz="1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e>
                    </m:acc>
                    <m:r>
                      <a:rPr lang="ru-RU" sz="1400" b="1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ru-RU" sz="1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ctrlP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𝒊</m:t>
                            </m:r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=</m:t>
                            </m:r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  <m:sup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𝒏</m:t>
                            </m:r>
                          </m:sup>
                          <m:e>
                            <m:sSub>
                              <m:sSubPr>
                                <m:ctrlP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𝒊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lang="ru-RU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den>
                    </m:f>
                    <m:r>
                      <a:rPr lang="ru-RU" sz="1400" b="1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ru-RU" sz="1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ctrlP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𝒋</m:t>
                            </m:r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=</m:t>
                            </m:r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  <m:sup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𝒌</m:t>
                            </m:r>
                          </m:sup>
                          <m:e>
                            <m:sSub>
                              <m:sSubPr>
                                <m:ctrlP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𝒋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𝒋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lang="ru-RU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den>
                    </m:f>
                  </m:oMath>
                </a14:m>
                <a:endParaRPr lang="ru-RU" sz="1400" b="1" dirty="0"/>
              </a:p>
              <a:p>
                <a:pPr>
                  <a:lnSpc>
                    <a:spcPts val="1400"/>
                  </a:lnSpc>
                  <a:spcBef>
                    <a:spcPts val="600"/>
                  </a:spcBef>
                </a:pPr>
                <a:r>
                  <a:rPr lang="ru-RU" sz="1400" dirty="0"/>
                  <a:t>3.2.	Определить дисперсию и среднеквадратическое отклонение (СКО):</a:t>
                </a:r>
                <a:endParaRPr lang="en-US" sz="1400" dirty="0"/>
              </a:p>
              <a:p>
                <a:pPr>
                  <a:lnSpc>
                    <a:spcPts val="1400"/>
                  </a:lnSpc>
                  <a:spcBef>
                    <a:spcPts val="600"/>
                  </a:spcBef>
                </a:pPr>
                <a:endParaRPr lang="ru-RU" sz="1400" dirty="0"/>
              </a:p>
              <a:p>
                <a:pPr>
                  <a:lnSpc>
                    <a:spcPts val="1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ru-RU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sub>
                    </m:sSub>
                    <m:r>
                      <a:rPr lang="ru-RU" sz="1400" b="1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lang="ru-RU" sz="1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𝑺</m:t>
                        </m:r>
                      </m:e>
                      <m:sub>
                        <m:r>
                          <a:rPr lang="ru-RU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sub>
                      <m:sup>
                        <m:r>
                          <a:rPr lang="ru-RU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p>
                    </m:sSubSup>
                    <m:r>
                      <a:rPr lang="ru-RU" sz="1400" b="1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ru-RU" sz="1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ctrlP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𝒊</m:t>
                            </m:r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=</m:t>
                            </m:r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  <m:sup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𝒏</m:t>
                            </m:r>
                          </m:sup>
                          <m:e>
                            <m:sSup>
                              <m:sSupPr>
                                <m:ctrlP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ru-RU" sz="1400" b="1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ru-RU" sz="1400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1400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ru-RU" sz="1400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  <m:r>
                                      <a:rPr lang="ru-RU" sz="1400" b="1" i="1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ru-RU" sz="1400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ru-RU" sz="1400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ru-RU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  <m:r>
                          <a:rPr lang="ru-RU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ru-RU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den>
                    </m:f>
                    <m:r>
                      <a:rPr lang="ru-RU" sz="1400" b="1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ru-RU" sz="1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ctrlP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𝒋</m:t>
                            </m:r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=</m:t>
                            </m:r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  <m:sup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𝒌</m:t>
                            </m:r>
                          </m:sup>
                          <m:e>
                            <m:sSup>
                              <m:sSupPr>
                                <m:ctrlP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ru-RU" sz="1400" b="1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ru-RU" sz="1400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1400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ru-RU" sz="1400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/>
                                          </a:rPr>
                                          <m:t>𝒋</m:t>
                                        </m:r>
                                      </m:sub>
                                    </m:sSub>
                                    <m:r>
                                      <a:rPr lang="ru-RU" sz="1400" b="1" i="1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ru-RU" sz="1400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ru-RU" sz="1400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𝒋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lang="ru-RU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  <m:r>
                          <a:rPr lang="ru-RU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ru-RU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den>
                    </m:f>
                  </m:oMath>
                </a14:m>
                <a:r>
                  <a:rPr lang="en-US" sz="1400" b="1" dirty="0">
                    <a:solidFill>
                      <a:srgbClr val="0070C0"/>
                    </a:solidFill>
                  </a:rPr>
                  <a:t>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𝑺</m:t>
                        </m:r>
                      </m:e>
                      <m:sub>
                        <m:r>
                          <a:rPr lang="ru-RU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sub>
                    </m:sSub>
                    <m:r>
                      <a:rPr lang="ru-RU" sz="1400" b="1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r>
                      <a:rPr lang="ru-RU" sz="1400" b="1" i="1">
                        <a:solidFill>
                          <a:srgbClr val="0070C0"/>
                        </a:solidFill>
                        <a:latin typeface="Cambria Math"/>
                      </a:rPr>
                      <m:t>𝝈</m:t>
                    </m:r>
                    <m:r>
                      <a:rPr lang="ru-RU" sz="1400" b="1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ru-RU" sz="1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𝒊</m:t>
                                </m:r>
                                <m: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𝒏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ru-RU" sz="1400" b="1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ru-RU" sz="1400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ru-RU" sz="1400" b="1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 sz="1400" b="1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/>
                                              </a:rPr>
                                              <m:t>𝒙</m:t>
                                            </m:r>
                                          </m:e>
                                          <m:sub>
                                            <m:r>
                                              <a:rPr lang="ru-RU" sz="1400" b="1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  <m:r>
                                          <a:rPr lang="ru-RU" sz="1400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ru-RU" sz="1400" b="1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ru-RU" sz="1400" b="1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/>
                                              </a:rPr>
                                              <m:t>𝒙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ru-RU" sz="1400" b="1" i="1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𝒏</m:t>
                            </m:r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den>
                        </m:f>
                      </m:e>
                    </m:rad>
                    <m:r>
                      <a:rPr lang="ru-RU" sz="1400" b="1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ru-RU" sz="1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𝒋</m:t>
                                </m:r>
                                <m: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𝒌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ru-RU" sz="1400" b="1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ru-RU" sz="1400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ru-RU" sz="1400" b="1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 sz="1400" b="1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/>
                                              </a:rPr>
                                              <m:t>𝒙</m:t>
                                            </m:r>
                                          </m:e>
                                          <m:sub>
                                            <m:r>
                                              <a:rPr lang="ru-RU" sz="1400" b="1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/>
                                              </a:rPr>
                                              <m:t>𝒋</m:t>
                                            </m:r>
                                          </m:sub>
                                        </m:sSub>
                                        <m:r>
                                          <a:rPr lang="ru-RU" sz="1400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ru-RU" sz="1400" b="1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ru-RU" sz="1400" b="1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/>
                                              </a:rPr>
                                              <m:t>𝒙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ru-RU" sz="1400" b="1" i="1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ru-RU" sz="1400" b="1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400" b="1" i="1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ru-RU" sz="1400" b="1" i="1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𝒋</m:t>
                                    </m:r>
                                  </m:sub>
                                </m:sSub>
                              </m:e>
                            </m:nary>
                          </m:num>
                          <m:den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𝒏</m:t>
                            </m:r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sz="1400" b="1" dirty="0">
                    <a:solidFill>
                      <a:srgbClr val="0070C0"/>
                    </a:solidFill>
                  </a:rPr>
                  <a:t>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𝑺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</m:acc>
                      </m:sub>
                    </m:sSub>
                    <m:r>
                      <a:rPr lang="ru-RU" sz="1400" b="1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ru-RU" sz="1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𝒊</m:t>
                                </m:r>
                                <m: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𝒏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ru-RU" sz="1400" b="1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ru-RU" sz="1400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ru-RU" sz="1400" b="1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 sz="1400" b="1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/>
                                              </a:rPr>
                                              <m:t>𝒙</m:t>
                                            </m:r>
                                          </m:e>
                                          <m:sub>
                                            <m:r>
                                              <a:rPr lang="ru-RU" sz="1400" b="1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  <m:r>
                                          <a:rPr lang="ru-RU" sz="1400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ru-RU" sz="1400" b="1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ru-RU" sz="1400" b="1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/>
                                              </a:rPr>
                                              <m:t>𝒙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ru-RU" sz="1400" b="1" i="1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𝒏</m:t>
                            </m:r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(</m:t>
                            </m:r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𝒏</m:t>
                            </m:r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)</m:t>
                            </m:r>
                          </m:den>
                        </m:f>
                      </m:e>
                    </m:rad>
                  </m:oMath>
                </a14:m>
                <a:endParaRPr lang="ru-RU" sz="1400" b="1" dirty="0"/>
              </a:p>
              <a:p>
                <a:pPr>
                  <a:lnSpc>
                    <a:spcPts val="1400"/>
                  </a:lnSpc>
                  <a:spcBef>
                    <a:spcPts val="600"/>
                  </a:spcBef>
                </a:pPr>
                <a:endParaRPr lang="en-US" sz="1400" dirty="0"/>
              </a:p>
              <a:p>
                <a:pPr>
                  <a:lnSpc>
                    <a:spcPts val="1400"/>
                  </a:lnSpc>
                  <a:spcBef>
                    <a:spcPts val="600"/>
                  </a:spcBef>
                </a:pPr>
                <a:r>
                  <a:rPr lang="ru-RU" sz="1400" dirty="0"/>
                  <a:t>3.3.	Определить асимметрию:</a:t>
                </a:r>
                <a:r>
                  <a:rPr lang="en-US" sz="1400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𝑨𝒔</m:t>
                        </m:r>
                      </m:e>
                      <m:sub>
                        <m:r>
                          <a:rPr lang="ru-RU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sub>
                    </m:sSub>
                    <m:r>
                      <a:rPr lang="ru-RU" sz="1400" b="1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ru-RU" sz="1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ctrlP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𝒊</m:t>
                            </m:r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=</m:t>
                            </m:r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  <m:sup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𝒏</m:t>
                            </m:r>
                          </m:sup>
                          <m:e>
                            <m:sSup>
                              <m:sSupPr>
                                <m:ctrlP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ru-RU" sz="1400" b="1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ru-RU" sz="1400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1400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ru-RU" sz="1400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  <m:r>
                                      <a:rPr lang="ru-RU" sz="1400" b="1" i="1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ru-RU" sz="1400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ru-RU" sz="1400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ru-RU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  <m:sSubSup>
                          <m:sSubSupPr>
                            <m:ctrlP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𝑺</m:t>
                            </m:r>
                          </m:e>
                          <m:sub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𝒙</m:t>
                            </m:r>
                          </m:sub>
                          <m:sup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𝟑</m:t>
                            </m:r>
                          </m:sup>
                        </m:sSubSup>
                      </m:den>
                    </m:f>
                    <m:r>
                      <a:rPr lang="ru-RU" sz="1400" b="1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ru-RU" sz="1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ctrlP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𝒋</m:t>
                            </m:r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=</m:t>
                            </m:r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  <m:sup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𝒌</m:t>
                            </m:r>
                          </m:sup>
                          <m:e>
                            <m:sSup>
                              <m:sSupPr>
                                <m:ctrlP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ru-RU" sz="1400" b="1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ru-RU" sz="1400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1400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ru-RU" sz="1400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/>
                                          </a:rPr>
                                          <m:t>𝒋</m:t>
                                        </m:r>
                                      </m:sub>
                                    </m:sSub>
                                    <m:r>
                                      <a:rPr lang="ru-RU" sz="1400" b="1" i="1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ru-RU" sz="1400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ru-RU" sz="1400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𝒋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lang="ru-RU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  <m:sSubSup>
                          <m:sSubSupPr>
                            <m:ctrlP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𝑺</m:t>
                            </m:r>
                          </m:e>
                          <m:sub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𝒙</m:t>
                            </m:r>
                          </m:sub>
                          <m:sup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𝟑</m:t>
                            </m:r>
                          </m:sup>
                        </m:sSubSup>
                      </m:den>
                    </m:f>
                  </m:oMath>
                </a14:m>
                <a:endParaRPr lang="ru-RU" sz="1400" b="1" dirty="0"/>
              </a:p>
              <a:p>
                <a:pPr>
                  <a:lnSpc>
                    <a:spcPts val="1400"/>
                  </a:lnSpc>
                  <a:spcBef>
                    <a:spcPts val="600"/>
                  </a:spcBef>
                </a:pPr>
                <a:endParaRPr lang="en-US" sz="1400" dirty="0"/>
              </a:p>
              <a:p>
                <a:pPr>
                  <a:lnSpc>
                    <a:spcPts val="1400"/>
                  </a:lnSpc>
                  <a:spcBef>
                    <a:spcPts val="600"/>
                  </a:spcBef>
                </a:pPr>
                <a:r>
                  <a:rPr lang="ru-RU" sz="1400" dirty="0"/>
                  <a:t>3.4.	Определить эксцесс:</a:t>
                </a:r>
                <a:r>
                  <a:rPr lang="en-US" sz="1400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𝑬𝒙</m:t>
                        </m:r>
                      </m:e>
                      <m:sub>
                        <m:r>
                          <a:rPr lang="ru-RU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sub>
                    </m:sSub>
                    <m:r>
                      <a:rPr lang="ru-RU" sz="1400" b="1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ru-RU" sz="1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ctrlP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𝒊</m:t>
                            </m:r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=</m:t>
                            </m:r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  <m:sup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𝒏</m:t>
                            </m:r>
                          </m:sup>
                          <m:e>
                            <m:sSup>
                              <m:sSupPr>
                                <m:ctrlP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ru-RU" sz="1400" b="1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ru-RU" sz="1400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1400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ru-RU" sz="1400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  <m:r>
                                      <a:rPr lang="ru-RU" sz="1400" b="1" i="1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ru-RU" sz="1400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ru-RU" sz="1400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ru-RU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  <m:sSubSup>
                          <m:sSubSupPr>
                            <m:ctrlP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𝑺</m:t>
                            </m:r>
                          </m:e>
                          <m:sub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𝒙</m:t>
                            </m:r>
                          </m:sub>
                          <m:sup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𝟒</m:t>
                            </m:r>
                          </m:sup>
                        </m:sSubSup>
                      </m:den>
                    </m:f>
                    <m:r>
                      <a:rPr lang="ru-RU" sz="1400" b="1" i="1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ru-RU" sz="1400" b="1" i="1">
                        <a:solidFill>
                          <a:srgbClr val="0070C0"/>
                        </a:solidFill>
                        <a:latin typeface="Cambria Math"/>
                      </a:rPr>
                      <m:t>𝟑</m:t>
                    </m:r>
                    <m:r>
                      <a:rPr lang="ru-RU" sz="1400" b="1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ru-RU" sz="1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ctrlP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𝒋</m:t>
                            </m:r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=</m:t>
                            </m:r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  <m:sup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𝒌</m:t>
                            </m:r>
                          </m:sup>
                          <m:e>
                            <m:sSup>
                              <m:sSupPr>
                                <m:ctrlP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ru-RU" sz="1400" b="1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ru-RU" sz="1400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1400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ru-RU" sz="1400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/>
                                          </a:rPr>
                                          <m:t>𝒋</m:t>
                                        </m:r>
                                      </m:sub>
                                    </m:sSub>
                                    <m:r>
                                      <a:rPr lang="ru-RU" sz="1400" b="1" i="1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ru-RU" sz="1400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ru-RU" sz="1400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𝒋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lang="ru-RU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  <m:sSubSup>
                          <m:sSubSupPr>
                            <m:ctrlP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𝑺</m:t>
                            </m:r>
                          </m:e>
                          <m:sub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𝒙</m:t>
                            </m:r>
                          </m:sub>
                          <m:sup>
                            <m: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𝟒</m:t>
                            </m:r>
                          </m:sup>
                        </m:sSubSup>
                      </m:den>
                    </m:f>
                    <m:r>
                      <a:rPr lang="ru-RU" sz="1400" b="1" i="1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ru-RU" sz="1400" b="1" i="1">
                        <a:solidFill>
                          <a:srgbClr val="0070C0"/>
                        </a:solidFill>
                        <a:latin typeface="Cambria Math"/>
                      </a:rPr>
                      <m:t>𝟑</m:t>
                    </m:r>
                  </m:oMath>
                </a14:m>
                <a:endParaRPr lang="ru-RU" sz="1400" b="1" dirty="0">
                  <a:solidFill>
                    <a:srgbClr val="0070C0"/>
                  </a:solidFill>
                </a:endParaRPr>
              </a:p>
              <a:p>
                <a:pPr>
                  <a:lnSpc>
                    <a:spcPts val="1400"/>
                  </a:lnSpc>
                  <a:spcBef>
                    <a:spcPts val="1200"/>
                  </a:spcBef>
                </a:pPr>
                <a:r>
                  <a:rPr lang="en-US" sz="1400" dirty="0"/>
                  <a:t>3</a:t>
                </a:r>
                <a:r>
                  <a:rPr lang="ru-RU" sz="1400" dirty="0"/>
                  <a:t>.5.	Определить</a:t>
                </a:r>
                <a:r>
                  <a:rPr lang="en-US" sz="1400" dirty="0"/>
                  <a:t> </a:t>
                </a:r>
                <a:r>
                  <a:rPr lang="ru-RU" sz="1400" dirty="0"/>
                  <a:t>коэффициент вариации: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/>
                      </a:rPr>
                      <m:t>𝝂</m:t>
                    </m:r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ru-RU" sz="1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𝑺</m:t>
                            </m:r>
                          </m:e>
                          <m:sub>
                            <m:r>
                              <a:rPr lang="en-US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𝒙</m:t>
                            </m:r>
                          </m:sub>
                        </m:sSub>
                      </m:num>
                      <m:den>
                        <m:acc>
                          <m:accPr>
                            <m:chr m:val="̅"/>
                            <m:ctrlP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</m:acc>
                      </m:den>
                    </m:f>
                  </m:oMath>
                </a14:m>
                <a:endParaRPr lang="ru-RU" sz="1400" b="1" dirty="0"/>
              </a:p>
              <a:p>
                <a:pPr>
                  <a:lnSpc>
                    <a:spcPts val="1400"/>
                  </a:lnSpc>
                  <a:spcBef>
                    <a:spcPts val="1800"/>
                  </a:spcBef>
                </a:pPr>
                <a:r>
                  <a:rPr lang="ru-RU" sz="1400" dirty="0"/>
                  <a:t>3.6.	Определить медиану: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𝑴𝒆</m:t>
                        </m:r>
                      </m:e>
                      <m:sub>
                        <m:r>
                          <a:rPr lang="en-US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sub>
                    </m:sSub>
                    <m:r>
                      <a:rPr lang="en-US" sz="1400" b="1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lang="ru-RU" sz="1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𝒎𝒊𝒏</m:t>
                        </m:r>
                        <m:r>
                          <a:rPr lang="en-US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US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  <m:sup>
                        <m:r>
                          <a:rPr lang="en-US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𝑴𝒆</m:t>
                        </m:r>
                      </m:sup>
                    </m:sSubSup>
                    <m:r>
                      <a:rPr lang="en-US" sz="1400" b="1" i="1">
                        <a:solidFill>
                          <a:srgbClr val="0070C0"/>
                        </a:solidFill>
                        <a:latin typeface="Cambria Math"/>
                      </a:rPr>
                      <m:t>)+</m:t>
                    </m:r>
                    <m:f>
                      <m:fPr>
                        <m:ctrlPr>
                          <a:rPr lang="ru-RU" sz="1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∆</m:t>
                        </m:r>
                        <m:r>
                          <a:rPr lang="en-US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  <m:d>
                          <m:dPr>
                            <m:ctrlP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𝟓</m:t>
                            </m:r>
                            <m:r>
                              <a:rPr lang="en-US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𝒏</m:t>
                            </m:r>
                            <m:r>
                              <a:rPr lang="en-US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𝒋</m:t>
                                </m:r>
                                <m:r>
                                  <a:rPr lang="en-US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US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𝜮</m:t>
                                </m:r>
                              </m:sup>
                            </m:sSubSup>
                          </m:e>
                        </m:d>
                      </m:num>
                      <m:den>
                        <m:sSubSup>
                          <m:sSubSupPr>
                            <m:ctrlP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𝒏</m:t>
                            </m:r>
                          </m:e>
                          <m:sub>
                            <m:r>
                              <a:rPr lang="en-US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𝒋</m:t>
                            </m:r>
                          </m:sub>
                          <m:sup>
                            <m:r>
                              <a:rPr lang="en-US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𝑴𝒆</m:t>
                            </m:r>
                          </m:sup>
                        </m:sSubSup>
                      </m:den>
                    </m:f>
                  </m:oMath>
                </a14:m>
                <a:endParaRPr lang="en-US" sz="1400" b="1" dirty="0"/>
              </a:p>
              <a:p>
                <a:pPr>
                  <a:lnSpc>
                    <a:spcPts val="1400"/>
                  </a:lnSpc>
                  <a:spcBef>
                    <a:spcPts val="600"/>
                  </a:spcBef>
                </a:pPr>
                <a:r>
                  <a:rPr lang="ru-RU" sz="1200" dirty="0"/>
                  <a:t>(число, делящее вариационный ряд пополам, или соответствующее первой из накопленных частот, превышающей половину объема выборки)</a:t>
                </a:r>
                <a:endParaRPr lang="ru-RU" sz="1400" dirty="0"/>
              </a:p>
              <a:p>
                <a:pPr>
                  <a:lnSpc>
                    <a:spcPts val="1400"/>
                  </a:lnSpc>
                  <a:spcBef>
                    <a:spcPts val="1200"/>
                  </a:spcBef>
                </a:pPr>
                <a:r>
                  <a:rPr lang="ru-RU" sz="1400" dirty="0"/>
                  <a:t>3.7.	Определить моду: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𝑴𝒐</m:t>
                        </m:r>
                      </m:e>
                      <m:sub>
                        <m:r>
                          <a:rPr lang="en-US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sub>
                    </m:sSub>
                    <m:r>
                      <a:rPr lang="en-US" sz="1400" b="1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lang="ru-RU" sz="1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𝒎𝒊𝒏</m:t>
                        </m:r>
                        <m:r>
                          <a:rPr lang="en-US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US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  <m:sup>
                        <m:r>
                          <a:rPr lang="en-US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𝑴𝒐</m:t>
                        </m:r>
                      </m:sup>
                    </m:sSubSup>
                    <m:r>
                      <a:rPr lang="en-US" sz="1400" b="1" i="1">
                        <a:solidFill>
                          <a:srgbClr val="0070C0"/>
                        </a:solidFill>
                        <a:latin typeface="Cambria Math"/>
                      </a:rPr>
                      <m:t>)+</m:t>
                    </m:r>
                    <m:f>
                      <m:fPr>
                        <m:ctrlPr>
                          <a:rPr lang="ru-RU" sz="1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∆</m:t>
                        </m:r>
                        <m:r>
                          <a:rPr lang="en-US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  <m:d>
                          <m:dPr>
                            <m:ctrlP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𝒋</m:t>
                                </m:r>
                              </m:sub>
                              <m:sup>
                                <m:r>
                                  <a:rPr lang="en-US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𝑴𝒐</m:t>
                                </m:r>
                              </m:sup>
                            </m:sSubSup>
                            <m:r>
                              <a:rPr lang="en-US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𝒋</m:t>
                                </m:r>
                                <m:r>
                                  <a:rPr lang="en-US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US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𝑴𝒐</m:t>
                                </m:r>
                              </m:sup>
                            </m:sSubSup>
                          </m:e>
                        </m:d>
                      </m:num>
                      <m:den>
                        <m:d>
                          <m:dPr>
                            <m:ctrlP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𝒋</m:t>
                                </m:r>
                              </m:sub>
                              <m:sup>
                                <m:r>
                                  <a:rPr lang="en-US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𝑴𝒐</m:t>
                                </m:r>
                              </m:sup>
                            </m:sSubSup>
                            <m:r>
                              <a:rPr lang="en-US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𝒋</m:t>
                                </m:r>
                                <m:r>
                                  <a:rPr lang="en-US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US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𝑴𝒐</m:t>
                                </m:r>
                              </m:sup>
                            </m:sSubSup>
                          </m:e>
                        </m:d>
                        <m:r>
                          <a:rPr lang="en-US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+</m:t>
                        </m:r>
                        <m:d>
                          <m:dPr>
                            <m:ctrlPr>
                              <a:rPr lang="ru-RU" sz="14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𝒋</m:t>
                                </m:r>
                              </m:sub>
                              <m:sup>
                                <m:r>
                                  <a:rPr lang="en-US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𝑴𝒐</m:t>
                                </m:r>
                              </m:sup>
                            </m:sSubSup>
                            <m:r>
                              <a:rPr lang="en-US" sz="14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ru-RU" sz="14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𝒋</m:t>
                                </m:r>
                                <m:r>
                                  <a:rPr lang="en-US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US" sz="1400" b="1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𝑴𝒐</m:t>
                                </m:r>
                              </m:sup>
                            </m:sSubSup>
                          </m:e>
                        </m:d>
                      </m:den>
                    </m:f>
                  </m:oMath>
                </a14:m>
                <a:endParaRPr lang="ru-RU" sz="1400" b="1" dirty="0"/>
              </a:p>
              <a:p>
                <a:pPr>
                  <a:lnSpc>
                    <a:spcPts val="1400"/>
                  </a:lnSpc>
                  <a:spcBef>
                    <a:spcPts val="600"/>
                  </a:spcBef>
                </a:pPr>
                <a:r>
                  <a:rPr lang="ru-RU" sz="1200" dirty="0"/>
                  <a:t>(число, которому соответствует наибольшая повторяемость) 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205" y="768403"/>
                <a:ext cx="8659320" cy="4170372"/>
              </a:xfrm>
              <a:prstGeom prst="rect">
                <a:avLst/>
              </a:prstGeom>
              <a:blipFill rotWithShape="1">
                <a:blip r:embed="rId3"/>
                <a:stretch>
                  <a:fillRect l="-211" t="-1170" b="-2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4875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push dir="u"/>
      </p:transition>
    </mc:Choice>
    <mc:Fallback xmlns="">
      <p:transition>
        <p:push dir="u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680957" y="20626"/>
            <a:ext cx="433137" cy="276999"/>
          </a:xfrm>
          <a:prstGeom prst="rect">
            <a:avLst/>
          </a:prstGeom>
          <a:solidFill>
            <a:srgbClr val="CC00CC"/>
          </a:solidFill>
          <a:ln>
            <a:solidFill>
              <a:srgbClr val="CC00CC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200" b="1" dirty="0">
                <a:solidFill>
                  <a:schemeClr val="bg1"/>
                </a:solidFill>
              </a:rPr>
              <a:t>8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03606"/>
              </p:ext>
            </p:extLst>
          </p:nvPr>
        </p:nvGraphicFramePr>
        <p:xfrm>
          <a:off x="238211" y="1057023"/>
          <a:ext cx="8659314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21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2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1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21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21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21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21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21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6214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33062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100" b="0" i="1" dirty="0" err="1">
                          <a:solidFill>
                            <a:sysClr val="windowText" lastClr="000000"/>
                          </a:solidFill>
                        </a:rPr>
                        <a:t>M</a:t>
                      </a:r>
                      <a:r>
                        <a:rPr lang="en-US" sz="1100" b="0" i="1" baseline="-25000" dirty="0" err="1">
                          <a:solidFill>
                            <a:sysClr val="windowText" lastClr="000000"/>
                          </a:solidFill>
                        </a:rPr>
                        <a:t>x</a:t>
                      </a:r>
                      <a:endParaRPr lang="ru-RU" sz="1100" b="0" i="1" baseline="-25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1" dirty="0" err="1">
                          <a:solidFill>
                            <a:sysClr val="windowText" lastClr="000000"/>
                          </a:solidFill>
                        </a:rPr>
                        <a:t>D</a:t>
                      </a:r>
                      <a:r>
                        <a:rPr lang="en-US" sz="1100" b="0" i="1" baseline="-25000" dirty="0" err="1">
                          <a:solidFill>
                            <a:sysClr val="windowText" lastClr="000000"/>
                          </a:solidFill>
                        </a:rPr>
                        <a:t>x</a:t>
                      </a:r>
                      <a:endParaRPr lang="ru-RU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1" dirty="0" err="1">
                          <a:solidFill>
                            <a:sysClr val="windowText" lastClr="000000"/>
                          </a:solidFill>
                        </a:rPr>
                        <a:t>S</a:t>
                      </a:r>
                      <a:r>
                        <a:rPr lang="en-US" sz="1100" b="0" i="1" baseline="-25000" dirty="0" err="1">
                          <a:solidFill>
                            <a:sysClr val="windowText" lastClr="000000"/>
                          </a:solidFill>
                        </a:rPr>
                        <a:t>x</a:t>
                      </a:r>
                      <a:endParaRPr lang="ru-RU" sz="1100" b="0" i="1" baseline="-25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1" baseline="0" dirty="0" err="1">
                          <a:solidFill>
                            <a:sysClr val="windowText" lastClr="000000"/>
                          </a:solidFill>
                        </a:rPr>
                        <a:t>As</a:t>
                      </a:r>
                      <a:r>
                        <a:rPr lang="en-US" sz="1100" b="0" i="1" baseline="-25000" dirty="0" err="1">
                          <a:solidFill>
                            <a:sysClr val="windowText" lastClr="000000"/>
                          </a:solidFill>
                        </a:rPr>
                        <a:t>x</a:t>
                      </a:r>
                      <a:endParaRPr lang="ru-RU" sz="1100" b="0" i="1" baseline="-25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1" dirty="0" err="1">
                          <a:solidFill>
                            <a:sysClr val="windowText" lastClr="000000"/>
                          </a:solidFill>
                        </a:rPr>
                        <a:t>Es</a:t>
                      </a:r>
                      <a:r>
                        <a:rPr lang="en-US" sz="1100" b="0" i="1" baseline="-25000" dirty="0" err="1">
                          <a:solidFill>
                            <a:sysClr val="windowText" lastClr="000000"/>
                          </a:solidFill>
                        </a:rPr>
                        <a:t>x</a:t>
                      </a:r>
                      <a:endParaRPr lang="ru-RU" sz="1100" b="0" i="1" baseline="-25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100" b="0" i="1" dirty="0">
                          <a:solidFill>
                            <a:sysClr val="windowText" lastClr="000000"/>
                          </a:solidFill>
                        </a:rPr>
                        <a:t>ν</a:t>
                      </a:r>
                      <a:r>
                        <a:rPr lang="en-US" sz="1100" b="0" i="1" baseline="-25000" dirty="0">
                          <a:solidFill>
                            <a:sysClr val="windowText" lastClr="000000"/>
                          </a:solidFill>
                        </a:rPr>
                        <a:t>x</a:t>
                      </a:r>
                      <a:endParaRPr lang="ru-RU" sz="1100" b="0" i="1" baseline="-25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1" dirty="0" err="1">
                          <a:solidFill>
                            <a:sysClr val="windowText" lastClr="000000"/>
                          </a:solidFill>
                        </a:rPr>
                        <a:t>Me</a:t>
                      </a:r>
                      <a:r>
                        <a:rPr lang="en-US" sz="1100" b="0" i="1" baseline="-25000" dirty="0" err="1">
                          <a:solidFill>
                            <a:sysClr val="windowText" lastClr="000000"/>
                          </a:solidFill>
                        </a:rPr>
                        <a:t>x</a:t>
                      </a:r>
                      <a:endParaRPr lang="ru-RU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1" dirty="0" err="1">
                          <a:solidFill>
                            <a:sysClr val="windowText" lastClr="000000"/>
                          </a:solidFill>
                        </a:rPr>
                        <a:t>Mo</a:t>
                      </a:r>
                      <a:r>
                        <a:rPr lang="en-US" sz="1100" b="0" i="1" baseline="-25000" dirty="0" err="1">
                          <a:solidFill>
                            <a:sysClr val="windowText" lastClr="000000"/>
                          </a:solidFill>
                        </a:rPr>
                        <a:t>x</a:t>
                      </a:r>
                      <a:endParaRPr lang="ru-RU" sz="1100" b="0" i="1" baseline="-25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937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ru-RU" sz="11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179,98</a:t>
                      </a:r>
                      <a:endParaRPr lang="ru-RU" sz="1100" b="0" i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24,26</a:t>
                      </a:r>
                      <a:endParaRPr lang="ru-RU" sz="1100" b="0" i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4,93</a:t>
                      </a:r>
                      <a:endParaRPr lang="ru-RU" sz="1100" b="0" i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200"/>
                        </a:lnSpc>
                      </a:pPr>
                      <a:r>
                        <a:rPr lang="ru-RU" sz="1100" b="0" i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0,16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200"/>
                        </a:lnSpc>
                      </a:pPr>
                      <a:r>
                        <a:rPr lang="ru-RU" sz="1100" b="0" i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-0,11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200"/>
                        </a:lnSpc>
                      </a:pPr>
                      <a:r>
                        <a:rPr lang="ru-RU" sz="1100" b="0" i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0,03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>
                        <a:lnSpc>
                          <a:spcPts val="1200"/>
                        </a:lnSpc>
                      </a:pPr>
                      <a:r>
                        <a:rPr lang="ru-RU" sz="1100" b="0" i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179,60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>
                        <a:lnSpc>
                          <a:spcPts val="1200"/>
                        </a:lnSpc>
                      </a:pPr>
                      <a:r>
                        <a:rPr lang="ru-RU" sz="1100" b="0" i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179,71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38211" y="731435"/>
            <a:ext cx="68695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Таблица 8.1 </a:t>
            </a:r>
          </a:p>
        </p:txBody>
      </p:sp>
      <p:graphicFrame>
        <p:nvGraphicFramePr>
          <p:cNvPr id="7" name="Диаграмма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7367046"/>
              </p:ext>
            </p:extLst>
          </p:nvPr>
        </p:nvGraphicFramePr>
        <p:xfrm>
          <a:off x="238211" y="2205319"/>
          <a:ext cx="3930382" cy="23131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9" name="Прямая со стрелкой 8"/>
          <p:cNvCxnSpPr/>
          <p:nvPr/>
        </p:nvCxnSpPr>
        <p:spPr>
          <a:xfrm>
            <a:off x="822192" y="3112034"/>
            <a:ext cx="1252497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>
            <a:off x="2074689" y="3112034"/>
            <a:ext cx="0" cy="753035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Таблица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687650"/>
                  </p:ext>
                </p:extLst>
              </p:nvPr>
            </p:nvGraphicFramePr>
            <p:xfrm>
              <a:off x="4548942" y="2138727"/>
              <a:ext cx="4003388" cy="18499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151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725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0671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7608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10650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6708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0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Границы интервалов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ts val="1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0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Середины интервалов</a:t>
                          </a:r>
                          <a:r>
                            <a:rPr lang="en-US" sz="10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ru-RU" sz="1000" b="1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000" b="1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000" b="1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𝑗</m:t>
                                  </m:r>
                                </m:sub>
                                <m:sup/>
                              </m:sSubSup>
                            </m:oMath>
                          </a14:m>
                          <a:endParaRPr lang="ru-RU" sz="10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0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Частоты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𝑗</m:t>
                                  </m:r>
                                </m:sub>
                              </m:sSub>
                            </m:oMath>
                          </a14:m>
                          <a:endParaRPr lang="ru-RU" sz="10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ts val="1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0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Накопленные частоты</a:t>
                          </a:r>
                          <a:endParaRPr lang="en-US" sz="10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  <a:p>
                          <a:pPr marL="0" marR="0" indent="0" algn="ctr" defTabSz="457200" rtl="0" eaLnBrk="1" fontAlgn="auto" latinLnBrk="0" hangingPunct="1">
                            <a:lnSpc>
                              <a:spcPts val="1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ru-RU" sz="1000" b="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000" b="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000" b="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1000" b="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𝛴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sz="10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 </a:t>
                          </a:r>
                          <a:endParaRPr lang="ru-RU" sz="10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170-174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6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174-178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178-182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37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182-186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45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186-190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49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190-194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192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50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Таблица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687650"/>
                  </p:ext>
                </p:extLst>
              </p:nvPr>
            </p:nvGraphicFramePr>
            <p:xfrm>
              <a:off x="4548942" y="2138727"/>
              <a:ext cx="4003388" cy="183391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1512"/>
                    <a:gridCol w="872571"/>
                    <a:gridCol w="906716"/>
                    <a:gridCol w="776088"/>
                    <a:gridCol w="1106501"/>
                  </a:tblGrid>
                  <a:tr h="4724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0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Границы интервалов</a:t>
                          </a:r>
                          <a:endParaRPr lang="ru-RU" sz="10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33557" t="-2564" r="-207383" b="-2897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74016" t="-2564" r="-143307" b="-2897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60989" t="-2564" b="-289744"/>
                          </a:stretch>
                        </a:blipFill>
                      </a:tcPr>
                    </a:tc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170-174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172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6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6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174-178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176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11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178-182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180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20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37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182-186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184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45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186-190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188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49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6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190-194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192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 smtClean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50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Прямоугольник 12"/>
              <p:cNvSpPr/>
              <p:nvPr/>
            </p:nvSpPr>
            <p:spPr>
              <a:xfrm>
                <a:off x="4568163" y="4023353"/>
                <a:ext cx="398416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1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𝑴𝒆</m:t>
                          </m:r>
                        </m:e>
                        <m:sub>
                          <m:r>
                            <a:rPr lang="en-US" sz="1100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sub>
                      </m:sSub>
                      <m:r>
                        <a:rPr lang="en-US" sz="1100" b="1" i="1">
                          <a:solidFill>
                            <a:srgbClr val="0070C0"/>
                          </a:solidFill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ru-RU" sz="11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100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𝒎𝒊𝒏</m:t>
                          </m:r>
                          <m:r>
                            <a:rPr lang="en-US" sz="1100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1100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  <m:sub>
                          <m:r>
                            <a:rPr lang="en-US" sz="1100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𝒋</m:t>
                          </m:r>
                        </m:sub>
                        <m:sup>
                          <m:r>
                            <a:rPr lang="en-US" sz="1100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𝑴𝒆</m:t>
                          </m:r>
                        </m:sup>
                      </m:sSubSup>
                      <m:r>
                        <a:rPr lang="en-US" sz="1100" b="1" i="1">
                          <a:solidFill>
                            <a:srgbClr val="0070C0"/>
                          </a:solidFill>
                          <a:latin typeface="Cambria Math"/>
                        </a:rPr>
                        <m:t>)+</m:t>
                      </m:r>
                      <m:f>
                        <m:fPr>
                          <m:ctrlPr>
                            <a:rPr lang="ru-RU" sz="11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∆</m:t>
                          </m:r>
                          <m:r>
                            <a:rPr lang="en-US" sz="1100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  <m:d>
                            <m:dPr>
                              <m:ctrlPr>
                                <a:rPr lang="ru-RU" sz="11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𝟎</m:t>
                              </m:r>
                              <m:r>
                                <a:rPr lang="en-US" sz="11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11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𝟓</m:t>
                              </m:r>
                              <m:r>
                                <a:rPr lang="en-US" sz="11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sz="11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ru-RU" sz="1100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1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n-US" sz="1100" b="1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𝒋</m:t>
                                  </m:r>
                                  <m:r>
                                    <a:rPr lang="en-US" sz="1100" b="1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1100" b="1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sz="1100" b="1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𝜮</m:t>
                                  </m:r>
                                </m:sup>
                              </m:sSubSup>
                            </m:e>
                          </m:d>
                        </m:num>
                        <m:den>
                          <m:sSubSup>
                            <m:sSubSupPr>
                              <m:ctrlPr>
                                <a:rPr lang="ru-RU" sz="11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1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sz="11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𝒋</m:t>
                              </m:r>
                            </m:sub>
                            <m:sup>
                              <m:r>
                                <a:rPr lang="en-US" sz="11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𝑴𝒆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ru-RU" sz="1100" dirty="0"/>
              </a:p>
            </p:txBody>
          </p:sp>
        </mc:Choice>
        <mc:Fallback xmlns="">
          <p:sp>
            <p:nvSpPr>
              <p:cNvPr id="13" name="Прямоугольник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8163" y="4023353"/>
                <a:ext cx="3984167" cy="52322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Прямоугольник 13"/>
              <p:cNvSpPr/>
              <p:nvPr/>
            </p:nvSpPr>
            <p:spPr>
              <a:xfrm>
                <a:off x="4310160" y="4549139"/>
                <a:ext cx="4572000" cy="52726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1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𝑴𝒐</m:t>
                          </m:r>
                        </m:e>
                        <m:sub>
                          <m:r>
                            <a:rPr lang="en-US" sz="1100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sub>
                      </m:sSub>
                      <m:r>
                        <a:rPr lang="en-US" sz="1100" b="1" i="1">
                          <a:solidFill>
                            <a:srgbClr val="0070C0"/>
                          </a:solidFill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ru-RU" sz="11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100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𝒎𝒊𝒏</m:t>
                          </m:r>
                          <m:r>
                            <a:rPr lang="en-US" sz="1100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1100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  <m:sub>
                          <m:r>
                            <a:rPr lang="en-US" sz="1100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𝒋</m:t>
                          </m:r>
                        </m:sub>
                        <m:sup>
                          <m:r>
                            <a:rPr lang="en-US" sz="1100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𝑴𝒐</m:t>
                          </m:r>
                        </m:sup>
                      </m:sSubSup>
                      <m:r>
                        <a:rPr lang="en-US" sz="1100" b="1" i="1">
                          <a:solidFill>
                            <a:srgbClr val="0070C0"/>
                          </a:solidFill>
                          <a:latin typeface="Cambria Math"/>
                        </a:rPr>
                        <m:t>)+</m:t>
                      </m:r>
                      <m:f>
                        <m:fPr>
                          <m:ctrlPr>
                            <a:rPr lang="ru-RU" sz="11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∆</m:t>
                          </m:r>
                          <m:r>
                            <a:rPr lang="en-US" sz="1100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  <m:d>
                            <m:dPr>
                              <m:ctrlPr>
                                <a:rPr lang="ru-RU" sz="11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ru-RU" sz="1100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1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n-US" sz="1100" b="1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𝒋</m:t>
                                  </m:r>
                                </m:sub>
                                <m:sup>
                                  <m:r>
                                    <a:rPr lang="en-US" sz="1100" b="1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𝑴𝒐</m:t>
                                  </m:r>
                                </m:sup>
                              </m:sSubSup>
                              <m:r>
                                <a:rPr lang="en-US" sz="11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ru-RU" sz="1100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1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n-US" sz="1100" b="1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𝒋</m:t>
                                  </m:r>
                                  <m:r>
                                    <a:rPr lang="en-US" sz="1100" b="1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1100" b="1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sz="1100" b="1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𝑴𝒐</m:t>
                                  </m:r>
                                </m:sup>
                              </m:sSubSup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ru-RU" sz="11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ru-RU" sz="1100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1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n-US" sz="1100" b="1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𝒋</m:t>
                                  </m:r>
                                </m:sub>
                                <m:sup>
                                  <m:r>
                                    <a:rPr lang="en-US" sz="1100" b="1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𝑴𝒐</m:t>
                                  </m:r>
                                </m:sup>
                              </m:sSubSup>
                              <m:r>
                                <a:rPr lang="en-US" sz="11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ru-RU" sz="1100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1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n-US" sz="1100" b="1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𝒋</m:t>
                                  </m:r>
                                  <m:r>
                                    <a:rPr lang="en-US" sz="1100" b="1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1100" b="1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sz="1100" b="1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𝑴𝒐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sz="1100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+</m:t>
                          </m:r>
                          <m:d>
                            <m:dPr>
                              <m:ctrlPr>
                                <a:rPr lang="ru-RU" sz="11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ru-RU" sz="1100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1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n-US" sz="1100" b="1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𝒋</m:t>
                                  </m:r>
                                </m:sub>
                                <m:sup>
                                  <m:r>
                                    <a:rPr lang="en-US" sz="1100" b="1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𝑴𝒐</m:t>
                                  </m:r>
                                </m:sup>
                              </m:sSubSup>
                              <m:r>
                                <a:rPr lang="en-US" sz="11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ru-RU" sz="1100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1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n-US" sz="1100" b="1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𝒋</m:t>
                                  </m:r>
                                  <m:r>
                                    <a:rPr lang="en-US" sz="1100" b="1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+</m:t>
                                  </m:r>
                                  <m:r>
                                    <a:rPr lang="en-US" sz="1100" b="1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sz="1100" b="1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𝑴𝒐</m:t>
                                  </m:r>
                                </m:sup>
                              </m:sSubSup>
                            </m:e>
                          </m:d>
                        </m:den>
                      </m:f>
                    </m:oMath>
                  </m:oMathPara>
                </a14:m>
                <a:endParaRPr lang="ru-RU" sz="1100" dirty="0"/>
              </a:p>
            </p:txBody>
          </p:sp>
        </mc:Choice>
        <mc:Fallback xmlns="">
          <p:sp>
            <p:nvSpPr>
              <p:cNvPr id="14" name="Прямоугольник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0160" y="4549139"/>
                <a:ext cx="4572000" cy="52726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4541258" y="1830116"/>
            <a:ext cx="1287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Таблица 8.2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00" y="4440956"/>
            <a:ext cx="36230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Рисунок 8.1</a:t>
            </a:r>
          </a:p>
        </p:txBody>
      </p:sp>
    </p:spTree>
    <p:extLst>
      <p:ext uri="{BB962C8B-B14F-4D97-AF65-F5344CB8AC3E}">
        <p14:creationId xmlns:p14="http://schemas.microsoft.com/office/powerpoint/2010/main" val="2387530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push dir="u"/>
      </p:transition>
    </mc:Choice>
    <mc:Fallback xmlns="">
      <p:transition>
        <p:push dir="u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680957" y="20626"/>
            <a:ext cx="433137" cy="276999"/>
          </a:xfrm>
          <a:prstGeom prst="rect">
            <a:avLst/>
          </a:prstGeom>
          <a:solidFill>
            <a:srgbClr val="CC00CC"/>
          </a:solidFill>
          <a:ln>
            <a:solidFill>
              <a:srgbClr val="CC00CC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200" b="1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45889" y="799139"/>
            <a:ext cx="4587369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ru-RU" sz="1400" b="1" dirty="0"/>
              <a:t>4. Выбрать теоретический закон распределения</a:t>
            </a:r>
          </a:p>
          <a:p>
            <a:pPr>
              <a:lnSpc>
                <a:spcPts val="1500"/>
              </a:lnSpc>
              <a:spcBef>
                <a:spcPts val="600"/>
              </a:spcBef>
            </a:pPr>
            <a:r>
              <a:rPr lang="ru-RU" sz="1400" dirty="0"/>
              <a:t>Факторы, по которым можно осуществить предварительный выбор закона распределения случайной величины:</a:t>
            </a:r>
          </a:p>
          <a:p>
            <a:pPr marL="342900" indent="-342900">
              <a:lnSpc>
                <a:spcPts val="1500"/>
              </a:lnSpc>
              <a:buFont typeface="+mj-lt"/>
              <a:buAutoNum type="arabicParenR"/>
            </a:pPr>
            <a:r>
              <a:rPr lang="ru-RU" sz="1400" dirty="0"/>
              <a:t>на основе анализа данных о механизме образования случайной величины;</a:t>
            </a:r>
          </a:p>
          <a:p>
            <a:pPr marL="342900" indent="-342900">
              <a:lnSpc>
                <a:spcPts val="1500"/>
              </a:lnSpc>
              <a:buFont typeface="+mj-lt"/>
              <a:buAutoNum type="arabicParenR"/>
            </a:pPr>
            <a:r>
              <a:rPr lang="ru-RU" sz="1400" dirty="0"/>
              <a:t>на основе анализа </a:t>
            </a:r>
            <a:r>
              <a:rPr lang="ru-RU" sz="1400" dirty="0" err="1"/>
              <a:t>кумуляты</a:t>
            </a:r>
            <a:r>
              <a:rPr lang="ru-RU" sz="1400" dirty="0"/>
              <a:t> и гистограммы;</a:t>
            </a:r>
          </a:p>
          <a:p>
            <a:pPr marL="342900" indent="-342900">
              <a:lnSpc>
                <a:spcPts val="1500"/>
              </a:lnSpc>
              <a:buFont typeface="+mj-lt"/>
              <a:buAutoNum type="arabicParenR"/>
            </a:pPr>
            <a:r>
              <a:rPr lang="ru-RU" sz="1400" dirty="0"/>
              <a:t>по величине коэффициента вариации:</a:t>
            </a:r>
            <a:endParaRPr lang="ru-RU" sz="1400" b="1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787254"/>
              </p:ext>
            </p:extLst>
          </p:nvPr>
        </p:nvGraphicFramePr>
        <p:xfrm>
          <a:off x="363711" y="2877564"/>
          <a:ext cx="3217049" cy="1458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0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6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1620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el-GR" sz="1400" b="0" dirty="0">
                          <a:solidFill>
                            <a:schemeClr val="tx1"/>
                          </a:solidFill>
                        </a:rPr>
                        <a:t>ν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Вид закона распределения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620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0,08-0,4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Нормальный закон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620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0,4-0,85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Закон </a:t>
                      </a:r>
                      <a:r>
                        <a:rPr lang="ru-RU" sz="1400" b="0" dirty="0" err="1">
                          <a:solidFill>
                            <a:schemeClr val="tx1"/>
                          </a:solidFill>
                        </a:rPr>
                        <a:t>Вейбулла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620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0,35-0,8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Логарифмический закон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620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0,6-1,3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Экспоненциальный закон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Диаграмма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18578481"/>
              </p:ext>
            </p:extLst>
          </p:nvPr>
        </p:nvGraphicFramePr>
        <p:xfrm>
          <a:off x="4833258" y="662870"/>
          <a:ext cx="3757492" cy="21418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Диаграмма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0029275"/>
              </p:ext>
            </p:extLst>
          </p:nvPr>
        </p:nvGraphicFramePr>
        <p:xfrm>
          <a:off x="4833258" y="2606328"/>
          <a:ext cx="3911171" cy="21905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32612" y="4748733"/>
            <a:ext cx="3464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Рисунок 9.1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711" y="2552331"/>
            <a:ext cx="3217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Таблица 9.1 </a:t>
            </a:r>
          </a:p>
        </p:txBody>
      </p:sp>
    </p:spTree>
    <p:extLst>
      <p:ext uri="{BB962C8B-B14F-4D97-AF65-F5344CB8AC3E}">
        <p14:creationId xmlns:p14="http://schemas.microsoft.com/office/powerpoint/2010/main" val="4054875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push dir="u"/>
      </p:transition>
    </mc:Choice>
    <mc:Fallback xmlns="">
      <p:transition>
        <p:push dir="u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680957" y="20626"/>
            <a:ext cx="433137" cy="276999"/>
          </a:xfrm>
          <a:prstGeom prst="rect">
            <a:avLst/>
          </a:prstGeom>
          <a:solidFill>
            <a:srgbClr val="CC00CC"/>
          </a:solidFill>
          <a:ln>
            <a:solidFill>
              <a:srgbClr val="CC00CC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200" b="1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5889" y="799139"/>
            <a:ext cx="8651636" cy="28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ru-RU" sz="1400" b="1" dirty="0"/>
              <a:t>Нормальный закон распределения: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Таблица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47346246"/>
                  </p:ext>
                </p:extLst>
              </p:nvPr>
            </p:nvGraphicFramePr>
            <p:xfrm>
              <a:off x="130628" y="2382289"/>
              <a:ext cx="4194926" cy="1828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796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0927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3798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1493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2127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2332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391885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368277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46708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0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Границы интервалов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ts val="1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ru-RU" sz="1000" b="1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00" b="1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000" b="1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𝑗</m:t>
                                    </m:r>
                                  </m:sub>
                                  <m:sup/>
                                </m:sSubSup>
                              </m:oMath>
                            </m:oMathPara>
                          </a14:m>
                          <a:endParaRPr lang="ru-RU" sz="10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0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∆</m:t>
                                    </m:r>
                                    <m: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𝑥𝑛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ru-RU" sz="10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𝑗</m:t>
                                    </m:r>
                                    <m:r>
                                      <a:rPr lang="ru-RU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теор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0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𝑗</m:t>
                                    </m:r>
                                    <m:r>
                                      <a:rPr lang="ru-RU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теор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0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ru-RU" sz="1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ru-RU" sz="10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𝜒</m:t>
                                    </m:r>
                                  </m:e>
                                  <m:sub>
                                    <m:r>
                                      <a:rPr lang="ru-RU" sz="10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набл</m:t>
                                    </m:r>
                                  </m:sub>
                                  <m:sup>
                                    <m:r>
                                      <a:rPr lang="ru-RU" sz="10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ru-RU" sz="10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170-174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0,03</a:t>
                          </a:r>
                          <a:r>
                            <a:rPr lang="en-US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ru-RU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0,022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algn="ctr" defTabSz="457200" rtl="0" eaLnBrk="1" fontAlgn="b" latinLnBrk="0" hangingPunct="1">
                            <a:lnSpc>
                              <a:spcPts val="800"/>
                            </a:lnSpc>
                          </a:pPr>
                          <a:r>
                            <a:rPr lang="en-US" sz="1100" b="0" i="1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r>
                            <a:rPr lang="ru-RU" sz="1100" b="0" i="1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,</a:t>
                          </a:r>
                          <a:r>
                            <a:rPr lang="en-US" sz="1100" b="0" i="1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62</a:t>
                          </a:r>
                          <a:endParaRPr lang="ru-RU" sz="1100" b="0" i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174-178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0,05</a:t>
                          </a: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ru-RU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0,058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12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algn="ctr" defTabSz="457200" rtl="0" eaLnBrk="1" latinLnBrk="0" hangingPunct="1">
                            <a:lnSpc>
                              <a:spcPts val="800"/>
                            </a:lnSpc>
                          </a:pPr>
                          <a:endParaRPr lang="ru-RU" sz="1100" b="0" i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178-182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0,100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ru-RU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0,081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16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algn="ctr" defTabSz="457200" rtl="0" eaLnBrk="1" latinLnBrk="0" hangingPunct="1">
                            <a:lnSpc>
                              <a:spcPts val="800"/>
                            </a:lnSpc>
                          </a:pPr>
                          <a:endParaRPr lang="ru-RU" sz="1100" b="0" i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182-186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0,040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ru-RU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0,058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12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algn="ctr" defTabSz="457200" rtl="0" eaLnBrk="1" latinLnBrk="0" hangingPunct="1">
                            <a:lnSpc>
                              <a:spcPts val="800"/>
                            </a:lnSpc>
                          </a:pPr>
                          <a:endParaRPr lang="ru-RU" sz="1100" b="0" i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186-190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0,020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ru-RU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0,022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algn="ctr" defTabSz="457200" rtl="0" eaLnBrk="1" latinLnBrk="0" hangingPunct="1">
                            <a:lnSpc>
                              <a:spcPts val="800"/>
                            </a:lnSpc>
                          </a:pPr>
                          <a:endParaRPr lang="ru-RU" sz="1100" b="0" i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190-194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192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0,005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ru-RU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0,004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algn="ctr" defTabSz="457200" rtl="0" eaLnBrk="1" latinLnBrk="0" hangingPunct="1">
                            <a:lnSpc>
                              <a:spcPts val="800"/>
                            </a:lnSpc>
                          </a:pPr>
                          <a:endParaRPr lang="ru-RU" sz="1100" b="0" i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Таблица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47346246"/>
                  </p:ext>
                </p:extLst>
              </p:nvPr>
            </p:nvGraphicFramePr>
            <p:xfrm>
              <a:off x="130628" y="2382289"/>
              <a:ext cx="4194926" cy="1828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796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0927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3798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1493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2127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2332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391885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368277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46708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0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Границы интервалов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61111" t="-22078" r="-600000" b="-3051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82353" t="-22078" r="-535294" b="-3051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17219" t="-22078" r="-141060" b="-3051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56977" t="-22078" r="-147674" b="-3051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69231" t="-22078" r="-95385" b="-3051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50000" t="-22078" r="-3333" b="-3051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170-174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0,03</a:t>
                          </a:r>
                          <a:r>
                            <a:rPr lang="en-US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ru-RU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0,022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algn="ctr" defTabSz="457200" rtl="0" eaLnBrk="1" fontAlgn="b" latinLnBrk="0" hangingPunct="1">
                            <a:lnSpc>
                              <a:spcPts val="800"/>
                            </a:lnSpc>
                          </a:pPr>
                          <a:r>
                            <a:rPr lang="en-US" sz="1100" b="0" i="1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r>
                            <a:rPr lang="ru-RU" sz="1100" b="0" i="1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,</a:t>
                          </a:r>
                          <a:r>
                            <a:rPr lang="en-US" sz="1100" b="0" i="1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62</a:t>
                          </a:r>
                          <a:endParaRPr lang="ru-RU" sz="1100" b="0" i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174-178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0,05</a:t>
                          </a: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ru-RU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0,058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12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algn="ctr" defTabSz="457200" rtl="0" eaLnBrk="1" latinLnBrk="0" hangingPunct="1">
                            <a:lnSpc>
                              <a:spcPts val="800"/>
                            </a:lnSpc>
                          </a:pPr>
                          <a:endParaRPr lang="ru-RU" sz="1100" b="0" i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178-182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0,100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ru-RU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0,081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16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algn="ctr" defTabSz="457200" rtl="0" eaLnBrk="1" latinLnBrk="0" hangingPunct="1">
                            <a:lnSpc>
                              <a:spcPts val="800"/>
                            </a:lnSpc>
                          </a:pPr>
                          <a:endParaRPr lang="ru-RU" sz="1100" b="0" i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182-186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0,040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ru-RU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0,058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12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algn="ctr" defTabSz="457200" rtl="0" eaLnBrk="1" latinLnBrk="0" hangingPunct="1">
                            <a:lnSpc>
                              <a:spcPts val="800"/>
                            </a:lnSpc>
                          </a:pPr>
                          <a:endParaRPr lang="ru-RU" sz="1100" b="0" i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186-190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0,020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ru-RU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0,022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algn="ctr" defTabSz="457200" rtl="0" eaLnBrk="1" latinLnBrk="0" hangingPunct="1">
                            <a:lnSpc>
                              <a:spcPts val="800"/>
                            </a:lnSpc>
                          </a:pPr>
                          <a:endParaRPr lang="ru-RU" sz="1100" b="0" i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190-194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192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en-US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0,005</a:t>
                          </a:r>
                          <a:endParaRPr lang="ru-RU" sz="11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ru-RU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0,004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algn="ctr" defTabSz="457200" rtl="0" eaLnBrk="1" latinLnBrk="0" hangingPunct="1">
                            <a:lnSpc>
                              <a:spcPts val="800"/>
                            </a:lnSpc>
                          </a:pPr>
                          <a:endParaRPr lang="ru-RU" sz="1100" b="0" i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057" name="Picture 9" descr="https://www.matematicus.ru/wp-content/uploads/2019/02/kriticheskie-tochki-raspredeleniya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256" y="799139"/>
            <a:ext cx="4118085" cy="4168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130628" y="4315507"/>
                <a:ext cx="1690078" cy="4943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sz="1000" i="1">
                              <a:latin typeface="Cambria Math"/>
                            </a:rPr>
                            <m:t>𝜒</m:t>
                          </m:r>
                        </m:e>
                        <m:sub>
                          <m:r>
                            <a:rPr lang="ru-RU" sz="1000" i="1">
                              <a:latin typeface="Cambria Math"/>
                            </a:rPr>
                            <m:t>набл</m:t>
                          </m:r>
                        </m:sub>
                        <m:sup>
                          <m:r>
                            <a:rPr lang="ru-RU" sz="1000" i="1">
                              <a:latin typeface="Cambria Math"/>
                            </a:rPr>
                            <m:t>2</m:t>
                          </m:r>
                        </m:sup>
                      </m:sSubSup>
                      <m:r>
                        <a:rPr lang="ru-RU" sz="10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ru-RU" sz="1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000" i="1">
                              <a:latin typeface="Cambria Math"/>
                            </a:rPr>
                            <m:t>𝑗</m:t>
                          </m:r>
                          <m:r>
                            <a:rPr lang="en-US" sz="10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ru-RU" sz="1000" i="1">
                              <a:latin typeface="Cambria Math"/>
                            </a:rPr>
                            <m:t>𝑘</m:t>
                          </m:r>
                        </m:sup>
                        <m:e>
                          <m:f>
                            <m:fPr>
                              <m:ctrlPr>
                                <a:rPr lang="ru-RU" sz="1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ru-RU" sz="1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ru-RU" sz="1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000" i="1"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a:rPr lang="ru-RU" sz="1000" i="1">
                                          <a:latin typeface="Cambria Math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ru-RU" sz="1000" i="1">
                                          <a:latin typeface="Cambria Math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ru-RU" sz="1000" i="1">
                                      <a:latin typeface="Cambria Math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RU" sz="1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000" i="1">
                                          <a:latin typeface="Cambria Math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ru-RU" sz="1000" i="1">
                                          <a:latin typeface="Cambria Math"/>
                                        </a:rPr>
                                        <m:t>𝑗</m:t>
                                      </m:r>
                                      <m:r>
                                        <a:rPr lang="ru-RU" sz="1000" i="1">
                                          <a:latin typeface="Cambria Math"/>
                                        </a:rPr>
                                        <m:t>теор</m:t>
                                      </m:r>
                                    </m:sub>
                                  </m:sSub>
                                  <m:r>
                                    <a:rPr lang="ru-RU" sz="1000" i="1">
                                      <a:latin typeface="Cambria Math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ru-RU" sz="1000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ru-RU" sz="1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000" i="1"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ru-RU" sz="1000" i="1">
                                      <a:latin typeface="Cambria Math"/>
                                    </a:rPr>
                                    <m:t>𝑗</m:t>
                                  </m:r>
                                  <m:r>
                                    <a:rPr lang="ru-RU" sz="1000" i="1">
                                      <a:latin typeface="Cambria Math"/>
                                    </a:rPr>
                                    <m:t>теор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ru-RU" sz="1000" dirty="0"/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628" y="4315507"/>
                <a:ext cx="1690078" cy="494302"/>
              </a:xfrm>
              <a:prstGeom prst="rect">
                <a:avLst/>
              </a:prstGeom>
              <a:blipFill rotWithShape="1">
                <a:blip r:embed="rId5"/>
                <a:stretch>
                  <a:fillRect t="-92593" b="-1543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/>
              <p:cNvSpPr/>
              <p:nvPr/>
            </p:nvSpPr>
            <p:spPr>
              <a:xfrm>
                <a:off x="245889" y="1193394"/>
                <a:ext cx="1854417" cy="5496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ru-RU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ru-RU" sz="12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ru-RU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2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ru-RU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200" i="1">
                                  <a:latin typeface="Cambria Math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ru-RU" sz="1200" i="1">
                                  <a:latin typeface="Cambria Math"/>
                                </a:rPr>
                                <m:t>𝑥</m:t>
                              </m:r>
                            </m:sub>
                          </m:sSub>
                          <m:rad>
                            <m:radPr>
                              <m:degHide m:val="on"/>
                              <m:ctrlPr>
                                <a:rPr lang="ru-RU" sz="12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sz="1200" i="1">
                                  <a:latin typeface="Cambria Math"/>
                                </a:rPr>
                                <m:t>2</m:t>
                              </m:r>
                              <m:r>
                                <a:rPr lang="ru-RU" sz="1200" i="1">
                                  <a:latin typeface="Cambria Math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ru-RU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1200" i="1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ru-RU" sz="1200" i="1">
                              <a:latin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ru-RU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200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sz="1200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ru-RU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ru-RU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sz="1200" i="1">
                                          <a:latin typeface="Cambria Math"/>
                                        </a:rPr>
                                        <m:t>𝑥</m:t>
                                      </m:r>
                                      <m:r>
                                        <a:rPr lang="ru-RU" sz="1200" i="1">
                                          <a:latin typeface="Cambria Math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ru-RU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200" i="1">
                                              <a:latin typeface="Cambria Math"/>
                                            </a:rPr>
                                            <m:t>𝑀</m:t>
                                          </m:r>
                                        </m:e>
                                        <m:sub>
                                          <m:r>
                                            <a:rPr lang="ru-RU" sz="1200" i="1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ru-RU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200" i="1">
                                              <a:latin typeface="Cambria Math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ru-RU" sz="1200" i="1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ru-RU" sz="12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" name="Прямоугольник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889" y="1193394"/>
                <a:ext cx="1854417" cy="549638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Прямоугольник 9"/>
              <p:cNvSpPr/>
              <p:nvPr/>
            </p:nvSpPr>
            <p:spPr>
              <a:xfrm>
                <a:off x="2100306" y="4419926"/>
                <a:ext cx="1651349" cy="2685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sz="1000" i="1">
                              <a:latin typeface="Cambria Math"/>
                            </a:rPr>
                            <m:t>𝜒</m:t>
                          </m:r>
                        </m:e>
                        <m:sub>
                          <m:r>
                            <a:rPr lang="ru-RU" sz="1000" i="1">
                              <a:latin typeface="Cambria Math"/>
                            </a:rPr>
                            <m:t>набл</m:t>
                          </m:r>
                        </m:sub>
                        <m:sup>
                          <m:r>
                            <a:rPr lang="ru-RU" sz="1000" i="1">
                              <a:latin typeface="Cambria Math"/>
                            </a:rPr>
                            <m:t>2</m:t>
                          </m:r>
                        </m:sup>
                      </m:sSubSup>
                      <m:r>
                        <a:rPr lang="ru-RU" sz="1000" i="1">
                          <a:latin typeface="Cambria Math"/>
                        </a:rPr>
                        <m:t>=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000" b="0" i="1" smtClean="0">
                          <a:latin typeface="Cambria Math"/>
                        </a:rPr>
                        <m:t>,62</m:t>
                      </m:r>
                      <m:r>
                        <a:rPr lang="ru-RU" sz="1000" i="1">
                          <a:latin typeface="Cambria Math"/>
                        </a:rPr>
                        <m:t>&lt;11,3=</m:t>
                      </m:r>
                      <m:sSubSup>
                        <m:sSubSupPr>
                          <m:ctrlPr>
                            <a:rPr lang="ru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sz="1000" i="1">
                              <a:latin typeface="Cambria Math"/>
                            </a:rPr>
                            <m:t>𝜒</m:t>
                          </m:r>
                        </m:e>
                        <m:sub>
                          <m:r>
                            <a:rPr lang="ru-RU" sz="1000" i="1">
                              <a:latin typeface="Cambria Math"/>
                            </a:rPr>
                            <m:t>кр</m:t>
                          </m:r>
                        </m:sub>
                        <m:sup>
                          <m:r>
                            <a:rPr lang="ru-RU" sz="1000" i="1">
                              <a:latin typeface="Cambria Math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ru-RU" sz="1000" dirty="0"/>
              </a:p>
            </p:txBody>
          </p:sp>
        </mc:Choice>
        <mc:Fallback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0306" y="4419926"/>
                <a:ext cx="1651349" cy="26853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Прямоугольник 11"/>
          <p:cNvSpPr/>
          <p:nvPr/>
        </p:nvSpPr>
        <p:spPr>
          <a:xfrm>
            <a:off x="5463348" y="1552175"/>
            <a:ext cx="530198" cy="122944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Прямоугольник 13"/>
              <p:cNvSpPr/>
              <p:nvPr/>
            </p:nvSpPr>
            <p:spPr>
              <a:xfrm>
                <a:off x="2228091" y="1292809"/>
                <a:ext cx="945707" cy="2593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/>
                            </a:rPr>
                            <m:t>𝑀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/>
                            </a:rPr>
                            <m:t>𝑥</m:t>
                          </m:r>
                        </m:sub>
                        <m:sup/>
                      </m:sSubSup>
                      <m:r>
                        <a:rPr lang="ru-RU" sz="1000" i="1">
                          <a:latin typeface="Cambria Math"/>
                        </a:rPr>
                        <m:t>=</m:t>
                      </m:r>
                      <m:r>
                        <m:rPr>
                          <m:nor/>
                        </m:rPr>
                        <a:rPr lang="ru-RU" sz="1000" i="1" dirty="0"/>
                        <m:t>179,98</m:t>
                      </m:r>
                    </m:oMath>
                  </m:oMathPara>
                </a14:m>
                <a:endParaRPr lang="ru-RU" sz="1000" dirty="0"/>
              </a:p>
            </p:txBody>
          </p:sp>
        </mc:Choice>
        <mc:Fallback>
          <p:sp>
            <p:nvSpPr>
              <p:cNvPr id="14" name="Прямоугольник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8091" y="1292809"/>
                <a:ext cx="945707" cy="25936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Прямоугольник 14"/>
              <p:cNvSpPr/>
              <p:nvPr/>
            </p:nvSpPr>
            <p:spPr>
              <a:xfrm>
                <a:off x="3546930" y="1288170"/>
                <a:ext cx="745525" cy="2593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Sup>
                      <m:sSubSupPr>
                        <m:ctrlPr>
                          <a:rPr lang="ru-RU" sz="1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1000" b="0" i="1" smtClean="0">
                            <a:latin typeface="Cambria Math"/>
                          </a:rPr>
                          <m:t>𝑥</m:t>
                        </m:r>
                      </m:sub>
                      <m:sup/>
                    </m:sSubSup>
                    <m:r>
                      <a:rPr lang="ru-RU" sz="1000" i="1">
                        <a:latin typeface="Cambria Math"/>
                      </a:rPr>
                      <m:t>=</m:t>
                    </m:r>
                    <m:r>
                      <a:rPr lang="en-US" sz="1000" b="0" i="1" smtClean="0">
                        <a:latin typeface="Cambria Math"/>
                      </a:rPr>
                      <m:t>4,</m:t>
                    </m:r>
                  </m:oMath>
                </a14:m>
                <a:r>
                  <a:rPr lang="ru-RU" sz="1000" dirty="0"/>
                  <a:t>93</a:t>
                </a:r>
              </a:p>
            </p:txBody>
          </p:sp>
        </mc:Choice>
        <mc:Fallback>
          <p:sp>
            <p:nvSpPr>
              <p:cNvPr id="15" name="Прямоугольник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6930" y="1288170"/>
                <a:ext cx="745525" cy="259366"/>
              </a:xfrm>
              <a:prstGeom prst="rect">
                <a:avLst/>
              </a:prstGeom>
              <a:blipFill>
                <a:blip r:embed="rId9"/>
                <a:stretch>
                  <a:fillRect b="-1395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130628" y="1853084"/>
            <a:ext cx="3217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Таблица </a:t>
            </a:r>
            <a:r>
              <a:rPr lang="en-US" sz="1400" dirty="0"/>
              <a:t>10</a:t>
            </a:r>
            <a:r>
              <a:rPr lang="ru-RU" sz="1400" dirty="0"/>
              <a:t>.1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24724" y="1790575"/>
            <a:ext cx="1421547" cy="2154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800" b="1" dirty="0"/>
              <a:t>=ХИ2.ОБР.ПХ(0,01;3)</a:t>
            </a:r>
          </a:p>
        </p:txBody>
      </p:sp>
      <p:cxnSp>
        <p:nvCxnSpPr>
          <p:cNvPr id="8" name="Прямая со стрелкой 7"/>
          <p:cNvCxnSpPr>
            <a:endCxn id="12" idx="1"/>
          </p:cNvCxnSpPr>
          <p:nvPr/>
        </p:nvCxnSpPr>
        <p:spPr>
          <a:xfrm flipV="1">
            <a:off x="4746271" y="1613647"/>
            <a:ext cx="717077" cy="176928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4135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push dir="u"/>
      </p:transition>
    </mc:Choice>
    <mc:Fallback xmlns="">
      <p:transition>
        <p:push dir="u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680957" y="20626"/>
            <a:ext cx="433137" cy="276999"/>
          </a:xfrm>
          <a:prstGeom prst="rect">
            <a:avLst/>
          </a:prstGeom>
          <a:solidFill>
            <a:srgbClr val="CC00CC"/>
          </a:solidFill>
          <a:ln>
            <a:solidFill>
              <a:srgbClr val="CC00CC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11</a:t>
            </a:r>
            <a:endParaRPr lang="ru-RU" sz="1200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93068" y="3704937"/>
            <a:ext cx="3464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Рисунок </a:t>
            </a:r>
            <a:r>
              <a:rPr lang="en-US" sz="1400" dirty="0"/>
              <a:t>11</a:t>
            </a:r>
            <a:r>
              <a:rPr lang="ru-RU" sz="1400" dirty="0"/>
              <a:t>.1</a:t>
            </a:r>
          </a:p>
        </p:txBody>
      </p:sp>
      <p:graphicFrame>
        <p:nvGraphicFramePr>
          <p:cNvPr id="6" name="Диаграмма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0530546"/>
              </p:ext>
            </p:extLst>
          </p:nvPr>
        </p:nvGraphicFramePr>
        <p:xfrm>
          <a:off x="2049049" y="961737"/>
          <a:ext cx="455295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54875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push dir="u"/>
      </p:transition>
    </mc:Choice>
    <mc:Fallback xmlns="">
      <p:transition>
        <p:push dir="u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680957" y="20626"/>
            <a:ext cx="433137" cy="276999"/>
          </a:xfrm>
          <a:prstGeom prst="rect">
            <a:avLst/>
          </a:prstGeom>
          <a:solidFill>
            <a:srgbClr val="CC00CC"/>
          </a:solidFill>
          <a:ln>
            <a:solidFill>
              <a:srgbClr val="CC00CC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200" b="1" dirty="0">
                <a:solidFill>
                  <a:prstClr val="white"/>
                </a:solidFill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25" y="161365"/>
            <a:ext cx="8651636" cy="28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ru-RU" sz="1400" b="1" dirty="0">
                <a:solidFill>
                  <a:prstClr val="black"/>
                </a:solidFill>
              </a:rPr>
              <a:t>Нормальный закон распределения: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Таблица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541939"/>
                  </p:ext>
                </p:extLst>
              </p:nvPr>
            </p:nvGraphicFramePr>
            <p:xfrm>
              <a:off x="209213" y="1419103"/>
              <a:ext cx="4424260" cy="16559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632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2274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5029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3542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7947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2944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0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Границы интервалов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ts val="1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ru-RU" sz="1000" b="1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00" b="1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000" b="1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𝑗</m:t>
                                    </m:r>
                                  </m:sub>
                                  <m:sup/>
                                </m:sSubSup>
                              </m:oMath>
                            </m:oMathPara>
                          </a14:m>
                          <a:endParaRPr lang="ru-RU" sz="10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Sup>
                                      <m:sSubSupPr>
                                        <m:ctrlPr>
                                          <a:rPr lang="ru-RU" sz="1000" b="1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0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  <a:ea typeface="+mn-ea"/>
                                            <a:cs typeface="+mn-cs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sz="1000" b="1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  <a:ea typeface="+mn-ea"/>
                                            <a:cs typeface="+mn-cs"/>
                                          </a:rPr>
                                          <m:t>𝑗</m:t>
                                        </m:r>
                                      </m:sub>
                                      <m:sup>
                                        <m:r>
                                          <a:rPr lang="en-US" sz="1000" b="1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  <a:ea typeface="+mn-ea"/>
                                            <a:cs typeface="+mn-cs"/>
                                          </a:rPr>
                                          <m:t>𝛴</m:t>
                                        </m:r>
                                      </m:sup>
                                    </m:sSubSup>
                                  </m:num>
                                  <m:den>
                                    <m: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𝑛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ru-RU" sz="10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𝑗</m:t>
                                    </m:r>
                                    <m:r>
                                      <a:rPr lang="ru-RU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теор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000" b="0" i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170-174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latinLnBrk="0" hangingPunct="1">
                            <a:lnSpc>
                              <a:spcPts val="800"/>
                            </a:lnSpc>
                          </a:pPr>
                          <a:r>
                            <a:rPr lang="en-US" sz="1100" b="0" i="1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0,12</a:t>
                          </a:r>
                          <a:endParaRPr lang="ru-RU" sz="1100" b="0" i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174-178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latinLnBrk="0" hangingPunct="1">
                            <a:lnSpc>
                              <a:spcPts val="800"/>
                            </a:lnSpc>
                          </a:pPr>
                          <a:r>
                            <a:rPr lang="en-US" sz="1100" b="0" i="1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0,34</a:t>
                          </a:r>
                          <a:endParaRPr lang="ru-RU" sz="1100" b="0" i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0,34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178-182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latinLnBrk="0" hangingPunct="1">
                            <a:lnSpc>
                              <a:spcPts val="800"/>
                            </a:lnSpc>
                          </a:pPr>
                          <a:r>
                            <a:rPr lang="en-US" sz="1100" b="0" i="1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0,74</a:t>
                          </a:r>
                          <a:endParaRPr lang="ru-RU" sz="1100" b="0" i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0,66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182-186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latinLnBrk="0" hangingPunct="1">
                            <a:lnSpc>
                              <a:spcPts val="800"/>
                            </a:lnSpc>
                          </a:pPr>
                          <a:r>
                            <a:rPr lang="en-US" sz="1100" b="0" i="1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0,90</a:t>
                          </a:r>
                          <a:endParaRPr lang="ru-RU" sz="1100" b="0" i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0,89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186-190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latinLnBrk="0" hangingPunct="1">
                            <a:lnSpc>
                              <a:spcPts val="800"/>
                            </a:lnSpc>
                          </a:pPr>
                          <a:r>
                            <a:rPr lang="en-US" sz="1100" b="0" i="1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0,98</a:t>
                          </a:r>
                          <a:endParaRPr lang="ru-RU" sz="1100" b="0" i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0,98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190-194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192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latinLnBrk="0" hangingPunct="1">
                            <a:lnSpc>
                              <a:spcPts val="800"/>
                            </a:lnSpc>
                          </a:pPr>
                          <a:r>
                            <a:rPr lang="en-US" sz="1100" b="0" i="1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1,00</a:t>
                          </a:r>
                          <a:endParaRPr lang="ru-RU" sz="1100" b="0" i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Таблица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541939"/>
                  </p:ext>
                </p:extLst>
              </p:nvPr>
            </p:nvGraphicFramePr>
            <p:xfrm>
              <a:off x="209213" y="1419103"/>
              <a:ext cx="4424260" cy="16559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632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2274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5029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3542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7947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2944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0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Границы интервалов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46774" t="-63265" r="-241935" b="-475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52941" t="-63265" r="-76471" b="-475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68750" t="-63265" r="-1563" b="-4755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170-174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latinLnBrk="0" hangingPunct="1">
                            <a:lnSpc>
                              <a:spcPts val="800"/>
                            </a:lnSpc>
                          </a:pPr>
                          <a:r>
                            <a:rPr lang="en-US" sz="1100" b="0" i="1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0,12</a:t>
                          </a:r>
                          <a:endParaRPr lang="ru-RU" sz="1100" b="0" i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174-178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latinLnBrk="0" hangingPunct="1">
                            <a:lnSpc>
                              <a:spcPts val="800"/>
                            </a:lnSpc>
                          </a:pPr>
                          <a:r>
                            <a:rPr lang="en-US" sz="1100" b="0" i="1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0,34</a:t>
                          </a:r>
                          <a:endParaRPr lang="ru-RU" sz="1100" b="0" i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0,34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178-182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latinLnBrk="0" hangingPunct="1">
                            <a:lnSpc>
                              <a:spcPts val="800"/>
                            </a:lnSpc>
                          </a:pPr>
                          <a:r>
                            <a:rPr lang="en-US" sz="1100" b="0" i="1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0,74</a:t>
                          </a:r>
                          <a:endParaRPr lang="ru-RU" sz="1100" b="0" i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0,66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182-186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latinLnBrk="0" hangingPunct="1">
                            <a:lnSpc>
                              <a:spcPts val="800"/>
                            </a:lnSpc>
                          </a:pPr>
                          <a:r>
                            <a:rPr lang="en-US" sz="1100" b="0" i="1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0,90</a:t>
                          </a:r>
                          <a:endParaRPr lang="ru-RU" sz="1100" b="0" i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0,89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186-190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latinLnBrk="0" hangingPunct="1">
                            <a:lnSpc>
                              <a:spcPts val="800"/>
                            </a:lnSpc>
                          </a:pPr>
                          <a:r>
                            <a:rPr lang="en-US" sz="1100" b="0" i="1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0,98</a:t>
                          </a:r>
                          <a:endParaRPr lang="ru-RU" sz="1100" b="0" i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0,98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269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190-194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800"/>
                            </a:lnSpc>
                          </a:pPr>
                          <a:r>
                            <a:rPr lang="ru-RU" sz="11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192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latinLnBrk="0" hangingPunct="1">
                            <a:lnSpc>
                              <a:spcPts val="800"/>
                            </a:lnSpc>
                          </a:pPr>
                          <a:r>
                            <a:rPr lang="en-US" sz="1100" b="0" i="1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1,00</a:t>
                          </a:r>
                          <a:endParaRPr lang="ru-RU" sz="1100" b="0" i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Прямоугольник 9"/>
              <p:cNvSpPr/>
              <p:nvPr/>
            </p:nvSpPr>
            <p:spPr>
              <a:xfrm>
                <a:off x="6214164" y="4753097"/>
                <a:ext cx="1740733" cy="2821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1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ru-RU" sz="10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набл</m:t>
                          </m:r>
                        </m:sub>
                        <m:sup/>
                      </m:sSubSup>
                      <m:r>
                        <a:rPr lang="ru-RU" sz="1000" i="1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00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0,0</m:t>
                      </m:r>
                      <m:r>
                        <a:rPr lang="ru-RU" sz="1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ru-RU" sz="1000" i="1">
                          <a:solidFill>
                            <a:prstClr val="black"/>
                          </a:solidFill>
                          <a:latin typeface="Cambria Math"/>
                        </a:rPr>
                        <m:t>&lt;</m:t>
                      </m:r>
                      <m:r>
                        <a:rPr lang="ru-RU" sz="100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0,669</m:t>
                      </m:r>
                      <m:r>
                        <a:rPr lang="ru-RU" sz="1000" i="1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ru-RU" sz="1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ru-RU" sz="10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к</m:t>
                          </m:r>
                          <m:r>
                            <a:rPr lang="ru-RU" sz="10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р</m:t>
                          </m:r>
                        </m:sub>
                        <m:sup/>
                      </m:sSubSup>
                    </m:oMath>
                  </m:oMathPara>
                </a14:m>
                <a:endParaRPr lang="ru-RU" sz="1000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4164" y="4753097"/>
                <a:ext cx="1740733" cy="2821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196164" y="1111875"/>
            <a:ext cx="18287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prstClr val="black"/>
                </a:solidFill>
              </a:rPr>
              <a:t>Таблица </a:t>
            </a:r>
            <a:r>
              <a:rPr lang="en-US" sz="1400" dirty="0">
                <a:solidFill>
                  <a:prstClr val="black"/>
                </a:solidFill>
              </a:rPr>
              <a:t>1</a:t>
            </a:r>
            <a:r>
              <a:rPr lang="ru-RU" sz="1400" dirty="0">
                <a:solidFill>
                  <a:prstClr val="black"/>
                </a:solidFill>
              </a:rPr>
              <a:t>4.1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Прямоугольник 10"/>
              <p:cNvSpPr/>
              <p:nvPr/>
            </p:nvSpPr>
            <p:spPr>
              <a:xfrm>
                <a:off x="217955" y="449418"/>
                <a:ext cx="2403671" cy="6855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/>
                        </a:rPr>
                        <m:t>𝐹</m:t>
                      </m:r>
                      <m:d>
                        <m:dPr>
                          <m:ctrlPr>
                            <a:rPr lang="ru-RU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ru-RU" sz="1200" i="1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ru-RU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2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ru-RU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ru-RU" sz="1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sub>
                          </m:sSub>
                          <m:rad>
                            <m:radPr>
                              <m:degHide m:val="on"/>
                              <m:ctrlPr>
                                <a:rPr lang="ru-RU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sz="1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2</m:t>
                              </m:r>
                              <m:r>
                                <a:rPr lang="ru-RU" sz="1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ru-RU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nary>
                            <m:naryPr>
                              <m:limLoc m:val="undOvr"/>
                              <m:ctrlPr>
                                <a:rPr lang="ru-RU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1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−∞</m:t>
                              </m:r>
                            </m:sub>
                            <m:sup>
                              <m:r>
                                <a:rPr lang="ru-RU" sz="1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ru-RU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200" i="1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ru-RU" sz="1200" i="1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ru-RU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sz="1200" i="1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ru-RU" sz="1200" i="1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  <m:t>2</m:t>
                                      </m:r>
                                    </m:den>
                                  </m:f>
                                  <m:sSup>
                                    <m:sSupPr>
                                      <m:ctrlPr>
                                        <a:rPr lang="ru-RU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ru-RU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ru-RU" sz="12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ru-RU" sz="12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/>
                                                </a:rPr>
                                                <m:t>𝑥</m:t>
                                              </m:r>
                                              <m:r>
                                                <a:rPr lang="ru-RU" sz="12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ru-RU" sz="1200" i="1">
                                                      <a:solidFill>
                                                        <a:prstClr val="black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ru-RU" sz="1200" i="1">
                                                      <a:solidFill>
                                                        <a:prstClr val="black"/>
                                                      </a:solidFill>
                                                      <a:latin typeface="Cambria Math"/>
                                                    </a:rPr>
                                                    <m:t>𝑀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ru-RU" sz="1200" i="1">
                                                      <a:solidFill>
                                                        <a:prstClr val="black"/>
                                                      </a:solidFill>
                                                      <a:latin typeface="Cambria Math"/>
                                                    </a:rPr>
                                                    <m:t>𝑥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lang="ru-RU" sz="1200" i="1">
                                                      <a:solidFill>
                                                        <a:prstClr val="black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ru-RU" sz="1200" i="1">
                                                      <a:solidFill>
                                                        <a:prstClr val="black"/>
                                                      </a:solidFill>
                                                      <a:latin typeface="Cambria Math"/>
                                                    </a:rPr>
                                                    <m:t>𝑆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ru-RU" sz="1200" i="1">
                                                      <a:solidFill>
                                                        <a:prstClr val="black"/>
                                                      </a:solidFill>
                                                      <a:latin typeface="Cambria Math"/>
                                                    </a:rPr>
                                                    <m:t>𝑥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d>
                                    </m:e>
                                    <m:sup>
                                      <m:r>
                                        <a:rPr lang="ru-RU" sz="1200" i="1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sup>
                              </m:sSup>
                              <m:r>
                                <a:rPr lang="ru-RU" sz="1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𝑑𝑥</m:t>
                              </m:r>
                            </m:e>
                          </m:nary>
                        </m:e>
                        <m:sup/>
                      </m:sSup>
                    </m:oMath>
                  </m:oMathPara>
                </a14:m>
                <a:endParaRPr lang="ru-RU" sz="1200" i="1" dirty="0">
                  <a:solidFill>
                    <a:prstClr val="black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11" name="Прямоугольник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955" y="449418"/>
                <a:ext cx="2403671" cy="685509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Прямоугольник 16"/>
              <p:cNvSpPr/>
              <p:nvPr/>
            </p:nvSpPr>
            <p:spPr>
              <a:xfrm>
                <a:off x="5904784" y="4331735"/>
                <a:ext cx="197958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ru-RU" sz="12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набл</m:t>
                          </m:r>
                        </m:sub>
                        <m:sup/>
                      </m:sSubSup>
                      <m:r>
                        <a:rPr lang="ru-RU" sz="1200" i="1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200">
                          <a:solidFill>
                            <a:prstClr val="black"/>
                          </a:solidFill>
                          <a:latin typeface="Cambria Math"/>
                        </a:rPr>
                        <m:t>max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/>
                        </a:rPr>
                        <m:t>(</m:t>
                      </m:r>
                      <m:d>
                        <m:dPr>
                          <m:begChr m:val="|"/>
                          <m:endChr m:val="|"/>
                          <m:ctrlPr>
                            <a:rPr lang="ru-RU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ru-RU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𝑗</m:t>
                              </m:r>
                            </m:sub>
                            <m:sup/>
                          </m:sSubSup>
                          <m:r>
                            <a:rPr lang="en-US" sz="12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ru-RU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𝑗</m:t>
                              </m:r>
                              <m:r>
                                <a:rPr lang="ru-RU" sz="1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теор</m:t>
                              </m:r>
                            </m:sub>
                            <m:sup/>
                          </m:sSubSup>
                        </m:e>
                      </m:d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ru-RU" sz="12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7" name="Прямоугольник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4784" y="4331735"/>
                <a:ext cx="1979581" cy="307777"/>
              </a:xfrm>
              <a:prstGeom prst="rect">
                <a:avLst/>
              </a:prstGeom>
              <a:blipFill rotWithShape="1">
                <a:blip r:embed="rId8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https://konspekta.net/bazaimgstudall/872478520860.files/image002.jp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3150" y="968792"/>
            <a:ext cx="3987678" cy="3362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2" name="Диаграмма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5198525"/>
              </p:ext>
            </p:extLst>
          </p:nvPr>
        </p:nvGraphicFramePr>
        <p:xfrm>
          <a:off x="196164" y="3075017"/>
          <a:ext cx="4053107" cy="18826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23" name="Прямоугольник 22"/>
          <p:cNvSpPr/>
          <p:nvPr/>
        </p:nvSpPr>
        <p:spPr>
          <a:xfrm>
            <a:off x="6385432" y="2458891"/>
            <a:ext cx="437990" cy="19137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20336" y="4637452"/>
            <a:ext cx="239137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solidFill>
                  <a:prstClr val="black"/>
                </a:solidFill>
              </a:rPr>
              <a:t>Рисунок </a:t>
            </a:r>
            <a:r>
              <a:rPr lang="en-US" sz="1400" dirty="0">
                <a:solidFill>
                  <a:prstClr val="black"/>
                </a:solidFill>
              </a:rPr>
              <a:t>1</a:t>
            </a:r>
            <a:r>
              <a:rPr lang="ru-RU" sz="1400" dirty="0">
                <a:solidFill>
                  <a:prstClr val="black"/>
                </a:solidFill>
              </a:rPr>
              <a:t>4.1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Прямоугольник 17">
                <a:extLst>
                  <a:ext uri="{FF2B5EF4-FFF2-40B4-BE49-F238E27FC236}">
                    <a16:creationId xmlns:a16="http://schemas.microsoft.com/office/drawing/2014/main" id="{F5FD2C19-C943-47F3-94DD-C6562FE28B2A}"/>
                  </a:ext>
                </a:extLst>
              </p:cNvPr>
              <p:cNvSpPr/>
              <p:nvPr/>
            </p:nvSpPr>
            <p:spPr>
              <a:xfrm>
                <a:off x="2842949" y="741018"/>
                <a:ext cx="945707" cy="2593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/>
                            </a:rPr>
                            <m:t>𝑀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/>
                            </a:rPr>
                            <m:t>𝑥</m:t>
                          </m:r>
                        </m:sub>
                        <m:sup/>
                      </m:sSubSup>
                      <m:r>
                        <a:rPr lang="ru-RU" sz="1000" i="1">
                          <a:latin typeface="Cambria Math"/>
                        </a:rPr>
                        <m:t>=</m:t>
                      </m:r>
                      <m:r>
                        <m:rPr>
                          <m:nor/>
                        </m:rPr>
                        <a:rPr lang="ru-RU" sz="1000" i="1" dirty="0"/>
                        <m:t>179,98</m:t>
                      </m:r>
                    </m:oMath>
                  </m:oMathPara>
                </a14:m>
                <a:endParaRPr lang="ru-RU" sz="1000" dirty="0"/>
              </a:p>
            </p:txBody>
          </p:sp>
        </mc:Choice>
        <mc:Fallback>
          <p:sp>
            <p:nvSpPr>
              <p:cNvPr id="18" name="Прямоугольник 17">
                <a:extLst>
                  <a:ext uri="{FF2B5EF4-FFF2-40B4-BE49-F238E27FC236}">
                    <a16:creationId xmlns:a16="http://schemas.microsoft.com/office/drawing/2014/main" id="{F5FD2C19-C943-47F3-94DD-C6562FE28B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949" y="741018"/>
                <a:ext cx="945707" cy="25936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Прямоугольник 19">
                <a:extLst>
                  <a:ext uri="{FF2B5EF4-FFF2-40B4-BE49-F238E27FC236}">
                    <a16:creationId xmlns:a16="http://schemas.microsoft.com/office/drawing/2014/main" id="{9BB706C8-3444-43A0-B4D5-4866885DE6D6}"/>
                  </a:ext>
                </a:extLst>
              </p:cNvPr>
              <p:cNvSpPr/>
              <p:nvPr/>
            </p:nvSpPr>
            <p:spPr>
              <a:xfrm>
                <a:off x="4161788" y="736379"/>
                <a:ext cx="745525" cy="2593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Sup>
                      <m:sSubSupPr>
                        <m:ctrlPr>
                          <a:rPr lang="ru-RU" sz="1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1000" b="0" i="1" smtClean="0">
                            <a:latin typeface="Cambria Math"/>
                          </a:rPr>
                          <m:t>𝑥</m:t>
                        </m:r>
                      </m:sub>
                      <m:sup/>
                    </m:sSubSup>
                    <m:r>
                      <a:rPr lang="ru-RU" sz="1000" i="1">
                        <a:latin typeface="Cambria Math"/>
                      </a:rPr>
                      <m:t>=</m:t>
                    </m:r>
                    <m:r>
                      <a:rPr lang="en-US" sz="1000" b="0" i="1" smtClean="0">
                        <a:latin typeface="Cambria Math"/>
                      </a:rPr>
                      <m:t>4,</m:t>
                    </m:r>
                  </m:oMath>
                </a14:m>
                <a:r>
                  <a:rPr lang="ru-RU" sz="1000" dirty="0"/>
                  <a:t>93</a:t>
                </a:r>
              </a:p>
            </p:txBody>
          </p:sp>
        </mc:Choice>
        <mc:Fallback>
          <p:sp>
            <p:nvSpPr>
              <p:cNvPr id="20" name="Прямоугольник 19">
                <a:extLst>
                  <a:ext uri="{FF2B5EF4-FFF2-40B4-BE49-F238E27FC236}">
                    <a16:creationId xmlns:a16="http://schemas.microsoft.com/office/drawing/2014/main" id="{9BB706C8-3444-43A0-B4D5-4866885DE6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1788" y="736379"/>
                <a:ext cx="745525" cy="259366"/>
              </a:xfrm>
              <a:prstGeom prst="rect">
                <a:avLst/>
              </a:prstGeom>
              <a:blipFill>
                <a:blip r:embed="rId12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5954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push dir="u"/>
      </p:transition>
    </mc:Choice>
    <mc:Fallback xmlns="">
      <p:transition>
        <p:push dir="u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680957" y="20626"/>
            <a:ext cx="433137" cy="276999"/>
          </a:xfrm>
          <a:prstGeom prst="rect">
            <a:avLst/>
          </a:prstGeom>
          <a:solidFill>
            <a:srgbClr val="CC00CC"/>
          </a:solidFill>
          <a:ln>
            <a:solidFill>
              <a:srgbClr val="CC00CC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1</a:t>
            </a:r>
            <a:r>
              <a:rPr lang="ru-RU" sz="12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9381" y="483630"/>
            <a:ext cx="8658144" cy="260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600"/>
              </a:lnSpc>
              <a:spcBef>
                <a:spcPts val="600"/>
              </a:spcBef>
            </a:pPr>
            <a:r>
              <a:rPr lang="ru-RU" sz="1600" b="1" dirty="0"/>
              <a:t>Задача 1 (Вариант 1)</a:t>
            </a:r>
          </a:p>
          <a:p>
            <a:pPr algn="just">
              <a:lnSpc>
                <a:spcPts val="1600"/>
              </a:lnSpc>
              <a:spcBef>
                <a:spcPts val="600"/>
              </a:spcBef>
            </a:pPr>
            <a:r>
              <a:rPr lang="ru-RU" sz="1600" dirty="0"/>
              <a:t>Обработать результаты измерения твердости материала для идентификации закона распределения, а именно:</a:t>
            </a:r>
          </a:p>
          <a:p>
            <a:pPr indent="446088" algn="just">
              <a:lnSpc>
                <a:spcPts val="1600"/>
              </a:lnSpc>
              <a:spcBef>
                <a:spcPts val="600"/>
              </a:spcBef>
            </a:pPr>
            <a:r>
              <a:rPr lang="ru-RU" sz="1600" dirty="0"/>
              <a:t>1.1.	Определить значения характеристик эмпирического распределения твердости материала </a:t>
            </a:r>
            <a:r>
              <a:rPr lang="en-US" sz="1600" dirty="0"/>
              <a:t>H </a:t>
            </a:r>
            <a:r>
              <a:rPr lang="ru-RU" sz="1600" dirty="0"/>
              <a:t>(</a:t>
            </a:r>
            <a:r>
              <a:rPr lang="en-US" sz="1600" dirty="0"/>
              <a:t>HB)</a:t>
            </a:r>
            <a:r>
              <a:rPr lang="ru-RU" sz="1600" dirty="0"/>
              <a:t>.</a:t>
            </a:r>
          </a:p>
          <a:p>
            <a:pPr indent="446088" algn="just">
              <a:lnSpc>
                <a:spcPts val="1600"/>
              </a:lnSpc>
              <a:spcBef>
                <a:spcPts val="600"/>
              </a:spcBef>
            </a:pPr>
            <a:r>
              <a:rPr lang="ru-RU" sz="1600" dirty="0"/>
              <a:t>1.2.	Осуществить выбор теоретического закона распределения твердости материала.</a:t>
            </a:r>
          </a:p>
          <a:p>
            <a:pPr indent="446088" algn="just">
              <a:lnSpc>
                <a:spcPts val="1600"/>
              </a:lnSpc>
              <a:spcBef>
                <a:spcPts val="600"/>
              </a:spcBef>
            </a:pPr>
            <a:r>
              <a:rPr lang="ru-RU" sz="1600" dirty="0"/>
              <a:t>1.3.	Провести проверку гипотезы о соответствии эмпирического распределения твердости материала выбранному теоретическому закону распределения.</a:t>
            </a:r>
          </a:p>
          <a:p>
            <a:pPr indent="446088" algn="just">
              <a:lnSpc>
                <a:spcPts val="1600"/>
              </a:lnSpc>
              <a:spcBef>
                <a:spcPts val="600"/>
              </a:spcBef>
            </a:pPr>
            <a:endParaRPr lang="ru-RU" sz="1600" dirty="0"/>
          </a:p>
          <a:p>
            <a:pPr marL="342900" indent="-342900" algn="just">
              <a:lnSpc>
                <a:spcPts val="1600"/>
              </a:lnSpc>
              <a:spcBef>
                <a:spcPts val="600"/>
              </a:spcBef>
              <a:buAutoNum type="arabicPeriod" startAt="2"/>
            </a:pPr>
            <a:endParaRPr lang="ru-RU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Таблица 5">
                <a:extLst>
                  <a:ext uri="{FF2B5EF4-FFF2-40B4-BE49-F238E27FC236}">
                    <a16:creationId xmlns:a16="http://schemas.microsoft.com/office/drawing/2014/main" id="{B1BE0674-3DC8-44AD-B3DE-88318984D7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1239126"/>
                  </p:ext>
                </p:extLst>
              </p:nvPr>
            </p:nvGraphicFramePr>
            <p:xfrm>
              <a:off x="264485" y="2534492"/>
              <a:ext cx="3888000" cy="24964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299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310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313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286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287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289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313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9283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263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284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322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314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297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287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274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319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324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291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312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294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261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299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289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329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322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318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282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337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294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310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294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Таблица 5">
                <a:extLst>
                  <a:ext uri="{FF2B5EF4-FFF2-40B4-BE49-F238E27FC236}">
                    <a16:creationId xmlns:a16="http://schemas.microsoft.com/office/drawing/2014/main" id="{B1BE0674-3DC8-44AD-B3DE-88318984D7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1239126"/>
                  </p:ext>
                </p:extLst>
              </p:nvPr>
            </p:nvGraphicFramePr>
            <p:xfrm>
              <a:off x="264485" y="2534492"/>
              <a:ext cx="3888000" cy="24964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6957" t="-18919" r="-743478" b="-10351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2464" t="-18919" r="-557971" b="-10351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64706" t="-18919" r="-379412" b="-10351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52941" t="-18919" r="-191176" b="-10351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27536" t="-18919" r="-2899" b="-10351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299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310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313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286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287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289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313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263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284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322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314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297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287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274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319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324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291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312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294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261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299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289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329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322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318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282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337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294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310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294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E57B2B2-A40F-40C7-887E-3699E40338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0110" y="2998479"/>
            <a:ext cx="4382814" cy="148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095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push dir="u"/>
      </p:transition>
    </mc:Choice>
    <mc:Fallback xmlns="">
      <p:transition>
        <p:push dir="u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680957" y="20626"/>
            <a:ext cx="433137" cy="276999"/>
          </a:xfrm>
          <a:prstGeom prst="rect">
            <a:avLst/>
          </a:prstGeom>
          <a:solidFill>
            <a:srgbClr val="CC00CC"/>
          </a:solidFill>
          <a:ln>
            <a:solidFill>
              <a:srgbClr val="CC00CC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14</a:t>
            </a:r>
            <a:endParaRPr lang="ru-RU" sz="1200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9381" y="475749"/>
            <a:ext cx="8658144" cy="2044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600"/>
              </a:lnSpc>
              <a:spcBef>
                <a:spcPts val="600"/>
              </a:spcBef>
            </a:pPr>
            <a:r>
              <a:rPr lang="ru-RU" sz="1600" b="1" dirty="0"/>
              <a:t>Задача 2 (Вариант 2).</a:t>
            </a:r>
          </a:p>
          <a:p>
            <a:pPr algn="just">
              <a:lnSpc>
                <a:spcPts val="1600"/>
              </a:lnSpc>
              <a:spcBef>
                <a:spcPts val="600"/>
              </a:spcBef>
            </a:pPr>
            <a:r>
              <a:rPr lang="ru-RU" sz="1600" dirty="0"/>
              <a:t>Обработать результаты измерения химического состава материала для идентификации закона распределения содержания элементов материала-стали (углерод - железо), а именно:</a:t>
            </a:r>
          </a:p>
          <a:p>
            <a:pPr indent="446088" algn="just">
              <a:lnSpc>
                <a:spcPts val="1600"/>
              </a:lnSpc>
              <a:spcBef>
                <a:spcPts val="600"/>
              </a:spcBef>
            </a:pPr>
            <a:r>
              <a:rPr lang="ru-RU" sz="1600" dirty="0"/>
              <a:t>1.1.	Определить значения характеристик эмпирического распределения содержания углерода в материале </a:t>
            </a:r>
            <a:r>
              <a:rPr lang="en-US" sz="1600" dirty="0"/>
              <a:t>(%)</a:t>
            </a:r>
            <a:r>
              <a:rPr lang="ru-RU" sz="1600" dirty="0"/>
              <a:t>.</a:t>
            </a:r>
          </a:p>
          <a:p>
            <a:pPr indent="446088" algn="just">
              <a:lnSpc>
                <a:spcPts val="1600"/>
              </a:lnSpc>
              <a:spcBef>
                <a:spcPts val="600"/>
              </a:spcBef>
            </a:pPr>
            <a:r>
              <a:rPr lang="ru-RU" sz="1600" dirty="0"/>
              <a:t>1.2.	Осуществить выбор теоретического закона распределения углерода.</a:t>
            </a:r>
          </a:p>
          <a:p>
            <a:pPr indent="446088" algn="just">
              <a:lnSpc>
                <a:spcPts val="1600"/>
              </a:lnSpc>
              <a:spcBef>
                <a:spcPts val="600"/>
              </a:spcBef>
            </a:pPr>
            <a:r>
              <a:rPr lang="ru-RU" sz="1600" dirty="0"/>
              <a:t>1.3.	Провести проверку гипотезы о соответствии эмпирического распределения углерода в материале выбранному теоретическому закону распределения.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Таблица 5">
                <a:extLst>
                  <a:ext uri="{FF2B5EF4-FFF2-40B4-BE49-F238E27FC236}">
                    <a16:creationId xmlns:a16="http://schemas.microsoft.com/office/drawing/2014/main" id="{BF4EBDE2-99C8-43C5-B02D-0C9949430E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25985961"/>
                  </p:ext>
                </p:extLst>
              </p:nvPr>
            </p:nvGraphicFramePr>
            <p:xfrm>
              <a:off x="239381" y="2564848"/>
              <a:ext cx="3888000" cy="24964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0,22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0,41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0,32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0,36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</a:t>
                          </a:r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12</a:t>
                          </a:r>
                          <a:endParaRPr lang="ru-RU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0,46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0,02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0,31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0,10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0,15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0,35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0,23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0,49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0,01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0,24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9283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0,42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0,18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0,23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0,17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0,07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0,24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0,31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0,30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0,13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0,14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0,36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0,30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0,14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0,28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0,43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0,48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0,22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0,21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0,26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0,33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0,43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0,07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0,46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0,33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0,36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0,15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0,45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0,26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0,29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0,23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0,22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0,18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0,05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0,15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Таблица 5">
                <a:extLst>
                  <a:ext uri="{FF2B5EF4-FFF2-40B4-BE49-F238E27FC236}">
                    <a16:creationId xmlns:a16="http://schemas.microsoft.com/office/drawing/2014/main" id="{BF4EBDE2-99C8-43C5-B02D-0C9949430E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25985961"/>
                  </p:ext>
                </p:extLst>
              </p:nvPr>
            </p:nvGraphicFramePr>
            <p:xfrm>
              <a:off x="239381" y="2564848"/>
              <a:ext cx="3888000" cy="24964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6957" t="-18919" r="-743478" b="-10351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2464" t="-18919" r="-557971" b="-10351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64706" t="-18919" r="-379412" b="-10351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52941" t="-18919" r="-191176" b="-10351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27536" t="-18919" r="-2899" b="-10351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0,22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0,41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0,32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0,36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</a:t>
                          </a:r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12</a:t>
                          </a:r>
                          <a:endParaRPr lang="ru-RU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0,46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0,02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0,31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0,10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0,15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0,35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0,23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0,49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0,01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0,24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0,42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0,18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0,23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0,17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0,07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0,24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0,31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0,30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0,13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0,14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0,36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0,30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0,14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0,28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0,43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0,48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0,22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0,21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0,26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0,33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0,43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0,07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0,46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0,33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0,36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0,15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0,45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0,26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0,29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0,23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0,22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0,18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0,05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0,15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46E2CE2-31C7-49EC-A390-550CCD3BE5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7048" y="2838478"/>
            <a:ext cx="4537571" cy="13832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AA0846-C9E5-4AA3-902C-C6F1440EDA5D}"/>
              </a:ext>
            </a:extLst>
          </p:cNvPr>
          <p:cNvSpPr txBox="1"/>
          <p:nvPr/>
        </p:nvSpPr>
        <p:spPr>
          <a:xfrm>
            <a:off x="4568453" y="4351283"/>
            <a:ext cx="44573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 Портативные </a:t>
            </a:r>
            <a:r>
              <a:rPr lang="ru-RU" sz="1400" dirty="0" err="1"/>
              <a:t>рентгенофлуоресцентные</a:t>
            </a:r>
            <a:r>
              <a:rPr lang="ru-RU" sz="1400" dirty="0"/>
              <a:t> спектрометры </a:t>
            </a:r>
          </a:p>
        </p:txBody>
      </p:sp>
    </p:spTree>
    <p:extLst>
      <p:ext uri="{BB962C8B-B14F-4D97-AF65-F5344CB8AC3E}">
        <p14:creationId xmlns:p14="http://schemas.microsoft.com/office/powerpoint/2010/main" val="2683545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push dir="u"/>
      </p:transition>
    </mc:Choice>
    <mc:Fallback xmlns="">
      <p:transition>
        <p:push dir="u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680957" y="20626"/>
            <a:ext cx="433137" cy="276999"/>
          </a:xfrm>
          <a:prstGeom prst="rect">
            <a:avLst/>
          </a:prstGeom>
          <a:solidFill>
            <a:srgbClr val="CC00CC"/>
          </a:solidFill>
          <a:ln>
            <a:solidFill>
              <a:srgbClr val="CC00CC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15</a:t>
            </a:r>
            <a:endParaRPr lang="ru-RU" sz="1200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9381" y="475749"/>
            <a:ext cx="8658144" cy="1839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600"/>
              </a:lnSpc>
              <a:spcBef>
                <a:spcPts val="600"/>
              </a:spcBef>
            </a:pPr>
            <a:r>
              <a:rPr lang="ru-RU" sz="1600" b="1" dirty="0"/>
              <a:t>Задача </a:t>
            </a:r>
            <a:r>
              <a:rPr lang="en-US" sz="1600" b="1" dirty="0"/>
              <a:t>3</a:t>
            </a:r>
            <a:r>
              <a:rPr lang="ru-RU" sz="1600" b="1" dirty="0"/>
              <a:t> (Вариант </a:t>
            </a:r>
            <a:r>
              <a:rPr lang="en-US" sz="1600" b="1" dirty="0"/>
              <a:t>3</a:t>
            </a:r>
            <a:r>
              <a:rPr lang="ru-RU" sz="1600" b="1" dirty="0"/>
              <a:t>).</a:t>
            </a:r>
          </a:p>
          <a:p>
            <a:pPr algn="just">
              <a:lnSpc>
                <a:spcPts val="1600"/>
              </a:lnSpc>
              <a:spcBef>
                <a:spcPts val="600"/>
              </a:spcBef>
            </a:pPr>
            <a:r>
              <a:rPr lang="ru-RU" sz="1600" dirty="0"/>
              <a:t>Обработать результаты ресурсных испытаний, а именно:</a:t>
            </a:r>
          </a:p>
          <a:p>
            <a:pPr indent="446088" algn="just">
              <a:lnSpc>
                <a:spcPts val="1600"/>
              </a:lnSpc>
              <a:spcBef>
                <a:spcPts val="600"/>
              </a:spcBef>
            </a:pPr>
            <a:r>
              <a:rPr lang="ru-RU" sz="1600" dirty="0"/>
              <a:t>1.1.	Определить значения характеристик эмпирического распределения наработки до отказа (час.) в изделий по результатам испытаний.</a:t>
            </a:r>
          </a:p>
          <a:p>
            <a:pPr indent="446088" algn="just">
              <a:lnSpc>
                <a:spcPts val="1600"/>
              </a:lnSpc>
              <a:spcBef>
                <a:spcPts val="600"/>
              </a:spcBef>
            </a:pPr>
            <a:r>
              <a:rPr lang="ru-RU" sz="1600" dirty="0"/>
              <a:t>1.2.	Осуществить выбор теоретического закона распределения наработки до отказа.</a:t>
            </a:r>
          </a:p>
          <a:p>
            <a:pPr indent="446088" algn="just">
              <a:lnSpc>
                <a:spcPts val="1600"/>
              </a:lnSpc>
              <a:spcBef>
                <a:spcPts val="600"/>
              </a:spcBef>
            </a:pPr>
            <a:r>
              <a:rPr lang="ru-RU" sz="1600" dirty="0"/>
              <a:t>1.3.	Провести проверку гипотезы о соответствии эмпирического распределения наработки до отказа выбранному теоретическому закону распределения.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Таблица 6">
                <a:extLst>
                  <a:ext uri="{FF2B5EF4-FFF2-40B4-BE49-F238E27FC236}">
                    <a16:creationId xmlns:a16="http://schemas.microsoft.com/office/drawing/2014/main" id="{3DBF7FED-6B54-45D5-9E82-2630DC5F1F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6153183"/>
                  </p:ext>
                </p:extLst>
              </p:nvPr>
            </p:nvGraphicFramePr>
            <p:xfrm>
              <a:off x="2360885" y="2417703"/>
              <a:ext cx="3888000" cy="24964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189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166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161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236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9283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115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206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113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162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179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225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202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203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230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Таблица 6">
                <a:extLst>
                  <a:ext uri="{FF2B5EF4-FFF2-40B4-BE49-F238E27FC236}">
                    <a16:creationId xmlns:a16="http://schemas.microsoft.com/office/drawing/2014/main" id="{3DBF7FED-6B54-45D5-9E82-2630DC5F1F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6153183"/>
                  </p:ext>
                </p:extLst>
              </p:nvPr>
            </p:nvGraphicFramePr>
            <p:xfrm>
              <a:off x="2360885" y="2417703"/>
              <a:ext cx="3888000" cy="24964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6957" t="-18919" r="-743478" b="-10351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2464" t="-18919" r="-557971" b="-10351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64706" t="-18919" r="-379412" b="-10351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52941" t="-18919" r="-191176" b="-10351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27536" t="-18919" r="-2899" b="-10351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189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166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161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236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115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206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113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162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179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225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202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203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230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64464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push dir="u"/>
      </p:transition>
    </mc:Choice>
    <mc:Fallback xmlns="">
      <p:transition>
        <p:push dir="u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680957" y="20626"/>
            <a:ext cx="433137" cy="276999"/>
          </a:xfrm>
          <a:prstGeom prst="rect">
            <a:avLst/>
          </a:prstGeom>
          <a:solidFill>
            <a:srgbClr val="CC00CC"/>
          </a:solidFill>
          <a:ln>
            <a:solidFill>
              <a:srgbClr val="CC00CC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1</a:t>
            </a:r>
            <a:r>
              <a:rPr lang="ru-RU" sz="1200" b="1" dirty="0">
                <a:solidFill>
                  <a:schemeClr val="bg1"/>
                </a:solidFill>
              </a:rPr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39381" y="475749"/>
                <a:ext cx="8658144" cy="20444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ts val="1600"/>
                  </a:lnSpc>
                  <a:spcBef>
                    <a:spcPts val="600"/>
                  </a:spcBef>
                </a:pPr>
                <a:r>
                  <a:rPr lang="ru-RU" sz="1600" b="1" dirty="0"/>
                  <a:t>Задача </a:t>
                </a:r>
                <a:r>
                  <a:rPr lang="en-US" sz="1600" b="1" dirty="0"/>
                  <a:t>4</a:t>
                </a:r>
                <a:r>
                  <a:rPr lang="ru-RU" sz="1600" b="1" dirty="0"/>
                  <a:t> (Вариант </a:t>
                </a:r>
                <a:r>
                  <a:rPr lang="en-US" sz="1600" b="1" dirty="0"/>
                  <a:t>4</a:t>
                </a:r>
                <a:r>
                  <a:rPr lang="ru-RU" sz="1600" b="1" dirty="0"/>
                  <a:t>).</a:t>
                </a:r>
              </a:p>
              <a:p>
                <a:pPr algn="just">
                  <a:lnSpc>
                    <a:spcPts val="1600"/>
                  </a:lnSpc>
                  <a:spcBef>
                    <a:spcPts val="600"/>
                  </a:spcBef>
                </a:pPr>
                <a:r>
                  <a:rPr lang="ru-RU" sz="1600" dirty="0"/>
                  <a:t>Обработать результаты механических испытаний на разрыв, а именно:</a:t>
                </a:r>
              </a:p>
              <a:p>
                <a:pPr indent="446088" algn="just">
                  <a:lnSpc>
                    <a:spcPts val="1600"/>
                  </a:lnSpc>
                  <a:spcBef>
                    <a:spcPts val="600"/>
                  </a:spcBef>
                </a:pPr>
                <a:r>
                  <a:rPr lang="ru-RU" sz="1600" dirty="0"/>
                  <a:t>1.1.	Определить значения характеристик эмпирического распределения предела прочности материала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ru-RU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в</m:t>
                        </m:r>
                      </m:sub>
                    </m:sSub>
                  </m:oMath>
                </a14:m>
                <a:r>
                  <a:rPr lang="ru-RU" sz="1600" dirty="0"/>
                  <a:t> (Мпа).</a:t>
                </a:r>
              </a:p>
              <a:p>
                <a:pPr indent="446088" algn="just">
                  <a:lnSpc>
                    <a:spcPts val="1600"/>
                  </a:lnSpc>
                  <a:spcBef>
                    <a:spcPts val="600"/>
                  </a:spcBef>
                </a:pPr>
                <a:r>
                  <a:rPr lang="ru-RU" sz="1600" dirty="0"/>
                  <a:t>1.2.	Осуществить выбор теоретического закона распределения предела прочности материала.</a:t>
                </a:r>
              </a:p>
              <a:p>
                <a:pPr indent="446088" algn="just">
                  <a:lnSpc>
                    <a:spcPts val="1600"/>
                  </a:lnSpc>
                  <a:spcBef>
                    <a:spcPts val="600"/>
                  </a:spcBef>
                </a:pPr>
                <a:r>
                  <a:rPr lang="ru-RU" sz="1600" dirty="0"/>
                  <a:t>1.3.	Провести проверку гипотезы о соответствии эмпирического распределения предела прочности материала выбранному теоретическому закону распределения.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381" y="475749"/>
                <a:ext cx="8658144" cy="2044406"/>
              </a:xfrm>
              <a:prstGeom prst="rect">
                <a:avLst/>
              </a:prstGeom>
              <a:blipFill>
                <a:blip r:embed="rId3"/>
                <a:stretch>
                  <a:fillRect l="-352" t="-2687" r="-352" b="-29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Таблица 6">
                <a:extLst>
                  <a:ext uri="{FF2B5EF4-FFF2-40B4-BE49-F238E27FC236}">
                    <a16:creationId xmlns:a16="http://schemas.microsoft.com/office/drawing/2014/main" id="{484C0CBF-A265-430D-9819-D2E75C1743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3828445"/>
                  </p:ext>
                </p:extLst>
              </p:nvPr>
            </p:nvGraphicFramePr>
            <p:xfrm>
              <a:off x="327133" y="2567471"/>
              <a:ext cx="3888000" cy="24964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664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551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563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609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549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587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593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509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636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568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551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578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9283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625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633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671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534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503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603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726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599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655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595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592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564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476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619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631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686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538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627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651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522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627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577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572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594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728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708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487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623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602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664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549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541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669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Таблица 6">
                <a:extLst>
                  <a:ext uri="{FF2B5EF4-FFF2-40B4-BE49-F238E27FC236}">
                    <a16:creationId xmlns:a16="http://schemas.microsoft.com/office/drawing/2014/main" id="{484C0CBF-A265-430D-9819-D2E75C1743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3828445"/>
                  </p:ext>
                </p:extLst>
              </p:nvPr>
            </p:nvGraphicFramePr>
            <p:xfrm>
              <a:off x="327133" y="2567471"/>
              <a:ext cx="3888000" cy="24964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6957" t="-18919" r="-743478" b="-10351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2464" t="-18919" r="-557971" b="-10351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64706" t="-18919" r="-379412" b="-10351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52941" t="-18919" r="-191176" b="-10351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27536" t="-18919" r="-2899" b="-10351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664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551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563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609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549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587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593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509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636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568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551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578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625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633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671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534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503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603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726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599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655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595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592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564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476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619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631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686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538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627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651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522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627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577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572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594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728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708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487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623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602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664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549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541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669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789F4538-657B-44C4-AB1F-B4CABDC79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2421" y="2567471"/>
            <a:ext cx="3509345" cy="2445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3519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push dir="u"/>
      </p:transition>
    </mc:Choice>
    <mc:Fallback xmlns="">
      <p:transition>
        <p:push dir="u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680957" y="20626"/>
            <a:ext cx="433137" cy="276999"/>
          </a:xfrm>
          <a:prstGeom prst="rect">
            <a:avLst/>
          </a:prstGeom>
          <a:solidFill>
            <a:srgbClr val="CC00CC"/>
          </a:solidFill>
          <a:ln>
            <a:solidFill>
              <a:srgbClr val="CC00CC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1</a:t>
            </a:r>
            <a:r>
              <a:rPr lang="ru-RU" sz="12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9381" y="452100"/>
            <a:ext cx="8658144" cy="2044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600"/>
              </a:lnSpc>
              <a:spcBef>
                <a:spcPts val="600"/>
              </a:spcBef>
            </a:pPr>
            <a:r>
              <a:rPr lang="ru-RU" sz="1600" b="1" dirty="0"/>
              <a:t>Задача 5 (Вариант 5).</a:t>
            </a:r>
          </a:p>
          <a:p>
            <a:pPr algn="just">
              <a:lnSpc>
                <a:spcPts val="1600"/>
              </a:lnSpc>
              <a:spcBef>
                <a:spcPts val="600"/>
              </a:spcBef>
            </a:pPr>
            <a:r>
              <a:rPr lang="ru-RU" sz="1600" dirty="0"/>
              <a:t>Обработать результаты испытаний на восстановление исправного состояния изделия, а именно:</a:t>
            </a:r>
          </a:p>
          <a:p>
            <a:pPr indent="446088" algn="just">
              <a:lnSpc>
                <a:spcPts val="1600"/>
              </a:lnSpc>
              <a:spcBef>
                <a:spcPts val="600"/>
              </a:spcBef>
            </a:pPr>
            <a:r>
              <a:rPr lang="ru-RU" sz="1600" dirty="0"/>
              <a:t>1.1.	Определить значения характеристик эмпирического распределения продолжительности ремонта изделия (час.) по результатам испытаний.</a:t>
            </a:r>
          </a:p>
          <a:p>
            <a:pPr indent="446088" algn="just">
              <a:lnSpc>
                <a:spcPts val="1600"/>
              </a:lnSpc>
              <a:spcBef>
                <a:spcPts val="600"/>
              </a:spcBef>
            </a:pPr>
            <a:r>
              <a:rPr lang="ru-RU" sz="1600" dirty="0"/>
              <a:t>1.2.	Осуществить выбор теоретического закона распределения продолжительности ремонта изделия .</a:t>
            </a:r>
          </a:p>
          <a:p>
            <a:pPr indent="446088" algn="just">
              <a:lnSpc>
                <a:spcPts val="1600"/>
              </a:lnSpc>
              <a:spcBef>
                <a:spcPts val="600"/>
              </a:spcBef>
            </a:pPr>
            <a:r>
              <a:rPr lang="ru-RU" sz="1600" dirty="0"/>
              <a:t>1.3.	Провести проверку гипотезы о соответствии эмпирического распределения продолжительности ремонта изделия выбранному теоретическому закону распределения.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Таблица 6">
                <a:extLst>
                  <a:ext uri="{FF2B5EF4-FFF2-40B4-BE49-F238E27FC236}">
                    <a16:creationId xmlns:a16="http://schemas.microsoft.com/office/drawing/2014/main" id="{3DBF7FED-6B54-45D5-9E82-2630DC5F1F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5968764"/>
                  </p:ext>
                </p:extLst>
              </p:nvPr>
            </p:nvGraphicFramePr>
            <p:xfrm>
              <a:off x="2360885" y="2520182"/>
              <a:ext cx="3888000" cy="24964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189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236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9283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206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162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179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182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230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Таблица 6">
                <a:extLst>
                  <a:ext uri="{FF2B5EF4-FFF2-40B4-BE49-F238E27FC236}">
                    <a16:creationId xmlns:a16="http://schemas.microsoft.com/office/drawing/2014/main" id="{3DBF7FED-6B54-45D5-9E82-2630DC5F1F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5968764"/>
                  </p:ext>
                </p:extLst>
              </p:nvPr>
            </p:nvGraphicFramePr>
            <p:xfrm>
              <a:off x="2360885" y="2520182"/>
              <a:ext cx="3888000" cy="24964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417600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6957" t="-18919" r="-743478" b="-10351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2464" t="-18919" r="-557971" b="-10351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64706" t="-18919" r="-379412" b="-10351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52941" t="-18919" r="-191176" b="-10351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ru-RU" sz="1200" b="0" i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№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27536" t="-18919" r="-2899" b="-10351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189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41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42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236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43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44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206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45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162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47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179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48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49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269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30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230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00"/>
                            </a:lnSpc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50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95838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push dir="u"/>
      </p:transition>
    </mc:Choice>
    <mc:Fallback xmlns="">
      <p:transition>
        <p:push dir="u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680957" y="20626"/>
            <a:ext cx="433137" cy="276999"/>
          </a:xfrm>
          <a:prstGeom prst="rect">
            <a:avLst/>
          </a:prstGeom>
          <a:solidFill>
            <a:srgbClr val="CC00CC"/>
          </a:solidFill>
          <a:ln>
            <a:solidFill>
              <a:srgbClr val="CC00CC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1</a:t>
            </a:r>
            <a:r>
              <a:rPr lang="ru-RU" sz="1200" b="1">
                <a:solidFill>
                  <a:schemeClr val="bg1"/>
                </a:solidFill>
              </a:rPr>
              <a:t>8</a:t>
            </a:r>
            <a:endParaRPr lang="ru-RU" sz="1200" b="1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1409" y="516107"/>
            <a:ext cx="8766116" cy="877608"/>
          </a:xfrm>
          <a:prstGeom prst="rect">
            <a:avLst/>
          </a:prstGeom>
          <a:noFill/>
        </p:spPr>
        <p:txBody>
          <a:bodyPr wrap="square" lIns="36000" tIns="36000" rtlCol="0">
            <a:spAutoFit/>
          </a:bodyPr>
          <a:lstStyle/>
          <a:p>
            <a:pPr algn="just">
              <a:lnSpc>
                <a:spcPts val="1400"/>
              </a:lnSpc>
            </a:pPr>
            <a:r>
              <a:rPr lang="ru-RU" sz="1600" b="1" dirty="0">
                <a:solidFill>
                  <a:srgbClr val="00030C"/>
                </a:solidFill>
              </a:rPr>
              <a:t>Требования к оформлению отчета:</a:t>
            </a:r>
          </a:p>
          <a:p>
            <a:pPr marL="273050" indent="-273050" algn="just">
              <a:lnSpc>
                <a:spcPts val="1400"/>
              </a:lnSpc>
              <a:spcBef>
                <a:spcPts val="600"/>
              </a:spcBef>
              <a:buFont typeface="Wingdings" pitchFamily="2" charset="2"/>
              <a:buChar char="§"/>
            </a:pPr>
            <a:r>
              <a:rPr lang="ru-RU" sz="1400" dirty="0">
                <a:solidFill>
                  <a:srgbClr val="00030C"/>
                </a:solidFill>
              </a:rPr>
              <a:t>на титульном листе указать тему, ФИО и номер группы обучаемого, ФИО и должность преподавателя;</a:t>
            </a:r>
          </a:p>
          <a:p>
            <a:pPr marL="273050" indent="-273050" algn="just">
              <a:lnSpc>
                <a:spcPts val="1400"/>
              </a:lnSpc>
              <a:buFont typeface="Wingdings" pitchFamily="2" charset="2"/>
              <a:buChar char="§"/>
            </a:pPr>
            <a:r>
              <a:rPr lang="ru-RU" sz="1400" dirty="0">
                <a:solidFill>
                  <a:srgbClr val="00030C"/>
                </a:solidFill>
              </a:rPr>
              <a:t>в основной части отчета привести подробное представление решений задач лабораторной работы, в том числе используемые средства эксперимента.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61257" y="1498391"/>
            <a:ext cx="8636267" cy="35035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ru-RU" sz="1200" dirty="0"/>
              <a:t>Министерство науки и высшего образования Российской Федерации</a:t>
            </a:r>
          </a:p>
          <a:p>
            <a:pPr algn="ctr">
              <a:lnSpc>
                <a:spcPts val="1400"/>
              </a:lnSpc>
            </a:pPr>
            <a:r>
              <a:rPr lang="ru-RU" sz="1200" cap="all" dirty="0"/>
              <a:t>федеральное государственное автономное образовательное учреждение высшего образования</a:t>
            </a:r>
            <a:endParaRPr lang="ru-RU" sz="1200" dirty="0"/>
          </a:p>
          <a:p>
            <a:pPr algn="ctr">
              <a:lnSpc>
                <a:spcPts val="1400"/>
              </a:lnSpc>
            </a:pPr>
            <a:r>
              <a:rPr lang="ru-RU" sz="1200" dirty="0"/>
              <a:t>«Национальный исследовательский университет ИТМО»</a:t>
            </a:r>
          </a:p>
          <a:p>
            <a:pPr algn="ctr">
              <a:lnSpc>
                <a:spcPts val="1400"/>
              </a:lnSpc>
            </a:pPr>
            <a:r>
              <a:rPr lang="ru-RU" sz="1200" dirty="0"/>
              <a:t>(Университет ИТМО)</a:t>
            </a:r>
          </a:p>
          <a:p>
            <a:pPr>
              <a:lnSpc>
                <a:spcPts val="1400"/>
              </a:lnSpc>
            </a:pPr>
            <a:r>
              <a:rPr lang="ru-RU" sz="1200" dirty="0"/>
              <a:t> </a:t>
            </a:r>
          </a:p>
          <a:p>
            <a:pPr algn="ctr">
              <a:lnSpc>
                <a:spcPts val="1400"/>
              </a:lnSpc>
            </a:pPr>
            <a:endParaRPr lang="ru-RU" sz="1200" dirty="0"/>
          </a:p>
          <a:p>
            <a:pPr algn="ctr">
              <a:lnSpc>
                <a:spcPts val="1400"/>
              </a:lnSpc>
            </a:pPr>
            <a:r>
              <a:rPr lang="ru-RU" sz="1200" dirty="0"/>
              <a:t> Дисциплина: «Статистические методы в инженерных исследованиях»</a:t>
            </a:r>
          </a:p>
          <a:p>
            <a:pPr>
              <a:lnSpc>
                <a:spcPts val="1400"/>
              </a:lnSpc>
            </a:pPr>
            <a:endParaRPr lang="ru-RU" sz="1200" dirty="0"/>
          </a:p>
          <a:p>
            <a:pPr algn="ctr">
              <a:lnSpc>
                <a:spcPts val="1400"/>
              </a:lnSpc>
            </a:pPr>
            <a:r>
              <a:rPr lang="ru-RU" sz="1200" dirty="0"/>
              <a:t>ОТЧЕТ</a:t>
            </a:r>
          </a:p>
          <a:p>
            <a:pPr algn="ctr">
              <a:lnSpc>
                <a:spcPts val="1400"/>
              </a:lnSpc>
            </a:pPr>
            <a:r>
              <a:rPr lang="ru-RU" sz="1200" dirty="0"/>
              <a:t>по лабораторной работе 1</a:t>
            </a:r>
          </a:p>
          <a:p>
            <a:pPr algn="ctr">
              <a:lnSpc>
                <a:spcPts val="1400"/>
              </a:lnSpc>
            </a:pPr>
            <a:r>
              <a:rPr lang="ru-RU" sz="1200" dirty="0"/>
              <a:t>«Первичная обработка экспериментальных данных. Статистический анализ экспериментальных данных»</a:t>
            </a:r>
          </a:p>
          <a:p>
            <a:pPr>
              <a:lnSpc>
                <a:spcPts val="1400"/>
              </a:lnSpc>
            </a:pPr>
            <a:endParaRPr lang="ru-RU" sz="1200" dirty="0"/>
          </a:p>
          <a:p>
            <a:pPr>
              <a:lnSpc>
                <a:spcPts val="1400"/>
              </a:lnSpc>
            </a:pPr>
            <a:endParaRPr lang="ru-RU" sz="1200" dirty="0"/>
          </a:p>
          <a:p>
            <a:pPr indent="4217988">
              <a:lnSpc>
                <a:spcPts val="1400"/>
              </a:lnSpc>
            </a:pPr>
            <a:r>
              <a:rPr lang="ru-RU" sz="1200" dirty="0"/>
              <a:t>Студент группы____________ __________ __________________ </a:t>
            </a:r>
          </a:p>
          <a:p>
            <a:pPr indent="4217988">
              <a:lnSpc>
                <a:spcPts val="1400"/>
              </a:lnSpc>
            </a:pPr>
            <a:r>
              <a:rPr lang="ru-RU" sz="1000" dirty="0"/>
              <a:t>                                     (номер группы)    (подпись)           (Ф.И.О студента) </a:t>
            </a:r>
          </a:p>
          <a:p>
            <a:pPr indent="4217988">
              <a:lnSpc>
                <a:spcPts val="1400"/>
              </a:lnSpc>
            </a:pPr>
            <a:r>
              <a:rPr lang="ru-RU" sz="1200" dirty="0"/>
              <a:t>Проверил: </a:t>
            </a:r>
          </a:p>
          <a:p>
            <a:pPr indent="4217988">
              <a:lnSpc>
                <a:spcPts val="1400"/>
              </a:lnSpc>
            </a:pPr>
            <a:r>
              <a:rPr lang="ru-RU" sz="1200" dirty="0"/>
              <a:t>Преподаватель __________ _______________________ </a:t>
            </a:r>
          </a:p>
          <a:p>
            <a:pPr indent="4217988">
              <a:lnSpc>
                <a:spcPts val="1400"/>
              </a:lnSpc>
            </a:pPr>
            <a:r>
              <a:rPr lang="ru-RU" sz="1200" dirty="0"/>
              <a:t>                              </a:t>
            </a:r>
            <a:r>
              <a:rPr lang="ru-RU" sz="1000" dirty="0"/>
              <a:t>(подпись)          (Ф.И.О. преподавателя) </a:t>
            </a:r>
          </a:p>
          <a:p>
            <a:pPr indent="4217988">
              <a:lnSpc>
                <a:spcPts val="1400"/>
              </a:lnSpc>
            </a:pPr>
            <a:r>
              <a:rPr lang="ru-RU" sz="1000" dirty="0"/>
              <a:t>«___» ________________202_г.</a:t>
            </a:r>
          </a:p>
        </p:txBody>
      </p:sp>
    </p:spTree>
    <p:extLst>
      <p:ext uri="{BB962C8B-B14F-4D97-AF65-F5344CB8AC3E}">
        <p14:creationId xmlns:p14="http://schemas.microsoft.com/office/powerpoint/2010/main" val="2083140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push dir="u"/>
      </p:transition>
    </mc:Choice>
    <mc:Fallback xmlns="">
      <p:transition>
        <p:push dir="u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01813"/>
            <a:ext cx="8229600" cy="620712"/>
          </a:xfrm>
        </p:spPr>
        <p:txBody>
          <a:bodyPr>
            <a:noAutofit/>
          </a:bodyPr>
          <a:lstStyle/>
          <a:p>
            <a:pPr algn="ctr"/>
            <a:r>
              <a:rPr lang="ru-RU" sz="4400" dirty="0"/>
              <a:t>Спасибо</a:t>
            </a:r>
            <a:br>
              <a:rPr lang="ru-RU" sz="4400" dirty="0"/>
            </a:br>
            <a:r>
              <a:rPr lang="ru-RU" sz="4400" dirty="0"/>
              <a:t>за внимание!</a:t>
            </a:r>
            <a:endParaRPr lang="en-US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445834-34CB-F6E2-51BC-F26A92C144A1}"/>
              </a:ext>
            </a:extLst>
          </p:cNvPr>
          <p:cNvSpPr txBox="1"/>
          <p:nvPr/>
        </p:nvSpPr>
        <p:spPr>
          <a:xfrm>
            <a:off x="226881" y="4152361"/>
            <a:ext cx="86352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prstClr val="white"/>
                </a:solidFill>
                <a:cs typeface="Golos Text" panose="020B0503020202020204" pitchFamily="34" charset="-52"/>
              </a:rPr>
              <a:t>Федоров Алексей Владимирович</a:t>
            </a:r>
            <a:endParaRPr lang="en-US" dirty="0">
              <a:solidFill>
                <a:prstClr val="white"/>
              </a:solidFill>
              <a:cs typeface="Golos Text" panose="020B0503020202020204" pitchFamily="34" charset="-52"/>
            </a:endParaRPr>
          </a:p>
          <a:p>
            <a:pPr algn="ctr"/>
            <a:r>
              <a:rPr lang="en-US" dirty="0">
                <a:solidFill>
                  <a:prstClr val="white"/>
                </a:solidFill>
                <a:cs typeface="Golos Text" panose="020B0503020202020204" pitchFamily="34" charset="-52"/>
              </a:rPr>
              <a:t>avfedorov@itmo.ru</a:t>
            </a:r>
            <a:endParaRPr lang="ru-RU" dirty="0">
              <a:solidFill>
                <a:prstClr val="white"/>
              </a:solidFill>
              <a:cs typeface="Golos Text" panose="020B0503020202020204" pitchFamily="34" charset="-52"/>
            </a:endParaRPr>
          </a:p>
          <a:p>
            <a:pPr algn="r"/>
            <a:endParaRPr lang="ru-RU" dirty="0">
              <a:solidFill>
                <a:prstClr val="white"/>
              </a:solidFill>
              <a:cs typeface="Golos Text" panose="020B0503020202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87583997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Тема1" id="{4DAE9245-FD5C-48A3-9F61-0C8FFBFAE07A}" vid="{20E0B42B-372D-46F0-B56F-89DFAD950D3B}"/>
    </a:ext>
  </a:extLst>
</a:theme>
</file>

<file path=ppt/theme/theme2.xml><?xml version="1.0" encoding="utf-8"?>
<a:theme xmlns:a="http://schemas.openxmlformats.org/drawingml/2006/main" name="1_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Тема1" id="{4DAE9245-FD5C-48A3-9F61-0C8FFBFAE07A}" vid="{20E0B42B-372D-46F0-B56F-89DFAD950D3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Стандартная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Стандартная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Стандартная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Стандартная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Стандартная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Стандартная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7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Стандартная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8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Стандартная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9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Стандартная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12344</TotalTime>
  <Words>1829</Words>
  <Application>Microsoft Office PowerPoint</Application>
  <PresentationFormat>Экран (16:9)</PresentationFormat>
  <Paragraphs>1271</Paragraphs>
  <Slides>19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19</vt:i4>
      </vt:variant>
    </vt:vector>
  </HeadingPairs>
  <TitlesOfParts>
    <vt:vector size="28" baseType="lpstr">
      <vt:lpstr>ALS Gorizont Bold Expanded</vt:lpstr>
      <vt:lpstr>Arial</vt:lpstr>
      <vt:lpstr>Calibri</vt:lpstr>
      <vt:lpstr>Cambria Math</vt:lpstr>
      <vt:lpstr>Golos Text</vt:lpstr>
      <vt:lpstr>Golos Text DemiBold</vt:lpstr>
      <vt:lpstr>Wingdings</vt:lpstr>
      <vt:lpstr>Тема1</vt:lpstr>
      <vt:lpstr>1_Тема1</vt:lpstr>
      <vt:lpstr>Статистические методы в инженерных исследованиях  Лабораторная работа 1 Первичная обработка экспериментальных данных. Статистический анализ экспериментальных данных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</dc:creator>
  <cp:lastModifiedBy>Алексей</cp:lastModifiedBy>
  <cp:revision>491</cp:revision>
  <dcterms:created xsi:type="dcterms:W3CDTF">2014-06-27T12:30:22Z</dcterms:created>
  <dcterms:modified xsi:type="dcterms:W3CDTF">2025-09-04T06:18:28Z</dcterms:modified>
</cp:coreProperties>
</file>
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25"/>
  </p:notesMasterIdLst>
  <p:handoutMasterIdLst>
    <p:handoutMasterId r:id="rId26"/>
  </p:handoutMasterIdLst>
  <p:sldIdLst>
    <p:sldId id="265" r:id="rId2"/>
    <p:sldId id="340" r:id="rId3"/>
    <p:sldId id="319" r:id="rId4"/>
    <p:sldId id="306" r:id="rId5"/>
    <p:sldId id="320" r:id="rId6"/>
    <p:sldId id="321" r:id="rId7"/>
    <p:sldId id="323" r:id="rId8"/>
    <p:sldId id="342" r:id="rId9"/>
    <p:sldId id="339" r:id="rId10"/>
    <p:sldId id="322" r:id="rId11"/>
    <p:sldId id="324" r:id="rId12"/>
    <p:sldId id="325" r:id="rId13"/>
    <p:sldId id="326" r:id="rId14"/>
    <p:sldId id="327" r:id="rId15"/>
    <p:sldId id="328" r:id="rId16"/>
    <p:sldId id="330" r:id="rId17"/>
    <p:sldId id="331" r:id="rId18"/>
    <p:sldId id="329" r:id="rId19"/>
    <p:sldId id="332" r:id="rId20"/>
    <p:sldId id="333" r:id="rId21"/>
    <p:sldId id="334" r:id="rId22"/>
    <p:sldId id="335" r:id="rId23"/>
    <p:sldId id="307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04AD0-36C0-44FA-8A6E-F1156131FE6E}" v="35" dt="2023-02-17T14:02:53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737" autoAdjust="0"/>
  </p:normalViewPr>
  <p:slideViewPr>
    <p:cSldViewPr snapToGrid="0" snapToObjects="1" showGuides="1">
      <p:cViewPr varScale="1">
        <p:scale>
          <a:sx n="78" d="100"/>
          <a:sy n="78" d="100"/>
        </p:scale>
        <p:origin x="1076" y="5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андр Ильинский" userId="c5dccaf4dd2a7986" providerId="LiveId" clId="{13004AD0-36C0-44FA-8A6E-F1156131FE6E}"/>
    <pc:docChg chg="undo custSel addSld delSld modSld">
      <pc:chgData name="Александр Ильинский" userId="c5dccaf4dd2a7986" providerId="LiveId" clId="{13004AD0-36C0-44FA-8A6E-F1156131FE6E}" dt="2023-03-02T06:10:30.865" v="770" actId="20577"/>
      <pc:docMkLst>
        <pc:docMk/>
      </pc:docMkLst>
      <pc:sldChg chg="addSp modSp mod">
        <pc:chgData name="Александр Ильинский" userId="c5dccaf4dd2a7986" providerId="LiveId" clId="{13004AD0-36C0-44FA-8A6E-F1156131FE6E}" dt="2023-02-16T10:58:21.992" v="13" actId="20577"/>
        <pc:sldMkLst>
          <pc:docMk/>
          <pc:sldMk cId="2641417654" sldId="306"/>
        </pc:sldMkLst>
        <pc:spChg chg="add mod">
          <ac:chgData name="Александр Ильинский" userId="c5dccaf4dd2a7986" providerId="LiveId" clId="{13004AD0-36C0-44FA-8A6E-F1156131FE6E}" dt="2023-02-16T10:58:21.992" v="13" actId="20577"/>
          <ac:spMkLst>
            <pc:docMk/>
            <pc:sldMk cId="2641417654" sldId="306"/>
            <ac:spMk id="2" creationId="{DC7EB9FB-C3C1-2D0D-B7F3-8BD1F8E9F939}"/>
          </ac:spMkLst>
        </pc:spChg>
      </pc:sldChg>
      <pc:sldChg chg="addSp modSp mod">
        <pc:chgData name="Александр Ильинский" userId="c5dccaf4dd2a7986" providerId="LiveId" clId="{13004AD0-36C0-44FA-8A6E-F1156131FE6E}" dt="2023-02-16T10:58:17.199" v="10" actId="20577"/>
        <pc:sldMkLst>
          <pc:docMk/>
          <pc:sldMk cId="4256836173" sldId="319"/>
        </pc:sldMkLst>
        <pc:spChg chg="add mod">
          <ac:chgData name="Александр Ильинский" userId="c5dccaf4dd2a7986" providerId="LiveId" clId="{13004AD0-36C0-44FA-8A6E-F1156131FE6E}" dt="2023-02-16T10:58:17.199" v="10" actId="20577"/>
          <ac:spMkLst>
            <pc:docMk/>
            <pc:sldMk cId="4256836173" sldId="319"/>
            <ac:spMk id="4" creationId="{6ACA0973-B5D6-0B65-5065-36F49FA83691}"/>
          </ac:spMkLst>
        </pc:spChg>
      </pc:sldChg>
      <pc:sldChg chg="addSp modSp mod">
        <pc:chgData name="Александр Ильинский" userId="c5dccaf4dd2a7986" providerId="LiveId" clId="{13004AD0-36C0-44FA-8A6E-F1156131FE6E}" dt="2023-02-16T10:58:26.427" v="16" actId="20577"/>
        <pc:sldMkLst>
          <pc:docMk/>
          <pc:sldMk cId="787704557" sldId="320"/>
        </pc:sldMkLst>
        <pc:spChg chg="add mod">
          <ac:chgData name="Александр Ильинский" userId="c5dccaf4dd2a7986" providerId="LiveId" clId="{13004AD0-36C0-44FA-8A6E-F1156131FE6E}" dt="2023-02-16T10:58:26.427" v="16" actId="20577"/>
          <ac:spMkLst>
            <pc:docMk/>
            <pc:sldMk cId="787704557" sldId="320"/>
            <ac:spMk id="4" creationId="{808F7A8E-E920-9ED5-23CB-C35721A80379}"/>
          </ac:spMkLst>
        </pc:spChg>
      </pc:sldChg>
      <pc:sldChg chg="addSp modSp mod">
        <pc:chgData name="Александр Ильинский" userId="c5dccaf4dd2a7986" providerId="LiveId" clId="{13004AD0-36C0-44FA-8A6E-F1156131FE6E}" dt="2023-02-16T10:58:30.316" v="19" actId="20577"/>
        <pc:sldMkLst>
          <pc:docMk/>
          <pc:sldMk cId="2731584407" sldId="321"/>
        </pc:sldMkLst>
        <pc:spChg chg="add mod">
          <ac:chgData name="Александр Ильинский" userId="c5dccaf4dd2a7986" providerId="LiveId" clId="{13004AD0-36C0-44FA-8A6E-F1156131FE6E}" dt="2023-02-16T10:58:30.316" v="19" actId="20577"/>
          <ac:spMkLst>
            <pc:docMk/>
            <pc:sldMk cId="2731584407" sldId="321"/>
            <ac:spMk id="4" creationId="{CF03DE7A-B322-10FC-7D34-E49A10634313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2:52.691" v="129" actId="20577"/>
        <pc:sldMkLst>
          <pc:docMk/>
          <pc:sldMk cId="3261323327" sldId="322"/>
        </pc:sldMkLst>
        <pc:spChg chg="add mod">
          <ac:chgData name="Александр Ильинский" userId="c5dccaf4dd2a7986" providerId="LiveId" clId="{13004AD0-36C0-44FA-8A6E-F1156131FE6E}" dt="2023-02-17T13:42:52.691" v="129" actId="20577"/>
          <ac:spMkLst>
            <pc:docMk/>
            <pc:sldMk cId="3261323327" sldId="322"/>
            <ac:spMk id="4" creationId="{9E61E378-1003-744B-1A9E-AE9DE4DAA06A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1:54.765" v="109" actId="1038"/>
        <pc:sldMkLst>
          <pc:docMk/>
          <pc:sldMk cId="549086889" sldId="323"/>
        </pc:sldMkLst>
        <pc:spChg chg="add mod">
          <ac:chgData name="Александр Ильинский" userId="c5dccaf4dd2a7986" providerId="LiveId" clId="{13004AD0-36C0-44FA-8A6E-F1156131FE6E}" dt="2023-02-17T13:41:54.765" v="109" actId="1038"/>
          <ac:spMkLst>
            <pc:docMk/>
            <pc:sldMk cId="549086889" sldId="323"/>
            <ac:spMk id="4" creationId="{1F486CEC-FB3D-231D-1173-F846C7A07CAA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2:57.036" v="131" actId="20577"/>
        <pc:sldMkLst>
          <pc:docMk/>
          <pc:sldMk cId="2164959838" sldId="324"/>
        </pc:sldMkLst>
        <pc:spChg chg="add mod">
          <ac:chgData name="Александр Ильинский" userId="c5dccaf4dd2a7986" providerId="LiveId" clId="{13004AD0-36C0-44FA-8A6E-F1156131FE6E}" dt="2023-02-17T13:42:57.036" v="131" actId="20577"/>
          <ac:spMkLst>
            <pc:docMk/>
            <pc:sldMk cId="2164959838" sldId="324"/>
            <ac:spMk id="4" creationId="{C6EB6FBA-390C-B596-4913-FF532763100B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3:01.870" v="133" actId="20577"/>
        <pc:sldMkLst>
          <pc:docMk/>
          <pc:sldMk cId="574749014" sldId="325"/>
        </pc:sldMkLst>
        <pc:spChg chg="add mod">
          <ac:chgData name="Александр Ильинский" userId="c5dccaf4dd2a7986" providerId="LiveId" clId="{13004AD0-36C0-44FA-8A6E-F1156131FE6E}" dt="2023-02-17T13:43:01.870" v="133" actId="20577"/>
          <ac:spMkLst>
            <pc:docMk/>
            <pc:sldMk cId="574749014" sldId="325"/>
            <ac:spMk id="4" creationId="{9053C070-C083-2C05-8A24-470F57A173AF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3:05.998" v="135" actId="20577"/>
        <pc:sldMkLst>
          <pc:docMk/>
          <pc:sldMk cId="2658534334" sldId="326"/>
        </pc:sldMkLst>
        <pc:spChg chg="add mod">
          <ac:chgData name="Александр Ильинский" userId="c5dccaf4dd2a7986" providerId="LiveId" clId="{13004AD0-36C0-44FA-8A6E-F1156131FE6E}" dt="2023-02-17T13:43:05.998" v="135" actId="20577"/>
          <ac:spMkLst>
            <pc:docMk/>
            <pc:sldMk cId="2658534334" sldId="326"/>
            <ac:spMk id="2" creationId="{8712B99F-8343-8A61-3AF0-9195ACDE58C3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3:12.216" v="137" actId="20577"/>
        <pc:sldMkLst>
          <pc:docMk/>
          <pc:sldMk cId="1275504060" sldId="327"/>
        </pc:sldMkLst>
        <pc:spChg chg="add mod">
          <ac:chgData name="Александр Ильинский" userId="c5dccaf4dd2a7986" providerId="LiveId" clId="{13004AD0-36C0-44FA-8A6E-F1156131FE6E}" dt="2023-02-17T13:43:12.216" v="137" actId="20577"/>
          <ac:spMkLst>
            <pc:docMk/>
            <pc:sldMk cId="1275504060" sldId="327"/>
            <ac:spMk id="4" creationId="{B4FE22A2-FA1E-B09C-5D7E-77398C20F963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3:16.739" v="139" actId="20577"/>
        <pc:sldMkLst>
          <pc:docMk/>
          <pc:sldMk cId="3832411688" sldId="328"/>
        </pc:sldMkLst>
        <pc:spChg chg="add mod">
          <ac:chgData name="Александр Ильинский" userId="c5dccaf4dd2a7986" providerId="LiveId" clId="{13004AD0-36C0-44FA-8A6E-F1156131FE6E}" dt="2023-02-17T13:43:16.739" v="139" actId="20577"/>
          <ac:spMkLst>
            <pc:docMk/>
            <pc:sldMk cId="3832411688" sldId="328"/>
            <ac:spMk id="4" creationId="{C76FA5AE-E4DC-EE51-6209-8CAB5AC0F1C0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3:51.324" v="151" actId="20577"/>
        <pc:sldMkLst>
          <pc:docMk/>
          <pc:sldMk cId="2632736749" sldId="329"/>
        </pc:sldMkLst>
        <pc:spChg chg="add mod">
          <ac:chgData name="Александр Ильинский" userId="c5dccaf4dd2a7986" providerId="LiveId" clId="{13004AD0-36C0-44FA-8A6E-F1156131FE6E}" dt="2023-02-17T13:43:51.324" v="151" actId="20577"/>
          <ac:spMkLst>
            <pc:docMk/>
            <pc:sldMk cId="2632736749" sldId="329"/>
            <ac:spMk id="4" creationId="{C5DF7381-8252-4F59-F5D0-88706CF6CD1B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3:27.993" v="143" actId="20577"/>
        <pc:sldMkLst>
          <pc:docMk/>
          <pc:sldMk cId="1699082157" sldId="330"/>
        </pc:sldMkLst>
        <pc:spChg chg="add mod">
          <ac:chgData name="Александр Ильинский" userId="c5dccaf4dd2a7986" providerId="LiveId" clId="{13004AD0-36C0-44FA-8A6E-F1156131FE6E}" dt="2023-02-17T13:43:27.993" v="143" actId="20577"/>
          <ac:spMkLst>
            <pc:docMk/>
            <pc:sldMk cId="1699082157" sldId="330"/>
            <ac:spMk id="4" creationId="{1C60A909-7E58-2AFB-5E44-C284D98EB883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3:44.965" v="147" actId="20577"/>
        <pc:sldMkLst>
          <pc:docMk/>
          <pc:sldMk cId="566131946" sldId="331"/>
        </pc:sldMkLst>
        <pc:spChg chg="add mod">
          <ac:chgData name="Александр Ильинский" userId="c5dccaf4dd2a7986" providerId="LiveId" clId="{13004AD0-36C0-44FA-8A6E-F1156131FE6E}" dt="2023-02-17T13:43:44.965" v="147" actId="20577"/>
          <ac:spMkLst>
            <pc:docMk/>
            <pc:sldMk cId="566131946" sldId="331"/>
            <ac:spMk id="4" creationId="{E440877D-45AF-4B7A-2B5E-A2180638EF72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3:56.201" v="153" actId="20577"/>
        <pc:sldMkLst>
          <pc:docMk/>
          <pc:sldMk cId="44639190" sldId="332"/>
        </pc:sldMkLst>
        <pc:spChg chg="add mod">
          <ac:chgData name="Александр Ильинский" userId="c5dccaf4dd2a7986" providerId="LiveId" clId="{13004AD0-36C0-44FA-8A6E-F1156131FE6E}" dt="2023-02-17T13:43:56.201" v="153" actId="20577"/>
          <ac:spMkLst>
            <pc:docMk/>
            <pc:sldMk cId="44639190" sldId="332"/>
            <ac:spMk id="4" creationId="{30AC8F03-B6B6-3886-4800-AC79B80549BA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4:00.872" v="155" actId="20577"/>
        <pc:sldMkLst>
          <pc:docMk/>
          <pc:sldMk cId="2058891201" sldId="333"/>
        </pc:sldMkLst>
        <pc:spChg chg="add mod">
          <ac:chgData name="Александр Ильинский" userId="c5dccaf4dd2a7986" providerId="LiveId" clId="{13004AD0-36C0-44FA-8A6E-F1156131FE6E}" dt="2023-02-17T13:44:00.872" v="155" actId="20577"/>
          <ac:spMkLst>
            <pc:docMk/>
            <pc:sldMk cId="2058891201" sldId="333"/>
            <ac:spMk id="4" creationId="{F24D4A72-1EBB-8D6B-B253-CCC907CE3327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4:05.422" v="157" actId="20577"/>
        <pc:sldMkLst>
          <pc:docMk/>
          <pc:sldMk cId="2063206911" sldId="334"/>
        </pc:sldMkLst>
        <pc:spChg chg="add mod">
          <ac:chgData name="Александр Ильинский" userId="c5dccaf4dd2a7986" providerId="LiveId" clId="{13004AD0-36C0-44FA-8A6E-F1156131FE6E}" dt="2023-02-17T13:44:05.422" v="157" actId="20577"/>
          <ac:spMkLst>
            <pc:docMk/>
            <pc:sldMk cId="2063206911" sldId="334"/>
            <ac:spMk id="2" creationId="{D3F5F985-71C6-704D-1A5B-B8C22A684B2B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4:30.971" v="159" actId="20577"/>
        <pc:sldMkLst>
          <pc:docMk/>
          <pc:sldMk cId="508296072" sldId="335"/>
        </pc:sldMkLst>
        <pc:spChg chg="add mod">
          <ac:chgData name="Александр Ильинский" userId="c5dccaf4dd2a7986" providerId="LiveId" clId="{13004AD0-36C0-44FA-8A6E-F1156131FE6E}" dt="2023-02-17T13:44:30.971" v="159" actId="20577"/>
          <ac:spMkLst>
            <pc:docMk/>
            <pc:sldMk cId="508296072" sldId="335"/>
            <ac:spMk id="2" creationId="{2287DCF2-0E19-BADF-2258-B6CE84435E6D}"/>
          </ac:spMkLst>
        </pc:spChg>
      </pc:sldChg>
      <pc:sldChg chg="addSp modSp del mod">
        <pc:chgData name="Александр Ильинский" userId="c5dccaf4dd2a7986" providerId="LiveId" clId="{13004AD0-36C0-44FA-8A6E-F1156131FE6E}" dt="2023-02-17T13:41:39.756" v="94" actId="47"/>
        <pc:sldMkLst>
          <pc:docMk/>
          <pc:sldMk cId="2741484173" sldId="336"/>
        </pc:sldMkLst>
        <pc:spChg chg="add mod">
          <ac:chgData name="Александр Ильинский" userId="c5dccaf4dd2a7986" providerId="LiveId" clId="{13004AD0-36C0-44FA-8A6E-F1156131FE6E}" dt="2023-02-16T10:58:35.468" v="22" actId="20577"/>
          <ac:spMkLst>
            <pc:docMk/>
            <pc:sldMk cId="2741484173" sldId="336"/>
            <ac:spMk id="2" creationId="{E3DE9231-2743-8227-D648-830B9EAA9BF8}"/>
          </ac:spMkLst>
        </pc:spChg>
      </pc:sldChg>
      <pc:sldChg chg="addSp modSp del mod">
        <pc:chgData name="Александр Ильинский" userId="c5dccaf4dd2a7986" providerId="LiveId" clId="{13004AD0-36C0-44FA-8A6E-F1156131FE6E}" dt="2023-02-17T13:41:41.266" v="95" actId="47"/>
        <pc:sldMkLst>
          <pc:docMk/>
          <pc:sldMk cId="381083006" sldId="337"/>
        </pc:sldMkLst>
        <pc:spChg chg="add mod">
          <ac:chgData name="Александр Ильинский" userId="c5dccaf4dd2a7986" providerId="LiveId" clId="{13004AD0-36C0-44FA-8A6E-F1156131FE6E}" dt="2023-02-16T10:58:41.424" v="25" actId="20577"/>
          <ac:spMkLst>
            <pc:docMk/>
            <pc:sldMk cId="381083006" sldId="337"/>
            <ac:spMk id="2" creationId="{E1FAFEEC-DC49-0D8C-73BC-248BF63C9593}"/>
          </ac:spMkLst>
        </pc:spChg>
      </pc:sldChg>
      <pc:sldChg chg="addSp modSp del mod">
        <pc:chgData name="Александр Ильинский" userId="c5dccaf4dd2a7986" providerId="LiveId" clId="{13004AD0-36C0-44FA-8A6E-F1156131FE6E}" dt="2023-02-17T13:41:43.093" v="96" actId="47"/>
        <pc:sldMkLst>
          <pc:docMk/>
          <pc:sldMk cId="1433818752" sldId="338"/>
        </pc:sldMkLst>
        <pc:spChg chg="add mod">
          <ac:chgData name="Александр Ильинский" userId="c5dccaf4dd2a7986" providerId="LiveId" clId="{13004AD0-36C0-44FA-8A6E-F1156131FE6E}" dt="2023-02-16T10:58:52.006" v="31" actId="1076"/>
          <ac:spMkLst>
            <pc:docMk/>
            <pc:sldMk cId="1433818752" sldId="338"/>
            <ac:spMk id="3" creationId="{530786AA-1B8F-35A1-E567-B7B76CE84770}"/>
          </ac:spMkLst>
        </pc:spChg>
      </pc:sldChg>
      <pc:sldChg chg="addSp modSp mod">
        <pc:chgData name="Александр Ильинский" userId="c5dccaf4dd2a7986" providerId="LiveId" clId="{13004AD0-36C0-44FA-8A6E-F1156131FE6E}" dt="2023-02-17T13:42:48.650" v="127" actId="20577"/>
        <pc:sldMkLst>
          <pc:docMk/>
          <pc:sldMk cId="2394329789" sldId="339"/>
        </pc:sldMkLst>
        <pc:spChg chg="add mod">
          <ac:chgData name="Александр Ильинский" userId="c5dccaf4dd2a7986" providerId="LiveId" clId="{13004AD0-36C0-44FA-8A6E-F1156131FE6E}" dt="2023-02-17T13:42:48.650" v="127" actId="20577"/>
          <ac:spMkLst>
            <pc:docMk/>
            <pc:sldMk cId="2394329789" sldId="339"/>
            <ac:spMk id="2" creationId="{2D11748F-EE84-AFA0-D0E1-595F97216980}"/>
          </ac:spMkLst>
        </pc:spChg>
      </pc:sldChg>
      <pc:sldChg chg="addSp modSp mod">
        <pc:chgData name="Александр Ильинский" userId="c5dccaf4dd2a7986" providerId="LiveId" clId="{13004AD0-36C0-44FA-8A6E-F1156131FE6E}" dt="2023-02-16T10:58:04.638" v="2" actId="1076"/>
        <pc:sldMkLst>
          <pc:docMk/>
          <pc:sldMk cId="1149986775" sldId="340"/>
        </pc:sldMkLst>
        <pc:spChg chg="add mod">
          <ac:chgData name="Александр Ильинский" userId="c5dccaf4dd2a7986" providerId="LiveId" clId="{13004AD0-36C0-44FA-8A6E-F1156131FE6E}" dt="2023-02-16T10:58:04.638" v="2" actId="1076"/>
          <ac:spMkLst>
            <pc:docMk/>
            <pc:sldMk cId="1149986775" sldId="340"/>
            <ac:spMk id="7" creationId="{19612FBA-BECB-DCC8-F0D7-24CA5ADA0404}"/>
          </ac:spMkLst>
        </pc:spChg>
      </pc:sldChg>
      <pc:sldChg chg="addSp modSp mod">
        <pc:chgData name="Александр Ильинский" userId="c5dccaf4dd2a7986" providerId="LiveId" clId="{13004AD0-36C0-44FA-8A6E-F1156131FE6E}" dt="2023-02-16T10:58:12.135" v="5" actId="20577"/>
        <pc:sldMkLst>
          <pc:docMk/>
          <pc:sldMk cId="4087968246" sldId="341"/>
        </pc:sldMkLst>
        <pc:spChg chg="add mod">
          <ac:chgData name="Александр Ильинский" userId="c5dccaf4dd2a7986" providerId="LiveId" clId="{13004AD0-36C0-44FA-8A6E-F1156131FE6E}" dt="2023-02-16T10:58:12.135" v="5" actId="20577"/>
          <ac:spMkLst>
            <pc:docMk/>
            <pc:sldMk cId="4087968246" sldId="341"/>
            <ac:spMk id="7" creationId="{39CB621C-4FA3-0A7F-61CF-45F89B40DB52}"/>
          </ac:spMkLst>
        </pc:spChg>
      </pc:sldChg>
      <pc:sldChg chg="addSp modSp mod">
        <pc:chgData name="Александр Ильинский" userId="c5dccaf4dd2a7986" providerId="LiveId" clId="{13004AD0-36C0-44FA-8A6E-F1156131FE6E}" dt="2023-02-28T09:34:44.174" v="690" actId="20577"/>
        <pc:sldMkLst>
          <pc:docMk/>
          <pc:sldMk cId="2865176205" sldId="342"/>
        </pc:sldMkLst>
        <pc:spChg chg="mod">
          <ac:chgData name="Александр Ильинский" userId="c5dccaf4dd2a7986" providerId="LiveId" clId="{13004AD0-36C0-44FA-8A6E-F1156131FE6E}" dt="2023-02-28T09:34:44.174" v="690" actId="20577"/>
          <ac:spMkLst>
            <pc:docMk/>
            <pc:sldMk cId="2865176205" sldId="342"/>
            <ac:spMk id="2" creationId="{BF1E249D-5060-DBDE-FC98-02054821C658}"/>
          </ac:spMkLst>
        </pc:spChg>
        <pc:spChg chg="add mod">
          <ac:chgData name="Александр Ильинский" userId="c5dccaf4dd2a7986" providerId="LiveId" clId="{13004AD0-36C0-44FA-8A6E-F1156131FE6E}" dt="2023-02-17T13:42:41.537" v="125" actId="1038"/>
          <ac:spMkLst>
            <pc:docMk/>
            <pc:sldMk cId="2865176205" sldId="342"/>
            <ac:spMk id="4" creationId="{5138FB93-2C58-1491-13A1-4233FD44973A}"/>
          </ac:spMkLst>
        </pc:spChg>
      </pc:sldChg>
      <pc:sldChg chg="addSp delSp modSp new mod">
        <pc:chgData name="Александр Ильинский" userId="c5dccaf4dd2a7986" providerId="LiveId" clId="{13004AD0-36C0-44FA-8A6E-F1156131FE6E}" dt="2023-03-02T06:10:30.865" v="770" actId="20577"/>
        <pc:sldMkLst>
          <pc:docMk/>
          <pc:sldMk cId="2353960117" sldId="343"/>
        </pc:sldMkLst>
        <pc:spChg chg="mod">
          <ac:chgData name="Александр Ильинский" userId="c5dccaf4dd2a7986" providerId="LiveId" clId="{13004AD0-36C0-44FA-8A6E-F1156131FE6E}" dt="2023-02-17T13:57:37.053" v="551" actId="1076"/>
          <ac:spMkLst>
            <pc:docMk/>
            <pc:sldMk cId="2353960117" sldId="343"/>
            <ac:spMk id="2" creationId="{D8519515-B17C-3316-873D-95A854558EBB}"/>
          </ac:spMkLst>
        </pc:spChg>
        <pc:spChg chg="del">
          <ac:chgData name="Александр Ильинский" userId="c5dccaf4dd2a7986" providerId="LiveId" clId="{13004AD0-36C0-44FA-8A6E-F1156131FE6E}" dt="2023-02-17T13:45:29.814" v="207" actId="478"/>
          <ac:spMkLst>
            <pc:docMk/>
            <pc:sldMk cId="2353960117" sldId="343"/>
            <ac:spMk id="3" creationId="{26DD7F0E-A8BE-FD49-743A-099EEE9485FA}"/>
          </ac:spMkLst>
        </pc:spChg>
        <pc:spChg chg="add mod">
          <ac:chgData name="Александр Ильинский" userId="c5dccaf4dd2a7986" providerId="LiveId" clId="{13004AD0-36C0-44FA-8A6E-F1156131FE6E}" dt="2023-02-17T13:57:48.167" v="556" actId="1076"/>
          <ac:spMkLst>
            <pc:docMk/>
            <pc:sldMk cId="2353960117" sldId="343"/>
            <ac:spMk id="6" creationId="{0457CEA5-7A65-D0AF-5082-F1597756E5CF}"/>
          </ac:spMkLst>
        </pc:spChg>
        <pc:graphicFrameChg chg="add mod modGraphic">
          <ac:chgData name="Александр Ильинский" userId="c5dccaf4dd2a7986" providerId="LiveId" clId="{13004AD0-36C0-44FA-8A6E-F1156131FE6E}" dt="2023-03-02T06:10:30.865" v="770" actId="20577"/>
          <ac:graphicFrameMkLst>
            <pc:docMk/>
            <pc:sldMk cId="2353960117" sldId="343"/>
            <ac:graphicFrameMk id="4" creationId="{9E9D9C72-211B-B9CB-A14E-D88A3C5A89E1}"/>
          </ac:graphicFrameMkLst>
        </pc:graphicFrameChg>
        <pc:graphicFrameChg chg="add mod modGraphic">
          <ac:chgData name="Александр Ильинский" userId="c5dccaf4dd2a7986" providerId="LiveId" clId="{13004AD0-36C0-44FA-8A6E-F1156131FE6E}" dt="2023-03-02T06:08:17.147" v="750" actId="20577"/>
          <ac:graphicFrameMkLst>
            <pc:docMk/>
            <pc:sldMk cId="2353960117" sldId="343"/>
            <ac:graphicFrameMk id="5" creationId="{17056147-69DB-81F2-E1B7-682384A9FFED}"/>
          </ac:graphicFrameMkLst>
        </pc:graphicFrameChg>
      </pc:sldChg>
      <pc:sldChg chg="addSp delSp modSp new mod">
        <pc:chgData name="Александр Ильинский" userId="c5dccaf4dd2a7986" providerId="LiveId" clId="{13004AD0-36C0-44FA-8A6E-F1156131FE6E}" dt="2023-02-17T14:00:29.564" v="572" actId="14100"/>
        <pc:sldMkLst>
          <pc:docMk/>
          <pc:sldMk cId="3329808560" sldId="344"/>
        </pc:sldMkLst>
        <pc:spChg chg="del">
          <ac:chgData name="Александр Ильинский" userId="c5dccaf4dd2a7986" providerId="LiveId" clId="{13004AD0-36C0-44FA-8A6E-F1156131FE6E}" dt="2023-02-17T13:59:15.852" v="563" actId="478"/>
          <ac:spMkLst>
            <pc:docMk/>
            <pc:sldMk cId="3329808560" sldId="344"/>
            <ac:spMk id="2" creationId="{1EE736AD-94A5-A81C-CA5C-C12B8881E7E6}"/>
          </ac:spMkLst>
        </pc:spChg>
        <pc:spChg chg="del">
          <ac:chgData name="Александр Ильинский" userId="c5dccaf4dd2a7986" providerId="LiveId" clId="{13004AD0-36C0-44FA-8A6E-F1156131FE6E}" dt="2023-02-17T13:59:13.254" v="562" actId="478"/>
          <ac:spMkLst>
            <pc:docMk/>
            <pc:sldMk cId="3329808560" sldId="344"/>
            <ac:spMk id="3" creationId="{C028E30D-9C13-CE5B-D729-A0EF7CD8E38F}"/>
          </ac:spMkLst>
        </pc:spChg>
        <pc:picChg chg="add mod">
          <ac:chgData name="Александр Ильинский" userId="c5dccaf4dd2a7986" providerId="LiveId" clId="{13004AD0-36C0-44FA-8A6E-F1156131FE6E}" dt="2023-02-17T14:00:29.564" v="572" actId="14100"/>
          <ac:picMkLst>
            <pc:docMk/>
            <pc:sldMk cId="3329808560" sldId="344"/>
            <ac:picMk id="5" creationId="{DBB0468A-C57F-8946-A3FC-C0B89300AB8C}"/>
          </ac:picMkLst>
        </pc:picChg>
      </pc:sldChg>
      <pc:sldChg chg="addSp delSp modSp new mod">
        <pc:chgData name="Александр Ильинский" userId="c5dccaf4dd2a7986" providerId="LiveId" clId="{13004AD0-36C0-44FA-8A6E-F1156131FE6E}" dt="2023-02-17T14:03:42.730" v="688" actId="122"/>
        <pc:sldMkLst>
          <pc:docMk/>
          <pc:sldMk cId="2933987595" sldId="345"/>
        </pc:sldMkLst>
        <pc:spChg chg="del">
          <ac:chgData name="Александр Ильинский" userId="c5dccaf4dd2a7986" providerId="LiveId" clId="{13004AD0-36C0-44FA-8A6E-F1156131FE6E}" dt="2023-02-17T14:02:07.879" v="575" actId="478"/>
          <ac:spMkLst>
            <pc:docMk/>
            <pc:sldMk cId="2933987595" sldId="345"/>
            <ac:spMk id="2" creationId="{39FCE4E8-B264-06A9-8BD0-CFF21194745F}"/>
          </ac:spMkLst>
        </pc:spChg>
        <pc:spChg chg="del">
          <ac:chgData name="Александр Ильинский" userId="c5dccaf4dd2a7986" providerId="LiveId" clId="{13004AD0-36C0-44FA-8A6E-F1156131FE6E}" dt="2023-02-17T14:02:06.885" v="574" actId="478"/>
          <ac:spMkLst>
            <pc:docMk/>
            <pc:sldMk cId="2933987595" sldId="345"/>
            <ac:spMk id="3" creationId="{D9F29383-0A8B-479A-55E8-1FFA406C27A6}"/>
          </ac:spMkLst>
        </pc:spChg>
        <pc:spChg chg="add mod">
          <ac:chgData name="Александр Ильинский" userId="c5dccaf4dd2a7986" providerId="LiveId" clId="{13004AD0-36C0-44FA-8A6E-F1156131FE6E}" dt="2023-02-17T14:03:42.730" v="688" actId="122"/>
          <ac:spMkLst>
            <pc:docMk/>
            <pc:sldMk cId="2933987595" sldId="345"/>
            <ac:spMk id="6" creationId="{FC9041F4-5DAA-103E-3E54-B4547765078F}"/>
          </ac:spMkLst>
        </pc:spChg>
        <pc:picChg chg="add mod">
          <ac:chgData name="Александр Ильинский" userId="c5dccaf4dd2a7986" providerId="LiveId" clId="{13004AD0-36C0-44FA-8A6E-F1156131FE6E}" dt="2023-02-17T14:02:26.329" v="583" actId="1076"/>
          <ac:picMkLst>
            <pc:docMk/>
            <pc:sldMk cId="2933987595" sldId="345"/>
            <ac:picMk id="5" creationId="{C0C632D4-769B-26CA-C4E9-4F169681D3EC}"/>
          </ac:picMkLst>
        </pc:picChg>
      </pc:sldChg>
    </pc:docChg>
  </pc:docChgLst>
  <pc:docChgLst>
    <pc:chgData name="Александр Ильинский" userId="c5dccaf4dd2a7986" providerId="LiveId" clId="{EB8BC559-1D7A-4576-BBCC-06ED0EEAA6D7}"/>
    <pc:docChg chg="modSld">
      <pc:chgData name="Александр Ильинский" userId="c5dccaf4dd2a7986" providerId="LiveId" clId="{EB8BC559-1D7A-4576-BBCC-06ED0EEAA6D7}" dt="2022-10-10T05:10:21.791" v="22" actId="20577"/>
      <pc:docMkLst>
        <pc:docMk/>
      </pc:docMkLst>
      <pc:sldChg chg="modSp mod">
        <pc:chgData name="Александр Ильинский" userId="c5dccaf4dd2a7986" providerId="LiveId" clId="{EB8BC559-1D7A-4576-BBCC-06ED0EEAA6D7}" dt="2022-10-10T05:10:21.791" v="22" actId="20577"/>
        <pc:sldMkLst>
          <pc:docMk/>
          <pc:sldMk cId="1013557467" sldId="311"/>
        </pc:sldMkLst>
        <pc:spChg chg="mod">
          <ac:chgData name="Александр Ильинский" userId="c5dccaf4dd2a7986" providerId="LiveId" clId="{EB8BC559-1D7A-4576-BBCC-06ED0EEAA6D7}" dt="2022-10-10T05:10:21.791" v="22" actId="20577"/>
          <ac:spMkLst>
            <pc:docMk/>
            <pc:sldMk cId="1013557467" sldId="311"/>
            <ac:spMk id="35" creationId="{2E8D8ED5-FC93-CE46-A3CE-90B5C43CD57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25780" y="2269674"/>
            <a:ext cx="8237220" cy="2101228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Статистические методы 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в инженерных исследованиях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5B7D006-4CC2-6730-000C-4C572C0754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1600" dirty="0"/>
              <a:t>Ильинский Александр Вячеславович, к.т.н., доцент факультета </a:t>
            </a:r>
            <a:br>
              <a:rPr lang="ru-RU" sz="1600" dirty="0"/>
            </a:br>
            <a:r>
              <a:rPr lang="ru-RU" sz="1600" dirty="0"/>
              <a:t>Систем Управления и Робототехники,</a:t>
            </a:r>
            <a:endParaRPr lang="en-US" sz="1600" dirty="0"/>
          </a:p>
          <a:p>
            <a:pPr algn="ctr"/>
            <a:r>
              <a:rPr lang="en-US" sz="1600" dirty="0"/>
              <a:t>allill003@mail.ru </a:t>
            </a:r>
            <a:r>
              <a:rPr lang="ru-RU" sz="1600" dirty="0"/>
              <a:t>/ </a:t>
            </a:r>
            <a:r>
              <a:rPr lang="en-US" sz="1600" dirty="0"/>
              <a:t>ilinskiy.a.v@itmo.ru</a:t>
            </a:r>
            <a:endParaRPr lang="ru-RU" sz="16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279629-25E2-346B-FC17-1B214D7712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Занятия лекционного типа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2C1990-F459-DBC3-3BAE-30C8F9A1BB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64266" y="2848206"/>
            <a:ext cx="3771735" cy="1573671"/>
          </a:xfrm>
        </p:spPr>
        <p:txBody>
          <a:bodyPr>
            <a:normAutofit/>
          </a:bodyPr>
          <a:lstStyle/>
          <a:p>
            <a:pPr algn="ctr"/>
            <a:r>
              <a:rPr lang="ru-RU" sz="1600" dirty="0"/>
              <a:t>Федоров Алексей Владимирович, д.т.н., профессор факультета </a:t>
            </a:r>
            <a:br>
              <a:rPr lang="ru-RU" sz="1600" dirty="0"/>
            </a:br>
            <a:r>
              <a:rPr lang="ru-RU" sz="1600" dirty="0"/>
              <a:t>Систем Управления и Робототехники,</a:t>
            </a:r>
          </a:p>
          <a:p>
            <a:pPr algn="ctr"/>
            <a:r>
              <a:rPr lang="en-US" sz="1600" dirty="0"/>
              <a:t>afedor62@yandex.ru </a:t>
            </a:r>
            <a:r>
              <a:rPr lang="ru-RU" sz="1600" dirty="0"/>
              <a:t>/ </a:t>
            </a:r>
            <a:r>
              <a:rPr lang="en-US" sz="1600" dirty="0"/>
              <a:t>avfedorov@itmo.ru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87C882F-3124-8480-E68D-EF5FDE9BD0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Лабораторные занятия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1256621-85C0-7D89-165D-98CC8B5C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Преподавательский состав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12FBA-BECB-DCC8-F0D7-24CA5ADA0404}"/>
              </a:ext>
            </a:extLst>
          </p:cNvPr>
          <p:cNvSpPr txBox="1"/>
          <p:nvPr/>
        </p:nvSpPr>
        <p:spPr>
          <a:xfrm>
            <a:off x="8802174" y="4709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4998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F1E249D-5060-DBDE-FC98-02054821C6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5330" y="1233715"/>
            <a:ext cx="7448733" cy="3410856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ru-RU" b="1" dirty="0">
                <a:solidFill>
                  <a:srgbClr val="7030A0"/>
                </a:solidFill>
              </a:rPr>
              <a:t>Цель изучения дисциплины</a:t>
            </a:r>
            <a:endParaRPr lang="ru-RU" b="1" dirty="0"/>
          </a:p>
          <a:p>
            <a:pPr>
              <a:lnSpc>
                <a:spcPct val="110000"/>
              </a:lnSpc>
            </a:pPr>
            <a:endParaRPr lang="ru-RU" dirty="0"/>
          </a:p>
          <a:p>
            <a:pPr algn="just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  <a:defRPr/>
            </a:pPr>
            <a:r>
              <a:rPr lang="ru-RU" dirty="0">
                <a:latin typeface="Golos Text" panose="020B0503020202020204"/>
              </a:rPr>
              <a:t>Формирование знаний и умений в области планирования эксперимента и обработки результатов измерений, обучение принципам и приёмам планирования научного и практического экспериментов, методам обработки результатов измерений.</a:t>
            </a:r>
          </a:p>
          <a:p>
            <a:pPr algn="just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  <a:defRPr/>
            </a:pPr>
            <a:endParaRPr lang="ru-RU" dirty="0">
              <a:latin typeface="Arial" charset="0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defRPr/>
            </a:pPr>
            <a:r>
              <a:rPr lang="ru-RU" b="1" dirty="0">
                <a:solidFill>
                  <a:srgbClr val="7030A0"/>
                </a:solidFill>
              </a:rPr>
              <a:t>Задачи изучения дисциплины</a:t>
            </a:r>
          </a:p>
          <a:p>
            <a:pPr algn="just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  <a:defRPr/>
            </a:pPr>
            <a:endParaRPr lang="ru-RU" dirty="0">
              <a:latin typeface="Arial" charset="0"/>
            </a:endParaRPr>
          </a:p>
          <a:p>
            <a:pPr algn="just">
              <a:lnSpc>
                <a:spcPct val="110000"/>
              </a:lnSpc>
              <a:defRPr/>
            </a:pPr>
            <a:r>
              <a:rPr lang="ru-RU" dirty="0">
                <a:latin typeface="Golos Text" panose="020B0503020202020204"/>
              </a:rPr>
              <a:t>1. Приобретение знаний по современным методам планирования, организации </a:t>
            </a:r>
            <a:br>
              <a:rPr lang="ru-RU" dirty="0">
                <a:latin typeface="Golos Text" panose="020B0503020202020204"/>
              </a:rPr>
            </a:br>
            <a:r>
              <a:rPr lang="ru-RU" dirty="0">
                <a:latin typeface="Golos Text" panose="020B0503020202020204"/>
              </a:rPr>
              <a:t>и оптимизации научного и инженерного эксперимента и обработки результатов измерений.</a:t>
            </a:r>
          </a:p>
          <a:p>
            <a:pPr algn="just">
              <a:lnSpc>
                <a:spcPct val="110000"/>
              </a:lnSpc>
              <a:defRPr/>
            </a:pPr>
            <a:r>
              <a:rPr lang="ru-RU" dirty="0">
                <a:latin typeface="Golos Text" panose="020B0503020202020204"/>
              </a:rPr>
              <a:t>2. Выработка у  студентов навыков проведения научных и инженерных экспериментов </a:t>
            </a:r>
            <a:br>
              <a:rPr lang="ru-RU" dirty="0">
                <a:latin typeface="Golos Text" panose="020B0503020202020204"/>
              </a:rPr>
            </a:br>
            <a:r>
              <a:rPr lang="ru-RU" dirty="0">
                <a:latin typeface="Golos Text" panose="020B0503020202020204"/>
              </a:rPr>
              <a:t>и обработки полученных результатов, а также применения полученных знаний в дальнейшей научно-исследовательской работе и производственной деятельности.</a:t>
            </a:r>
          </a:p>
          <a:p>
            <a:pPr indent="457200" algn="just">
              <a:spcBef>
                <a:spcPct val="5000"/>
              </a:spcBef>
              <a:spcAft>
                <a:spcPct val="5000"/>
              </a:spcAft>
              <a:defRPr/>
            </a:pPr>
            <a:endParaRPr lang="ru-RU" dirty="0">
              <a:latin typeface="Arial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E724D85-2848-B32E-B5D0-74A79C26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6030"/>
            <a:ext cx="6824382" cy="527284"/>
          </a:xfrm>
        </p:spPr>
        <p:txBody>
          <a:bodyPr>
            <a:noAutofit/>
          </a:bodyPr>
          <a:lstStyle/>
          <a:p>
            <a:r>
              <a:rPr lang="ru-RU" sz="2000" dirty="0"/>
              <a:t>Цель и задачи дисциплины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A0973-B5D6-0B65-5065-36F49FA83691}"/>
              </a:ext>
            </a:extLst>
          </p:cNvPr>
          <p:cNvSpPr txBox="1"/>
          <p:nvPr/>
        </p:nvSpPr>
        <p:spPr>
          <a:xfrm>
            <a:off x="8802174" y="4709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5683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9099" y="1108709"/>
            <a:ext cx="8305801" cy="37283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1600" u="sng" dirty="0"/>
              <a:t>В результате изучения предполагаемой дисциплины студент </a:t>
            </a:r>
            <a:br>
              <a:rPr lang="ru-RU" sz="1600" u="sng" dirty="0"/>
            </a:br>
            <a:r>
              <a:rPr lang="ru-RU" sz="1600" u="sng" dirty="0"/>
              <a:t>должен получить представление о: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ru-RU" sz="1600" dirty="0"/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принципах планирования и организации научного и практического эксперимента;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разновидности эксперимента, планов эксперимента и правилах их построения;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планировании эксперимента при поиске оптимальных условий;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существующих методах расчета параметров математической модели объекта исследований и методах принятия решений по результатам обработки эксперимента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ru-RU" sz="1600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95B6E33-6ECA-5883-3794-756AC1BAACC7}"/>
              </a:ext>
            </a:extLst>
          </p:cNvPr>
          <p:cNvSpPr txBox="1">
            <a:spLocks/>
          </p:cNvSpPr>
          <p:nvPr/>
        </p:nvSpPr>
        <p:spPr>
          <a:xfrm>
            <a:off x="457200" y="430532"/>
            <a:ext cx="6824382" cy="527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Golos Text DemiBold" panose="020B0703020202020204" pitchFamily="34" charset="-52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rgbClr val="7030A0"/>
                </a:solidFill>
              </a:rPr>
              <a:t>Требования к уровню освоению дисциплины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7EB9FB-C3C1-2D0D-B7F3-8BD1F8E9F939}"/>
              </a:ext>
            </a:extLst>
          </p:cNvPr>
          <p:cNvSpPr txBox="1"/>
          <p:nvPr/>
        </p:nvSpPr>
        <p:spPr>
          <a:xfrm>
            <a:off x="8802174" y="4709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4141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0532"/>
            <a:ext cx="6824382" cy="527284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rgbClr val="7030A0"/>
                </a:solidFill>
              </a:rPr>
              <a:t>Требования к уровню освоению дисциплины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9099" y="1108709"/>
            <a:ext cx="8305801" cy="37283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1600" u="sng" dirty="0"/>
              <a:t>В результате изучения предполагаемой дисциплины студент должен знать: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ru-RU" sz="1600" dirty="0"/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основные понятия и принципы планирования эксперимента;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разновидности и правила построения планов эксперимента;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методы расчета параметров математической модели объекта исследований, оценки их значимости, а также адекватности полученной модели;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методы поиска оптимальных условий и экстремума функции отклика;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метода принятия решений по результатам обработки статистических данных.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F7A8E-E920-9ED5-23CB-C35721A80379}"/>
              </a:ext>
            </a:extLst>
          </p:cNvPr>
          <p:cNvSpPr txBox="1"/>
          <p:nvPr/>
        </p:nvSpPr>
        <p:spPr>
          <a:xfrm>
            <a:off x="8802174" y="4709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8770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0532"/>
            <a:ext cx="6824382" cy="527284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rgbClr val="7030A0"/>
                </a:solidFill>
              </a:rPr>
              <a:t>Требования к уровню освоению дисциплины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9099" y="1108709"/>
            <a:ext cx="8305801" cy="37283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1600" u="sng" dirty="0"/>
              <a:t>В результате изучения предполагаемой дисциплины студент должен уметь: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ru-RU" sz="1600" dirty="0"/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осуществлять постановку цели и задач эксперимента;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производить выбор схемы проведения эксперимента, составлять план эксперимента и проводить обработку и анализ результатов эксперимента, принимать научно-обоснованные решения по результатам эксперимента;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самостоятельно изучать и осваивать новые методы планирования эксперимента и обработки его результатов.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ru-R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3DE7A-B322-10FC-7D34-E49A10634313}"/>
              </a:ext>
            </a:extLst>
          </p:cNvPr>
          <p:cNvSpPr txBox="1"/>
          <p:nvPr/>
        </p:nvSpPr>
        <p:spPr>
          <a:xfrm>
            <a:off x="8802174" y="4709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3158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F1E249D-5060-DBDE-FC98-02054821C6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548" y="1065643"/>
            <a:ext cx="7448733" cy="1042672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ru-RU" sz="1400" dirty="0">
                <a:solidFill>
                  <a:srgbClr val="7030A0"/>
                </a:solidFill>
                <a:latin typeface="Golos Text" panose="020B0503020202020204"/>
              </a:rPr>
              <a:t>Введение в планирование и обработку результатов эксперимента.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400" dirty="0">
                <a:solidFill>
                  <a:srgbClr val="7030A0"/>
                </a:solidFill>
                <a:latin typeface="Golos Text" panose="020B0503020202020204"/>
              </a:rPr>
              <a:t>Первичная обработка экспериментальных данных.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400" dirty="0">
                <a:solidFill>
                  <a:srgbClr val="7030A0"/>
                </a:solidFill>
                <a:latin typeface="Golos Text" panose="020B0503020202020204"/>
              </a:rPr>
              <a:t>Обработка результатов пассивного эксперимента.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400" dirty="0">
                <a:solidFill>
                  <a:srgbClr val="7030A0"/>
                </a:solidFill>
                <a:latin typeface="Golos Text" panose="020B0503020202020204"/>
              </a:rPr>
              <a:t>Методы планирования эксперимента.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E724D85-2848-B32E-B5D0-74A79C26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6790"/>
            <a:ext cx="6824382" cy="527284"/>
          </a:xfrm>
        </p:spPr>
        <p:txBody>
          <a:bodyPr>
            <a:noAutofit/>
          </a:bodyPr>
          <a:lstStyle/>
          <a:p>
            <a:r>
              <a:rPr lang="ru-RU" sz="1600" dirty="0"/>
              <a:t>Структура дисциплины </a:t>
            </a:r>
            <a:br>
              <a:rPr lang="ru-RU" sz="1600" dirty="0"/>
            </a:br>
            <a:r>
              <a:rPr lang="ru-RU" sz="1600" dirty="0"/>
              <a:t>«</a:t>
            </a:r>
            <a:r>
              <a:rPr lang="ru-RU" sz="1600" dirty="0">
                <a:solidFill>
                  <a:schemeClr val="bg1"/>
                </a:solidFill>
              </a:rPr>
              <a:t>Статистические методы в инженерных исследованиях</a:t>
            </a:r>
            <a:r>
              <a:rPr lang="ru-RU" sz="1600" dirty="0"/>
              <a:t>»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E48B0B43-2BCA-3CD7-3399-332B0E961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500081"/>
              </p:ext>
            </p:extLst>
          </p:nvPr>
        </p:nvGraphicFramePr>
        <p:xfrm>
          <a:off x="587830" y="2162738"/>
          <a:ext cx="8049621" cy="2110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3207">
                  <a:extLst>
                    <a:ext uri="{9D8B030D-6E8A-4147-A177-3AD203B41FA5}">
                      <a16:colId xmlns:a16="http://schemas.microsoft.com/office/drawing/2014/main" val="3601070409"/>
                    </a:ext>
                  </a:extLst>
                </a:gridCol>
                <a:gridCol w="2045546">
                  <a:extLst>
                    <a:ext uri="{9D8B030D-6E8A-4147-A177-3AD203B41FA5}">
                      <a16:colId xmlns:a16="http://schemas.microsoft.com/office/drawing/2014/main" val="2078671639"/>
                    </a:ext>
                  </a:extLst>
                </a:gridCol>
                <a:gridCol w="3320868">
                  <a:extLst>
                    <a:ext uri="{9D8B030D-6E8A-4147-A177-3AD203B41FA5}">
                      <a16:colId xmlns:a16="http://schemas.microsoft.com/office/drawing/2014/main" val="766264489"/>
                    </a:ext>
                  </a:extLst>
                </a:gridCol>
              </a:tblGrid>
              <a:tr h="344843"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Часов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Преподаватель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648775"/>
                  </a:ext>
                </a:extLst>
              </a:tr>
              <a:tr h="344843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Лекционные занятия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16 часов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Ильинский Александр Вячеславович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631902"/>
                  </a:ext>
                </a:extLst>
              </a:tr>
              <a:tr h="344843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Лабораторные занятия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32 часа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Федоров Алексей Владимирович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01550"/>
                  </a:ext>
                </a:extLst>
              </a:tr>
              <a:tr h="344843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Самостоятельная работа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49 часов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621446"/>
                  </a:ext>
                </a:extLst>
              </a:tr>
              <a:tr h="344843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Экзамен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Ильинский Александр Вячеславович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dirty="0">
                        <a:solidFill>
                          <a:srgbClr val="7030A0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Федоров Алексей Владимирович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73515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F486CEC-FB3D-231D-1173-F846C7A07CAA}"/>
              </a:ext>
            </a:extLst>
          </p:cNvPr>
          <p:cNvSpPr txBox="1"/>
          <p:nvPr/>
        </p:nvSpPr>
        <p:spPr>
          <a:xfrm>
            <a:off x="8751417" y="4709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49086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F1E249D-5060-DBDE-FC98-02054821C6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548" y="1065642"/>
            <a:ext cx="7448733" cy="352595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1. Введение в планирование и обработку результатов эксперимента.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1.1 Эксперимент как предмет исследования.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</a:t>
            </a:r>
            <a:r>
              <a:rPr lang="en-US" sz="1000" dirty="0">
                <a:solidFill>
                  <a:srgbClr val="7030A0"/>
                </a:solidFill>
                <a:latin typeface="Golos Text" panose="020B0503020202020204"/>
              </a:rPr>
              <a:t>1</a:t>
            </a: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.2 Основные положения теории планирования эксперимента.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2. Первичная обработка экспериментальных данных.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2.1 Параметры эмпирических распределений.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2.2 Статистические гипотезы. Определение грубых погрешностей.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2.3 Сравнение двух рядов наблюдений.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2.4 Критерии согласия. Преобразование распределения к нормальному.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2.5 Оценка погрешностей результатов наблюдений.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3. Обработка результатов пассивного эксперимента.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3.1 Виды связей между рядами наблюдений.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3.2 Определение коэффициентов уравнения регрессии.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3.3 Характеристики связей между случайными величинами.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3.4 Основные положения регрессионного анализа.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3.5 Линейная множественная регрессия. Нелинейная регрессия.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4. Методы планирования эксперимента.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4.1 Планирование первого порядка.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4.2 Планирование второго порядка.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4.3 Планирование экстремальных экспериментов.</a:t>
            </a:r>
          </a:p>
          <a:p>
            <a:pPr>
              <a:defRPr/>
            </a:pPr>
            <a:r>
              <a:rPr lang="ru-RU" sz="1000" dirty="0">
                <a:solidFill>
                  <a:srgbClr val="7030A0"/>
                </a:solidFill>
                <a:latin typeface="Golos Text" panose="020B0503020202020204"/>
              </a:rPr>
              <a:t>	4.4 Современные проблемы теории планирования и обработки результатов эксперимента.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E724D85-2848-B32E-B5D0-74A79C26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6790"/>
            <a:ext cx="6824382" cy="527284"/>
          </a:xfrm>
        </p:spPr>
        <p:txBody>
          <a:bodyPr>
            <a:noAutofit/>
          </a:bodyPr>
          <a:lstStyle/>
          <a:p>
            <a:r>
              <a:rPr lang="ru-RU" sz="1600" dirty="0"/>
              <a:t>Структура дисциплины </a:t>
            </a:r>
            <a:br>
              <a:rPr lang="ru-RU" sz="1600" dirty="0"/>
            </a:br>
            <a:r>
              <a:rPr lang="ru-RU" sz="1600" dirty="0"/>
              <a:t>«</a:t>
            </a:r>
            <a:r>
              <a:rPr lang="ru-RU" sz="1600" dirty="0">
                <a:solidFill>
                  <a:schemeClr val="bg1"/>
                </a:solidFill>
              </a:rPr>
              <a:t>Статистические методы в инженерных исследованиях</a:t>
            </a:r>
            <a:r>
              <a:rPr lang="ru-RU" sz="1600" dirty="0"/>
              <a:t>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38FB93-2C58-1491-13A1-4233FD44973A}"/>
              </a:ext>
            </a:extLst>
          </p:cNvPr>
          <p:cNvSpPr txBox="1"/>
          <p:nvPr/>
        </p:nvSpPr>
        <p:spPr>
          <a:xfrm>
            <a:off x="8771010" y="4709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65176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CB2D95A-D9EB-2F85-9267-13A4B1E1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51" y="430532"/>
            <a:ext cx="6824382" cy="527284"/>
          </a:xfrm>
        </p:spPr>
        <p:txBody>
          <a:bodyPr>
            <a:normAutofit/>
          </a:bodyPr>
          <a:lstStyle/>
          <a:p>
            <a:r>
              <a:rPr lang="ru-RU" sz="1800" dirty="0"/>
              <a:t>Оценочные средства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46A4A9F-A1A3-4941-1E07-6167421E5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33629"/>
              </p:ext>
            </p:extLst>
          </p:nvPr>
        </p:nvGraphicFramePr>
        <p:xfrm>
          <a:off x="1791674" y="1016835"/>
          <a:ext cx="5397023" cy="37814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48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931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rgbClr val="7030A0"/>
                          </a:solidFill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max</a:t>
                      </a:r>
                      <a:endParaRPr lang="en-US" sz="1400" b="0" i="0" u="none" strike="noStrike" dirty="0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Круглый стол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7030A0"/>
                          </a:solidFill>
                          <a:effectLst/>
                        </a:rPr>
                        <a:t>12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7030A0"/>
                          </a:solidFill>
                          <a:effectLst/>
                        </a:rPr>
                        <a:t>20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Лабораторная работа 1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rgbClr val="7030A0"/>
                          </a:solidFill>
                          <a:effectLst/>
                        </a:rPr>
                        <a:t>6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10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Лабораторная работа 2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rgbClr val="7030A0"/>
                          </a:solidFill>
                          <a:effectLst/>
                        </a:rPr>
                        <a:t>6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10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Лабораторная работа 3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rgbClr val="7030A0"/>
                          </a:solidFill>
                          <a:effectLst/>
                        </a:rPr>
                        <a:t>6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10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Лабораторная работа 4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rgbClr val="7030A0"/>
                          </a:solidFill>
                          <a:effectLst/>
                        </a:rPr>
                        <a:t>6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10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Лабораторная работа 5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6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10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Лабораторная работа 6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rgbClr val="7030A0"/>
                          </a:solidFill>
                          <a:effectLst/>
                        </a:rPr>
                        <a:t>6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rgbClr val="7030A0"/>
                          </a:solidFill>
                          <a:effectLst/>
                        </a:rPr>
                        <a:t>10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2942680326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Итого работы в семестре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48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80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Экзамен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solidFill>
                            <a:srgbClr val="7030A0"/>
                          </a:solidFill>
                          <a:effectLst/>
                        </a:rPr>
                        <a:t>12</a:t>
                      </a:r>
                      <a:endParaRPr lang="ru-RU" sz="1400" b="0" i="0" u="none" strike="noStrike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solidFill>
                            <a:srgbClr val="7030A0"/>
                          </a:solidFill>
                          <a:effectLst/>
                        </a:rPr>
                        <a:t>20</a:t>
                      </a:r>
                      <a:endParaRPr lang="ru-RU" sz="1400" b="0" i="0" u="none" strike="noStrike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Итого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60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solidFill>
                            <a:srgbClr val="7030A0"/>
                          </a:solidFill>
                          <a:effectLst/>
                        </a:rPr>
                        <a:t>100</a:t>
                      </a:r>
                      <a:endParaRPr lang="ru-RU" sz="1400" b="0" i="0" u="none" strike="noStrike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min</a:t>
                      </a:r>
                      <a:endParaRPr lang="en-US" sz="1400" b="0" i="0" u="none" strike="noStrike" dirty="0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max</a:t>
                      </a:r>
                      <a:endParaRPr lang="en-US" sz="1400" b="0" i="0" u="none" strike="noStrike" dirty="0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7030A0"/>
                          </a:solidFill>
                          <a:effectLst/>
                        </a:rPr>
                        <a:t>Отлично</a:t>
                      </a:r>
                      <a:endParaRPr lang="ru-RU" sz="1400" b="0" i="0" u="none" strike="noStrike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91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100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7030A0"/>
                          </a:solidFill>
                          <a:effectLst/>
                        </a:rPr>
                        <a:t>Хорошо</a:t>
                      </a:r>
                      <a:endParaRPr lang="ru-RU" sz="1400" b="0" i="0" u="none" strike="noStrike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75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90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7030A0"/>
                          </a:solidFill>
                          <a:effectLst/>
                        </a:rPr>
                        <a:t>Удовлетворительно</a:t>
                      </a:r>
                      <a:endParaRPr lang="ru-RU" sz="1400" b="0" i="0" u="none" strike="noStrike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60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74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159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7030A0"/>
                          </a:solidFill>
                          <a:effectLst/>
                        </a:rPr>
                        <a:t>Неудовлетворительно</a:t>
                      </a:r>
                      <a:endParaRPr lang="ru-RU" sz="1400" b="0" i="0" u="none" strike="noStrike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0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59</a:t>
                      </a:r>
                      <a:endParaRPr lang="ru-RU" sz="1400" b="0" i="0" u="none" strike="noStrike" dirty="0">
                        <a:solidFill>
                          <a:srgbClr val="7030A0"/>
                        </a:solidFill>
                        <a:effectLst/>
                        <a:latin typeface="Golos Text" panose="020B0503020202020204"/>
                      </a:endParaRPr>
                    </a:p>
                  </a:txBody>
                  <a:tcPr marL="9079" marR="9079" marT="9079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D11748F-EE84-AFA0-D0E1-595F97216980}"/>
              </a:ext>
            </a:extLst>
          </p:cNvPr>
          <p:cNvSpPr txBox="1"/>
          <p:nvPr/>
        </p:nvSpPr>
        <p:spPr>
          <a:xfrm>
            <a:off x="8673045" y="4709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94329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F1E249D-5060-DBDE-FC98-02054821C6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548" y="1406614"/>
            <a:ext cx="7448733" cy="3410856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ru-RU" sz="1200" dirty="0">
                <a:latin typeface="Golos Text" panose="020B0503020202020204"/>
              </a:rPr>
              <a:t>Адлер Ю.П. Введение в планирование эксперимента. – М., 1969. – 264 с.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200" dirty="0">
                <a:latin typeface="Golos Text" panose="020B0503020202020204"/>
              </a:rPr>
              <a:t>Налимов В.В., Чернова Н.А. Статистические методы планирования экстремальных экспериментов. – М.,1965. – 198 с.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200" dirty="0">
                <a:latin typeface="Golos Text" panose="020B0503020202020204"/>
              </a:rPr>
              <a:t>Адлер Ю.П., Маркова Е.В., Грановский Ю.В. Планирование эксперимента при поиске оптимальных условий.  – М.,1976. – 326 с.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200" dirty="0" err="1">
                <a:latin typeface="Golos Text" panose="020B0503020202020204"/>
              </a:rPr>
              <a:t>Сидняев</a:t>
            </a:r>
            <a:r>
              <a:rPr lang="ru-RU" sz="1200" dirty="0">
                <a:latin typeface="Golos Text" panose="020B0503020202020204"/>
              </a:rPr>
              <a:t> Н.И. Теория планирования эксперимента и анализ статистических данных: </a:t>
            </a:r>
            <a:r>
              <a:rPr lang="ru-RU" sz="1200" dirty="0" err="1">
                <a:latin typeface="Golos Text" panose="020B0503020202020204"/>
              </a:rPr>
              <a:t>Учебн</a:t>
            </a:r>
            <a:r>
              <a:rPr lang="ru-RU" sz="1200" dirty="0">
                <a:latin typeface="Golos Text" panose="020B0503020202020204"/>
              </a:rPr>
              <a:t>. Пособие. – М.: </a:t>
            </a:r>
            <a:r>
              <a:rPr lang="ru-RU" sz="1200" dirty="0" err="1">
                <a:latin typeface="Golos Text" panose="020B0503020202020204"/>
              </a:rPr>
              <a:t>Юрайт</a:t>
            </a:r>
            <a:r>
              <a:rPr lang="ru-RU" sz="1200" dirty="0">
                <a:latin typeface="Golos Text" panose="020B0503020202020204"/>
              </a:rPr>
              <a:t>, 2011. – 399 с.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200" dirty="0">
                <a:latin typeface="Golos Text" panose="020B0503020202020204"/>
              </a:rPr>
              <a:t>ГОСТ 24026-80 «Исследовательские испытания. Планирование эксперимента. Термины и определения. – М.,1980. 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200" dirty="0">
                <a:latin typeface="Golos Text" panose="020B0503020202020204"/>
              </a:rPr>
              <a:t>Батрак А.П. Планирование и организация эксперимента: </a:t>
            </a:r>
            <a:r>
              <a:rPr lang="ru-RU" sz="1200" dirty="0" err="1">
                <a:latin typeface="Golos Text" panose="020B0503020202020204"/>
              </a:rPr>
              <a:t>Учебн</a:t>
            </a:r>
            <a:r>
              <a:rPr lang="ru-RU" sz="1200" dirty="0">
                <a:latin typeface="Golos Text" panose="020B0503020202020204"/>
              </a:rPr>
              <a:t>. пособие. – Красноярск: ИПЦ СФУ, 2010. – 60 с.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200" dirty="0">
                <a:latin typeface="Golos Text" panose="020B0503020202020204"/>
              </a:rPr>
              <a:t>Рыков В.В., Иткин В.Ю. Математическая статистика и планирование эксперимента: </a:t>
            </a:r>
            <a:r>
              <a:rPr lang="ru-RU" sz="1200" dirty="0" err="1">
                <a:latin typeface="Golos Text" panose="020B0503020202020204"/>
              </a:rPr>
              <a:t>Учебн</a:t>
            </a:r>
            <a:r>
              <a:rPr lang="ru-RU" sz="1200" dirty="0">
                <a:latin typeface="Golos Text" panose="020B0503020202020204"/>
              </a:rPr>
              <a:t>. пособие. – М.: РГУНГ им. И. М. Губкина, 2008. – 210 с.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E724D85-2848-B32E-B5D0-74A79C26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6030"/>
            <a:ext cx="6824382" cy="527284"/>
          </a:xfrm>
        </p:spPr>
        <p:txBody>
          <a:bodyPr>
            <a:noAutofit/>
          </a:bodyPr>
          <a:lstStyle/>
          <a:p>
            <a:r>
              <a:rPr lang="ru-RU" sz="1800" dirty="0"/>
              <a:t>Литература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1E378-1003-744B-1A9E-AE9DE4DAA06A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61323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8C1A2-E994-2126-F550-1AA023FB3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48" y="1149531"/>
            <a:ext cx="6824382" cy="1422219"/>
          </a:xfrm>
        </p:spPr>
        <p:txBody>
          <a:bodyPr>
            <a:noAutofit/>
          </a:bodyPr>
          <a:lstStyle/>
          <a:p>
            <a:r>
              <a:rPr lang="ru-RU" sz="16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Раздел 1.</a:t>
            </a:r>
            <a:br>
              <a:rPr lang="ru-RU" sz="16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</a:br>
            <a:r>
              <a:rPr lang="ru-RU" sz="16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Введение в планирование и обработку результатов эксперимента.</a:t>
            </a:r>
            <a:br>
              <a:rPr lang="ru-RU" sz="16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</a:br>
            <a:r>
              <a:rPr lang="ru-RU" sz="16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Лекция 1.</a:t>
            </a:r>
            <a:br>
              <a:rPr lang="ru-RU" sz="16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</a:br>
            <a:r>
              <a:rPr lang="ru-RU" sz="16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Эксперимент как предмет исследования.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F29748-2534-E5D2-2A10-963FD6CC1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4948" y="2357846"/>
            <a:ext cx="7896497" cy="230124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1600" b="1" dirty="0">
                <a:solidFill>
                  <a:srgbClr val="7030A0"/>
                </a:solidFill>
                <a:latin typeface="+mn-lt"/>
                <a:cs typeface="+mn-cs"/>
              </a:rPr>
              <a:t>Учебные вопросы:</a:t>
            </a:r>
          </a:p>
          <a:p>
            <a:pPr>
              <a:defRPr/>
            </a:pPr>
            <a:endParaRPr lang="ru-RU" b="1" dirty="0">
              <a:solidFill>
                <a:srgbClr val="1A0AF0"/>
              </a:solidFill>
              <a:latin typeface="Golos Text" panose="020B0503020202020204"/>
            </a:endParaRPr>
          </a:p>
          <a:p>
            <a:pPr>
              <a:defRPr/>
            </a:pPr>
            <a:r>
              <a:rPr lang="ru-RU" sz="1600" dirty="0">
                <a:solidFill>
                  <a:srgbClr val="7030A0"/>
                </a:solidFill>
                <a:latin typeface="Golos Text" panose="020B0503020202020204"/>
              </a:rPr>
              <a:t>1. Эксперимент как предмет исследования.</a:t>
            </a:r>
          </a:p>
          <a:p>
            <a:pPr>
              <a:defRPr/>
            </a:pPr>
            <a:r>
              <a:rPr lang="ru-RU" sz="1600" dirty="0">
                <a:solidFill>
                  <a:srgbClr val="7030A0"/>
                </a:solidFill>
                <a:latin typeface="Golos Text" panose="020B0503020202020204"/>
              </a:rPr>
              <a:t>2. Основные положения теории планирования эксперимента.</a:t>
            </a:r>
          </a:p>
          <a:p>
            <a:pPr marL="342900">
              <a:spcBef>
                <a:spcPts val="0"/>
              </a:spcBef>
              <a:spcAft>
                <a:spcPts val="600"/>
              </a:spcAft>
              <a:defRPr/>
            </a:pPr>
            <a:endParaRPr lang="ru-RU" dirty="0">
              <a:latin typeface="Golos Text" panose="020B0503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B6FBA-390C-B596-4913-FF532763100B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64959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80EE6-0AB5-4A63-9BC9-C4290067D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9047"/>
            <a:ext cx="6824382" cy="527284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Эксперимент как предмет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6B5AE7-D74D-74D2-8E0D-B47874570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556863" cy="3447143"/>
          </a:xfrm>
        </p:spPr>
        <p:txBody>
          <a:bodyPr/>
          <a:lstStyle/>
          <a:p>
            <a:pPr>
              <a:defRPr/>
            </a:pPr>
            <a:r>
              <a:rPr lang="ru-RU" sz="1600" b="1" dirty="0">
                <a:solidFill>
                  <a:srgbClr val="7030A0"/>
                </a:solidFill>
                <a:latin typeface="+mn-lt"/>
                <a:cs typeface="+mn-cs"/>
              </a:rPr>
              <a:t>Правила научного познания действительности</a:t>
            </a:r>
          </a:p>
          <a:p>
            <a:pPr>
              <a:defRPr/>
            </a:pPr>
            <a:endParaRPr lang="ru-RU" sz="1050" dirty="0">
              <a:latin typeface="Arial" charset="0"/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</a:t>
            </a:r>
            <a:r>
              <a:rPr lang="ru-RU" sz="1400" dirty="0">
                <a:latin typeface="Golos Text" panose="020B0503020202020204"/>
              </a:rPr>
              <a:t>ничего не принимать за истинное, что не представляется ясным и отчетливым;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sz="1400" dirty="0">
                <a:latin typeface="Golos Text" panose="020B0503020202020204"/>
              </a:rPr>
              <a:t> трудные вопросы делить на столько частей, сколько нужно для их разрешения; 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sz="1400" dirty="0">
                <a:latin typeface="Golos Text" panose="020B0503020202020204"/>
              </a:rPr>
              <a:t>начинать исследование с самых простых и удобных для познания вещей и восходить постепенно к познанию трудных и сложных;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sz="1400" dirty="0">
                <a:latin typeface="Golos Text" panose="020B0503020202020204"/>
              </a:rPr>
              <a:t> останавливаться на всех подробностях, на все обращать внимание, чтобы быть уверенным, что ничего не опущено.</a:t>
            </a:r>
          </a:p>
          <a:p>
            <a:pPr marL="342900" indent="-342900" algn="r">
              <a:defRPr/>
            </a:pPr>
            <a:r>
              <a:rPr lang="ru-RU" sz="1400" b="1" i="1" dirty="0">
                <a:latin typeface="Golos Text" panose="020B0503020202020204"/>
              </a:rPr>
              <a:t>Рене Декарт  (1596-1650)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3C070-C083-2C05-8A24-470F57A173AF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4749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FB91C37-DAD9-4787-07C0-6455A6AD19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342900" indent="342900" algn="just">
              <a:lnSpc>
                <a:spcPct val="120000"/>
              </a:lnSpc>
              <a:defRPr/>
            </a:pPr>
            <a:r>
              <a:rPr lang="ru-RU" i="1" dirty="0">
                <a:latin typeface="Arial" charset="0"/>
              </a:rPr>
              <a:t>«… Что касается материальных наук, то они кажутся мне прямой дорогой к любой научной истине... Сумма знаний берет значительную долю своей ценности от идей, полученных путем проведения аналогий с материальными науками...»</a:t>
            </a:r>
            <a:r>
              <a:rPr lang="ru-RU" b="1" dirty="0">
                <a:solidFill>
                  <a:srgbClr val="1A0AF0"/>
                </a:solidFill>
                <a:latin typeface="Arial" charset="0"/>
              </a:rPr>
              <a:t> </a:t>
            </a:r>
          </a:p>
          <a:p>
            <a:pPr marL="342900" indent="342900" algn="r">
              <a:lnSpc>
                <a:spcPct val="120000"/>
              </a:lnSpc>
              <a:defRPr/>
            </a:pPr>
            <a:r>
              <a:rPr lang="ru-RU" sz="1400" b="1" i="1" dirty="0">
                <a:solidFill>
                  <a:srgbClr val="7030A0"/>
                </a:solidFill>
                <a:latin typeface="Arial" charset="0"/>
              </a:rPr>
              <a:t>Джеймс Клерк Максвелл (1831 – 1879)</a:t>
            </a:r>
          </a:p>
          <a:p>
            <a:pPr marL="342900" indent="342900" algn="just">
              <a:lnSpc>
                <a:spcPct val="120000"/>
              </a:lnSpc>
              <a:defRPr/>
            </a:pPr>
            <a:endParaRPr lang="ru-RU" i="1" dirty="0">
              <a:latin typeface="Arial" charset="0"/>
            </a:endParaRPr>
          </a:p>
          <a:p>
            <a:pPr>
              <a:defRPr/>
            </a:pPr>
            <a:endParaRPr lang="ru-RU" sz="1400" b="1" dirty="0">
              <a:solidFill>
                <a:srgbClr val="1A0AF0"/>
              </a:solidFill>
              <a:latin typeface="Arial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600" b="1" dirty="0">
                <a:solidFill>
                  <a:srgbClr val="7030A0"/>
                </a:solidFill>
                <a:latin typeface="+mn-lt"/>
                <a:cs typeface="+mn-cs"/>
              </a:rPr>
              <a:t>Этапы открытия естественнонаучной истины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sz="1400" dirty="0">
                <a:latin typeface="Arial" charset="0"/>
              </a:rPr>
              <a:t> установление причинно-следственной связи явлений и свойств объектов природы; 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sz="1400" dirty="0">
                <a:latin typeface="Arial" charset="0"/>
              </a:rPr>
              <a:t> подтверждение экспериментом или опытом истинности полученных теоретических утверждений;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sz="1400" dirty="0">
                <a:latin typeface="Arial" charset="0"/>
              </a:rPr>
              <a:t>определение относительности естественно-научной истины.</a:t>
            </a:r>
          </a:p>
          <a:p>
            <a:pPr marL="342900" indent="-342900">
              <a:buFontTx/>
              <a:buAutoNum type="arabicPeriod"/>
              <a:defRPr/>
            </a:pPr>
            <a:endParaRPr lang="ru-RU" dirty="0">
              <a:latin typeface="Arial" charset="0"/>
            </a:endParaRPr>
          </a:p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2B99F-8343-8A61-3AF0-9195ACDE58C3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58534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B7E5F-7FA8-AFBE-2F7F-80A8C578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25" y="1072398"/>
            <a:ext cx="8164286" cy="527284"/>
          </a:xfrm>
        </p:spPr>
        <p:txBody>
          <a:bodyPr>
            <a:noAutofit/>
          </a:bodyPr>
          <a:lstStyle/>
          <a:p>
            <a:r>
              <a:rPr lang="ru-RU" sz="1600" dirty="0">
                <a:solidFill>
                  <a:srgbClr val="7030A0"/>
                </a:solidFill>
                <a:latin typeface="Golos Text" panose="020B0503020202020204"/>
                <a:ea typeface="+mn-ea"/>
                <a:cs typeface="+mn-cs"/>
              </a:rPr>
              <a:t>Неточность экспериментальных результатов</a:t>
            </a:r>
            <a:r>
              <a:rPr lang="en-US" sz="1600" dirty="0">
                <a:solidFill>
                  <a:srgbClr val="7030A0"/>
                </a:solidFill>
                <a:latin typeface="Golos Text" panose="020B0503020202020204"/>
                <a:ea typeface="+mn-ea"/>
                <a:cs typeface="+mn-cs"/>
              </a:rPr>
              <a:t> </a:t>
            </a:r>
            <a:r>
              <a:rPr lang="ru-RU" sz="1600" dirty="0">
                <a:solidFill>
                  <a:srgbClr val="7030A0"/>
                </a:solidFill>
                <a:latin typeface="Golos Text" panose="020B0503020202020204"/>
                <a:ea typeface="+mn-ea"/>
                <a:cs typeface="+mn-cs"/>
              </a:rPr>
              <a:t>обуславливается следующим: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C526E-1461-F10C-0420-6415F5984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6389" y="1684592"/>
            <a:ext cx="7467600" cy="27698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600" b="1" dirty="0">
                <a:solidFill>
                  <a:srgbClr val="7030A0"/>
                </a:solidFill>
                <a:latin typeface="Golos Text" panose="020B0503020202020204"/>
                <a:cs typeface="+mn-cs"/>
              </a:rPr>
              <a:t>Объективные факторы </a:t>
            </a:r>
            <a:endParaRPr lang="ru-RU" i="1" dirty="0">
              <a:solidFill>
                <a:srgbClr val="1A0AF0"/>
              </a:solidFill>
              <a:latin typeface="Golos Text" panose="020B0503020202020204"/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динамизм окружающего мира;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несовершенство технических средств эксперимента. </a:t>
            </a:r>
          </a:p>
          <a:p>
            <a:pPr marL="342900" indent="-342900">
              <a:buFontTx/>
              <a:buAutoNum type="arabicPeriod"/>
              <a:defRPr/>
            </a:pPr>
            <a:endParaRPr lang="ru-RU" dirty="0">
              <a:latin typeface="Golos Text" panose="020B0503020202020204"/>
            </a:endParaRPr>
          </a:p>
          <a:p>
            <a:pPr>
              <a:defRPr/>
            </a:pPr>
            <a:r>
              <a:rPr lang="ru-RU" sz="1600" b="1" dirty="0">
                <a:solidFill>
                  <a:srgbClr val="7030A0"/>
                </a:solidFill>
                <a:latin typeface="Golos Text" panose="020B0503020202020204"/>
                <a:cs typeface="+mn-cs"/>
              </a:rPr>
              <a:t>Субъективные факторы</a:t>
            </a:r>
            <a:endParaRPr lang="ru-RU" i="1" dirty="0">
              <a:solidFill>
                <a:srgbClr val="1A0AF0"/>
              </a:solidFill>
              <a:latin typeface="Golos Text" panose="020B0503020202020204"/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индивидуальные свойства человека;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интеллектуальные способности экспериментатора;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возможные ошибки в рамках проведения эксперимента.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E22A2-FA1E-B09C-5D7E-77398C20F963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550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B7E5F-7FA8-AFBE-2F7F-80A8C578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298" y="410937"/>
            <a:ext cx="6824382" cy="5272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1600" b="1" dirty="0">
                <a:solidFill>
                  <a:srgbClr val="7030A0"/>
                </a:solidFill>
                <a:latin typeface="Golos Text" panose="020B0503020202020204"/>
              </a:rPr>
              <a:t>Основные положения и стадии теории </a:t>
            </a:r>
            <a:br>
              <a:rPr lang="ru-RU" sz="1600" b="1" dirty="0">
                <a:solidFill>
                  <a:srgbClr val="7030A0"/>
                </a:solidFill>
                <a:latin typeface="Golos Text" panose="020B0503020202020204"/>
              </a:rPr>
            </a:br>
            <a:r>
              <a:rPr lang="ru-RU" sz="1600" b="1" dirty="0">
                <a:solidFill>
                  <a:srgbClr val="7030A0"/>
                </a:solidFill>
                <a:latin typeface="Golos Text" panose="020B0503020202020204"/>
              </a:rPr>
              <a:t>естественнонаучного познания</a:t>
            </a:r>
            <a:r>
              <a:rPr lang="ru-RU" sz="1600" dirty="0">
                <a:solidFill>
                  <a:srgbClr val="7030A0"/>
                </a:solidFill>
                <a:latin typeface="Golos Text" panose="020B0503020202020204"/>
              </a:rPr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C526E-1461-F10C-0420-6415F5984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2291" y="1626326"/>
            <a:ext cx="8294914" cy="2849880"/>
          </a:xfrm>
        </p:spPr>
        <p:txBody>
          <a:bodyPr/>
          <a:lstStyle/>
          <a:p>
            <a:pPr algn="just">
              <a:lnSpc>
                <a:spcPct val="110000"/>
              </a:lnSpc>
              <a:spcAft>
                <a:spcPts val="1200"/>
              </a:spcAft>
              <a:buFont typeface="Wingdings" pitchFamily="2" charset="2"/>
              <a:buChar char="q"/>
              <a:defRPr/>
            </a:pPr>
            <a:r>
              <a:rPr lang="ru-RU" sz="1600" dirty="0">
                <a:latin typeface="Golos Text" panose="020B0503020202020204"/>
              </a:rPr>
              <a:t> </a:t>
            </a:r>
            <a:r>
              <a:rPr lang="ru-RU" sz="1600" b="1" i="1" dirty="0">
                <a:latin typeface="Golos Text" panose="020B0503020202020204"/>
              </a:rPr>
              <a:t>Причинно-следственная связь.</a:t>
            </a:r>
            <a:r>
              <a:rPr lang="ru-RU" sz="1600" dirty="0">
                <a:latin typeface="Golos Text" panose="020B0503020202020204"/>
              </a:rPr>
              <a:t> Установление причинно-следственной связи в соответствии с принципом причинности;</a:t>
            </a:r>
          </a:p>
          <a:p>
            <a:pPr algn="just">
              <a:lnSpc>
                <a:spcPct val="110000"/>
              </a:lnSpc>
              <a:spcAft>
                <a:spcPts val="1200"/>
              </a:spcAft>
              <a:buFont typeface="Wingdings" pitchFamily="2" charset="2"/>
              <a:buChar char="q"/>
              <a:defRPr/>
            </a:pPr>
            <a:r>
              <a:rPr lang="ru-RU" sz="1600" dirty="0">
                <a:latin typeface="Golos Text" panose="020B0503020202020204"/>
              </a:rPr>
              <a:t> </a:t>
            </a:r>
            <a:r>
              <a:rPr lang="ru-RU" sz="1600" b="1" i="1" dirty="0">
                <a:latin typeface="Golos Text" panose="020B0503020202020204"/>
              </a:rPr>
              <a:t>Критерий истины. </a:t>
            </a:r>
            <a:r>
              <a:rPr lang="ru-RU" sz="1600" dirty="0">
                <a:latin typeface="Golos Text" panose="020B0503020202020204"/>
              </a:rPr>
              <a:t>Подтверждение истинности естественнонаучных знаний посредством практики (наблюдения, опыт, экспериментальные исследования);</a:t>
            </a:r>
          </a:p>
          <a:p>
            <a:pPr algn="just">
              <a:lnSpc>
                <a:spcPct val="110000"/>
              </a:lnSpc>
              <a:spcAft>
                <a:spcPts val="1200"/>
              </a:spcAft>
              <a:buFont typeface="Wingdings" pitchFamily="2" charset="2"/>
              <a:buChar char="q"/>
              <a:defRPr/>
            </a:pPr>
            <a:r>
              <a:rPr lang="ru-RU" sz="1600" b="1" i="1" dirty="0">
                <a:latin typeface="Golos Text" panose="020B0503020202020204"/>
              </a:rPr>
              <a:t>Относительность.</a:t>
            </a:r>
            <a:r>
              <a:rPr lang="ru-RU" sz="1600" dirty="0">
                <a:latin typeface="Golos Text" panose="020B0503020202020204"/>
              </a:rPr>
              <a:t> Определение границ соответствия и относительности естественнонаучного знания.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FA5AE-E4DC-EE51-6209-8CAB5AC0F1C0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32411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00B56-5300-BB52-FA35-C689139F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95400"/>
            <a:ext cx="6824382" cy="733727"/>
          </a:xfrm>
        </p:spPr>
        <p:txBody>
          <a:bodyPr>
            <a:normAutofit/>
          </a:bodyPr>
          <a:lstStyle/>
          <a:p>
            <a:r>
              <a:rPr lang="ru-RU" sz="1600" b="1" dirty="0">
                <a:solidFill>
                  <a:srgbClr val="7030A0"/>
                </a:solidFill>
                <a:latin typeface="Golos Text" panose="020B0503020202020204"/>
              </a:rPr>
              <a:t>Роль математики в естествознании.</a:t>
            </a:r>
            <a:br>
              <a:rPr lang="ru-RU" sz="1600" b="1" dirty="0">
                <a:solidFill>
                  <a:srgbClr val="7030A0"/>
                </a:solidFill>
                <a:latin typeface="Golos Text" panose="020B0503020202020204"/>
              </a:rPr>
            </a:br>
            <a:r>
              <a:rPr lang="ru-RU" sz="1600" b="1" dirty="0">
                <a:solidFill>
                  <a:srgbClr val="7030A0"/>
                </a:solidFill>
                <a:latin typeface="Golos Text" panose="020B0503020202020204"/>
              </a:rPr>
              <a:t>Формы естественнонаучного познания</a:t>
            </a:r>
            <a:endParaRPr lang="ru-RU" sz="1600" dirty="0">
              <a:solidFill>
                <a:srgbClr val="7030A0"/>
              </a:solidFill>
              <a:latin typeface="Golos Text" panose="020B050302020202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04661D-DEB8-7BC2-4ACC-1DDCC19A2B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ru-RU" sz="1400" b="1" i="1" dirty="0">
                <a:latin typeface="Golos Text" panose="020B0503020202020204"/>
              </a:rPr>
              <a:t> Чувственные формы познания</a:t>
            </a:r>
          </a:p>
          <a:p>
            <a:pPr lvl="2" algn="just">
              <a:spcBef>
                <a:spcPts val="0"/>
              </a:spcBef>
              <a:defRPr/>
            </a:pPr>
            <a:r>
              <a:rPr lang="ru-RU" sz="1400" b="1" i="1" dirty="0">
                <a:solidFill>
                  <a:srgbClr val="7030A0"/>
                </a:solidFill>
                <a:latin typeface="Golos Text" panose="020B0503020202020204"/>
              </a:rPr>
              <a:t>Ощущения</a:t>
            </a:r>
            <a:r>
              <a:rPr lang="ru-RU" sz="1400" dirty="0">
                <a:latin typeface="Golos Text" panose="020B0503020202020204"/>
              </a:rPr>
              <a:t> – это простейшие чувственные образы, отражения, копии или своего рода снимки отдельных свойств предметов.</a:t>
            </a:r>
          </a:p>
          <a:p>
            <a:pPr lvl="2" algn="just">
              <a:spcBef>
                <a:spcPts val="0"/>
              </a:spcBef>
              <a:defRPr/>
            </a:pPr>
            <a:r>
              <a:rPr lang="ru-RU" sz="1400" b="1" i="1" dirty="0">
                <a:solidFill>
                  <a:srgbClr val="7030A0"/>
                </a:solidFill>
                <a:latin typeface="Golos Text" panose="020B0503020202020204"/>
              </a:rPr>
              <a:t>Восприятие</a:t>
            </a:r>
            <a:r>
              <a:rPr lang="ru-RU" sz="1400" dirty="0">
                <a:latin typeface="Golos Text" panose="020B0503020202020204"/>
              </a:rPr>
              <a:t> – целостный образ, отражающий непосредственно воздействующие на органы чувств предметы, их свойства и отношения. Осознание, осмысление предметов, их свойств и отношений, основанное на вовлечении каждый раз вновь получаемого впечатления в систему уже имеющихся знаний.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ru-RU" sz="1400" b="1" i="1" dirty="0">
                <a:latin typeface="Golos Text" panose="020B0503020202020204"/>
              </a:rPr>
              <a:t> Научный факт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ru-RU" sz="1400" b="1" i="1" dirty="0">
                <a:latin typeface="Golos Text" panose="020B0503020202020204"/>
              </a:rPr>
              <a:t> Наблюдение и эксперимент</a:t>
            </a:r>
          </a:p>
          <a:p>
            <a:pPr lvl="2" algn="just">
              <a:spcBef>
                <a:spcPts val="0"/>
              </a:spcBef>
              <a:defRPr/>
            </a:pPr>
            <a:r>
              <a:rPr lang="ru-RU" sz="1400" b="1" i="1" dirty="0">
                <a:solidFill>
                  <a:srgbClr val="7030A0"/>
                </a:solidFill>
                <a:latin typeface="Golos Text" panose="020B0503020202020204"/>
              </a:rPr>
              <a:t>Наблюдение</a:t>
            </a:r>
            <a:r>
              <a:rPr lang="ru-RU" sz="1400" dirty="0">
                <a:latin typeface="Golos Text" panose="020B0503020202020204"/>
              </a:rPr>
              <a:t> – преднамеренное, планомерное восприятие, осуществляемое с целью выявить существенные свойства объекта познания</a:t>
            </a:r>
          </a:p>
          <a:p>
            <a:pPr lvl="2" algn="just">
              <a:spcBef>
                <a:spcPts val="0"/>
              </a:spcBef>
              <a:defRPr/>
            </a:pPr>
            <a:r>
              <a:rPr lang="ru-RU" sz="1400" b="1" i="1" dirty="0">
                <a:solidFill>
                  <a:srgbClr val="7030A0"/>
                </a:solidFill>
                <a:latin typeface="Golos Text" panose="020B0503020202020204"/>
              </a:rPr>
              <a:t>Эксперимент</a:t>
            </a:r>
            <a:r>
              <a:rPr lang="ru-RU" sz="1400" dirty="0">
                <a:latin typeface="Golos Text" panose="020B0503020202020204"/>
              </a:rPr>
              <a:t> – метод, или прием, исследования, с помощью которого объект или воспроизводится искусственно, или ставится в заранее определенные условия.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ru-RU" sz="1400" b="1" i="1" dirty="0">
                <a:latin typeface="Golos Text" panose="020B0503020202020204"/>
              </a:rPr>
              <a:t> Технические средства эксперимент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0A909-7E58-2AFB-5E44-C284D98EB883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99082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00B56-5300-BB52-FA35-C689139F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b="1" dirty="0">
                <a:solidFill>
                  <a:srgbClr val="7030A0"/>
                </a:solidFill>
                <a:latin typeface="Golos Text" panose="020B0503020202020204"/>
              </a:rPr>
              <a:t>Формы естественнонаучного познания</a:t>
            </a:r>
            <a:r>
              <a:rPr lang="ru-RU" sz="1600" dirty="0">
                <a:solidFill>
                  <a:srgbClr val="7030A0"/>
                </a:solidFill>
                <a:latin typeface="Golos Text" panose="020B0503020202020204"/>
              </a:rPr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04661D-DEB8-7BC2-4ACC-1DDCC19A2B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b="1" i="1" dirty="0"/>
              <a:t> Мышление</a:t>
            </a:r>
          </a:p>
          <a:p>
            <a:pPr lvl="2" algn="just" eaLnBrk="1" hangingPunct="1">
              <a:spcAft>
                <a:spcPts val="600"/>
              </a:spcAft>
            </a:pPr>
            <a:r>
              <a:rPr lang="ru-RU" altLang="ru-RU" sz="1400" b="1" i="1" dirty="0">
                <a:solidFill>
                  <a:srgbClr val="7030A0"/>
                </a:solidFill>
              </a:rPr>
              <a:t>Понятие</a:t>
            </a:r>
            <a:r>
              <a:rPr lang="ru-RU" altLang="ru-RU" sz="1400" dirty="0"/>
              <a:t> – это мысль, в которой отражаются общие и существенные свойства объектов и явлений. Понятия не только отражают общее, но и группируют, классифицируют объекты в соответствии с их различиями. </a:t>
            </a:r>
          </a:p>
          <a:p>
            <a:pPr lvl="2" algn="just" eaLnBrk="1" hangingPunct="1">
              <a:spcAft>
                <a:spcPts val="600"/>
              </a:spcAft>
            </a:pPr>
            <a:r>
              <a:rPr lang="ru-RU" altLang="ru-RU" sz="1400" b="1" i="1" dirty="0">
                <a:solidFill>
                  <a:srgbClr val="7030A0"/>
                </a:solidFill>
              </a:rPr>
              <a:t>Суждение</a:t>
            </a:r>
            <a:r>
              <a:rPr lang="ru-RU" altLang="ru-RU" sz="1400" dirty="0"/>
              <a:t> – форма мысли, в которой посредством связи понятий утверждается (или отрицается) что-либо о чем-либо</a:t>
            </a:r>
          </a:p>
          <a:p>
            <a:pPr lvl="2" algn="just" eaLnBrk="1" hangingPunct="1">
              <a:spcAft>
                <a:spcPts val="1200"/>
              </a:spcAft>
            </a:pPr>
            <a:r>
              <a:rPr lang="ru-RU" altLang="ru-RU" sz="1400" b="1" i="1" dirty="0">
                <a:solidFill>
                  <a:srgbClr val="7030A0"/>
                </a:solidFill>
              </a:rPr>
              <a:t>Умозаключение</a:t>
            </a:r>
            <a:r>
              <a:rPr lang="ru-RU" altLang="ru-RU" sz="1400" dirty="0"/>
              <a:t> – рассуждение, в ходе которого из одного или нескольких суждений, называемых предпосылками или посылками, выводится новое суждение (заключение или следствие), логически непосредственно вытекающее из посылок. </a:t>
            </a:r>
          </a:p>
          <a:p>
            <a:pPr algn="just" eaLnBrk="1" hangingPunct="1">
              <a:lnSpc>
                <a:spcPct val="110000"/>
              </a:lnSpc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altLang="ru-RU" sz="1400" b="1" i="1" dirty="0"/>
              <a:t> Описание, объяснение, предвидение.</a:t>
            </a:r>
            <a:endParaRPr lang="ru-RU" altLang="ru-RU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0877D-45AF-4B7A-2B5E-A2180638EF72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66131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B7E5F-7FA8-AFBE-2F7F-80A8C578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ru-RU" sz="1800" dirty="0">
                <a:solidFill>
                  <a:srgbClr val="7030A0"/>
                </a:solidFill>
                <a:latin typeface="Golos Text" panose="020B0503020202020204"/>
              </a:rPr>
              <a:t>Вопрос 2.</a:t>
            </a:r>
            <a:br>
              <a:rPr lang="ru-RU" sz="1800" dirty="0">
                <a:solidFill>
                  <a:srgbClr val="7030A0"/>
                </a:solidFill>
                <a:latin typeface="Golos Text" panose="020B0503020202020204"/>
              </a:rPr>
            </a:br>
            <a:r>
              <a:rPr lang="ru-RU" sz="1800" b="1" dirty="0">
                <a:solidFill>
                  <a:srgbClr val="7030A0"/>
                </a:solidFill>
                <a:effectLst/>
                <a:latin typeface="Golos Text" panose="020B0503020202020204"/>
                <a:ea typeface="Times New Roman" panose="02020603050405020304" pitchFamily="18" charset="0"/>
                <a:cs typeface="TimesNewRoman"/>
              </a:rPr>
              <a:t>Основные положения теории планирования эксперимента</a:t>
            </a:r>
            <a:endParaRPr lang="ru-RU" sz="1800" dirty="0">
              <a:solidFill>
                <a:srgbClr val="7030A0"/>
              </a:solidFill>
              <a:latin typeface="Golos Text" panose="020B050302020202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C526E-1461-F10C-0420-6415F5984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580606"/>
            <a:ext cx="8301447" cy="30784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 dirty="0">
                <a:solidFill>
                  <a:srgbClr val="7030A0"/>
                </a:solidFill>
                <a:latin typeface="Golos Text" panose="020B0503020202020204"/>
              </a:rPr>
              <a:t>Эксперимент</a:t>
            </a:r>
            <a:r>
              <a:rPr lang="ru-RU" dirty="0">
                <a:latin typeface="Golos Text" panose="020B0503020202020204"/>
              </a:rPr>
              <a:t> (от лат.</a:t>
            </a:r>
            <a:r>
              <a:rPr lang="ru-RU" i="1" dirty="0">
                <a:latin typeface="Golos Text" panose="020B0503020202020204"/>
              </a:rPr>
              <a:t> </a:t>
            </a:r>
            <a:r>
              <a:rPr lang="en-US" i="1" dirty="0" err="1">
                <a:latin typeface="Arial" charset="0"/>
              </a:rPr>
              <a:t>experimentum</a:t>
            </a:r>
            <a:r>
              <a:rPr lang="en-US" dirty="0">
                <a:latin typeface="Arial" charset="0"/>
              </a:rPr>
              <a:t> </a:t>
            </a:r>
            <a:r>
              <a:rPr lang="ru-RU" dirty="0">
                <a:latin typeface="Golos Text" panose="020B0503020202020204"/>
              </a:rPr>
              <a:t>– проба, опыт) </a:t>
            </a:r>
            <a:r>
              <a:rPr lang="en-US" dirty="0">
                <a:latin typeface="Golos Text" panose="020B0503020202020204"/>
              </a:rPr>
              <a:t>- </a:t>
            </a:r>
            <a:r>
              <a:rPr lang="ru-RU" sz="1400" dirty="0">
                <a:latin typeface="Golos Text" panose="020B0503020202020204"/>
              </a:rPr>
              <a:t>метод исследования некоторого явления в контролируемых и управляемых условиях.</a:t>
            </a:r>
          </a:p>
          <a:p>
            <a:pPr>
              <a:defRPr/>
            </a:pPr>
            <a:endParaRPr lang="ru-RU" b="1" dirty="0">
              <a:solidFill>
                <a:srgbClr val="1A0AF0"/>
              </a:solidFill>
              <a:latin typeface="Golos Text" panose="020B0503020202020204"/>
            </a:endParaRPr>
          </a:p>
          <a:p>
            <a:pPr>
              <a:defRPr/>
            </a:pPr>
            <a:r>
              <a:rPr lang="ru-RU" b="1" dirty="0">
                <a:solidFill>
                  <a:srgbClr val="7030A0"/>
                </a:solidFill>
                <a:latin typeface="Golos Text" panose="020B0503020202020204"/>
              </a:rPr>
              <a:t>Основные особенности эксперимента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возрастание роли теоретической базы эксперимента;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сложность технического оснащения эксперимента; 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практическая направленность эксперимента; 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ru-RU" dirty="0">
                <a:latin typeface="Golos Text" panose="020B0503020202020204"/>
              </a:rPr>
              <a:t> масштабность эксперимента.</a:t>
            </a:r>
          </a:p>
          <a:p>
            <a:pPr algn="just">
              <a:lnSpc>
                <a:spcPct val="110000"/>
              </a:lnSpc>
              <a:spcAft>
                <a:spcPts val="1200"/>
              </a:spcAft>
              <a:defRPr/>
            </a:pPr>
            <a:endParaRPr lang="ru-RU" dirty="0">
              <a:latin typeface="Golos Text" panose="020B0503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F7381-8252-4F59-F5D0-88706CF6CD1B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632736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D8434-A108-B8E3-C1F8-FAAE8EF2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1600" dirty="0">
                <a:solidFill>
                  <a:srgbClr val="7030A0"/>
                </a:solidFill>
              </a:rPr>
              <a:t>Пути повышения чистоты эксперимента и достоверности </a:t>
            </a:r>
            <a:br>
              <a:rPr lang="en-US" sz="1600" dirty="0">
                <a:solidFill>
                  <a:srgbClr val="7030A0"/>
                </a:solidFill>
              </a:rPr>
            </a:br>
            <a:r>
              <a:rPr lang="ru-RU" sz="1600" dirty="0">
                <a:solidFill>
                  <a:srgbClr val="7030A0"/>
                </a:solidFill>
              </a:rPr>
              <a:t>полученных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D7E99B-2733-2F1A-230B-F79B47A756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 eaLnBrk="1" hangingPunct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/>
              <a:t>многократное повторение измерений;</a:t>
            </a:r>
          </a:p>
          <a:p>
            <a:pPr algn="just" eaLnBrk="1" hangingPunct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/>
              <a:t>совершенствование технических систем и приборов; повышение их точности, чувствительности и разрешающей способности;</a:t>
            </a:r>
          </a:p>
          <a:p>
            <a:pPr algn="just" eaLnBrk="1" hangingPunct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/>
              <a:t>более строгий учет основных и неосновных факторов, влияющих на исследуемый объект;</a:t>
            </a:r>
          </a:p>
          <a:p>
            <a:pPr algn="just" eaLnBrk="1" hangingPunct="1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/>
              <a:t>предварительное планирование эксперимента, позволяющее наиболее полно учесть специфику исследуемого объекта и возможности приборного обеспечения.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C8F03-B6B6-3886-4800-AC79B80549BA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4639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DD1EF-BAB0-AA33-1A1D-31BA1499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484414"/>
            <a:ext cx="6824382" cy="527284"/>
          </a:xfrm>
        </p:spPr>
        <p:txBody>
          <a:bodyPr>
            <a:normAutofit/>
          </a:bodyPr>
          <a:lstStyle/>
          <a:p>
            <a:r>
              <a:rPr lang="ru-RU" sz="1800" dirty="0">
                <a:solidFill>
                  <a:srgbClr val="7030A0"/>
                </a:solidFill>
              </a:rPr>
              <a:t>Этапность эксперимента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4037DD-B4B1-5470-43DB-519C0AAF3E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b="1" dirty="0">
                <a:solidFill>
                  <a:srgbClr val="7030A0"/>
                </a:solidFill>
              </a:rPr>
              <a:t>  Подготовительный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теоретическая проработка эксперимента;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постановка задачи эксперимента и выдвижение гипотетических вариантов её решения;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разработка программы экспериментального исследования;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подготовка исследуемого объекта и создание экспериментальной установки;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качественный анализ хода эксперимента и корректировка программы исследования и приборного обеспечения.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D4A72-1EBB-8D6B-B253-CCC907CE3327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58891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F4037DD-B4B1-5470-43DB-519C0AAF3E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b="1" dirty="0">
                <a:solidFill>
                  <a:srgbClr val="7030A0"/>
                </a:solidFill>
              </a:rPr>
              <a:t>Получение экспериментальных данных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фиксация и регистрация экспериментальных данных;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учёт всех условий, влияющих на объект; 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перегруппировка элементов объекта скрытых от непосредственного наблюдения;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сочетание различных видов измерений;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перегруппировка измерительных средств с целью получения достоверных данных и проверки выдвинутых гипотез;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автоматизация процесса измерений;</a:t>
            </a:r>
          </a:p>
          <a:p>
            <a:pPr lvl="2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sz="1400" dirty="0"/>
              <a:t>интерпретация полученных данных и их сопоставление с теоретическими.</a:t>
            </a:r>
            <a:endParaRPr lang="ru-RU" sz="140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B568C4F-8F26-1E81-E6F3-711E34D2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484414"/>
            <a:ext cx="6824382" cy="527284"/>
          </a:xfrm>
        </p:spPr>
        <p:txBody>
          <a:bodyPr>
            <a:normAutofit/>
          </a:bodyPr>
          <a:lstStyle/>
          <a:p>
            <a:r>
              <a:rPr lang="ru-RU" sz="1800" dirty="0">
                <a:solidFill>
                  <a:srgbClr val="7030A0"/>
                </a:solidFill>
              </a:rPr>
              <a:t>Этапность эксперимента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F5F985-71C6-704D-1A5B-B8C22A684B2B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63206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F4037DD-B4B1-5470-43DB-519C0AAF3E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b="1" dirty="0">
                <a:solidFill>
                  <a:srgbClr val="7030A0"/>
                </a:solidFill>
              </a:rPr>
              <a:t> Обработка результатов эксперимента и их анализ</a:t>
            </a:r>
          </a:p>
          <a:p>
            <a:pPr lvl="2" eaLnBrk="1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altLang="ru-RU" sz="1400" dirty="0"/>
              <a:t>  анализ и оценивание результатов;</a:t>
            </a:r>
          </a:p>
          <a:p>
            <a:pPr lvl="2" eaLnBrk="1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altLang="ru-RU" sz="1400" dirty="0"/>
              <a:t>  формирование и уточнение результатов;</a:t>
            </a:r>
          </a:p>
          <a:p>
            <a:pPr lvl="2" eaLnBrk="1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altLang="ru-RU" sz="1400" dirty="0"/>
              <a:t>  сравнение и математическая обработка результатов;</a:t>
            </a:r>
          </a:p>
          <a:p>
            <a:pPr lvl="2" eaLnBrk="1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altLang="ru-RU" sz="1400" dirty="0"/>
              <a:t>  интерпретация результатов и выявление закономерностей;</a:t>
            </a:r>
          </a:p>
          <a:p>
            <a:pPr lvl="2" eaLnBrk="1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altLang="ru-RU" sz="1400" dirty="0"/>
              <a:t>  описание результатов и выводы.</a:t>
            </a:r>
            <a:endParaRPr lang="ru-RU" sz="1400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7E7202E-97ED-926E-8390-08C535A8FFDF}"/>
              </a:ext>
            </a:extLst>
          </p:cNvPr>
          <p:cNvSpPr txBox="1">
            <a:spLocks/>
          </p:cNvSpPr>
          <p:nvPr/>
        </p:nvSpPr>
        <p:spPr>
          <a:xfrm>
            <a:off x="542108" y="484414"/>
            <a:ext cx="6824382" cy="527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Golos Text DemiBold" panose="020B0703020202020204" pitchFamily="34" charset="-52"/>
                <a:ea typeface="+mj-ea"/>
                <a:cs typeface="+mj-cs"/>
              </a:defRPr>
            </a:lvl1pPr>
          </a:lstStyle>
          <a:p>
            <a:r>
              <a:rPr lang="ru-RU" sz="1800">
                <a:solidFill>
                  <a:srgbClr val="7030A0"/>
                </a:solidFill>
              </a:rPr>
              <a:t>Этапность эксперимента</a:t>
            </a:r>
            <a:endParaRPr lang="ru-RU" sz="1800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87DCF2-0E19-BADF-2258-B6CE84435E6D}"/>
              </a:ext>
            </a:extLst>
          </p:cNvPr>
          <p:cNvSpPr txBox="1"/>
          <p:nvPr/>
        </p:nvSpPr>
        <p:spPr>
          <a:xfrm>
            <a:off x="8673045" y="4709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08296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104094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6295</TotalTime>
  <Words>1601</Words>
  <Application>Microsoft Office PowerPoint</Application>
  <PresentationFormat>Экран (16:9)</PresentationFormat>
  <Paragraphs>243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ALS Gorizont Bold Expanded</vt:lpstr>
      <vt:lpstr>Arial</vt:lpstr>
      <vt:lpstr>Calibri</vt:lpstr>
      <vt:lpstr>Golos Text</vt:lpstr>
      <vt:lpstr>Golos Text DemiBold</vt:lpstr>
      <vt:lpstr>Wingdings</vt:lpstr>
      <vt:lpstr>Тема1</vt:lpstr>
      <vt:lpstr>Статистические методы  в инженерных исследованиях</vt:lpstr>
      <vt:lpstr>Преподавательский состав</vt:lpstr>
      <vt:lpstr>Цель и задачи дисциплины</vt:lpstr>
      <vt:lpstr>Презентация PowerPoint</vt:lpstr>
      <vt:lpstr>Требования к уровню освоению дисциплины</vt:lpstr>
      <vt:lpstr>Требования к уровню освоению дисциплины</vt:lpstr>
      <vt:lpstr>Структура дисциплины  «Статистические методы в инженерных исследованиях»</vt:lpstr>
      <vt:lpstr>Структура дисциплины  «Статистические методы в инженерных исследованиях»</vt:lpstr>
      <vt:lpstr>Оценочные средства</vt:lpstr>
      <vt:lpstr>Литература</vt:lpstr>
      <vt:lpstr>Раздел 1. Введение в планирование и обработку результатов эксперимента. Лекция 1. Эксперимент как предмет исследования.</vt:lpstr>
      <vt:lpstr>Эксперимент как предмет исследования</vt:lpstr>
      <vt:lpstr>Презентация PowerPoint</vt:lpstr>
      <vt:lpstr>Неточность экспериментальных результатов обуславливается следующим:</vt:lpstr>
      <vt:lpstr>Основные положения и стадии теории  естественнонаучного познания </vt:lpstr>
      <vt:lpstr>Роль математики в естествознании. Формы естественнонаучного познания</vt:lpstr>
      <vt:lpstr>Формы естественнонаучного познания </vt:lpstr>
      <vt:lpstr>Вопрос 2. Основные положения теории планирования эксперимента</vt:lpstr>
      <vt:lpstr>Пути повышения чистоты эксперимента и достоверности  полученных данных</vt:lpstr>
      <vt:lpstr>Этапность эксперимента</vt:lpstr>
      <vt:lpstr>Этапность эксперимента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Александр Ильинский</cp:lastModifiedBy>
  <cp:revision>132</cp:revision>
  <dcterms:created xsi:type="dcterms:W3CDTF">2014-06-27T12:30:22Z</dcterms:created>
  <dcterms:modified xsi:type="dcterms:W3CDTF">2025-09-03T05:21:12Z</dcterms:modified>
</cp:coreProperties>
</file>